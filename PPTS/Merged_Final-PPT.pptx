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6.jpeg" ContentType="image/jpeg"/>
  <Override PartName="/ppt/media/image27.png" ContentType="image/png"/>
  <Override PartName="/ppt/media/image55.png" ContentType="image/png"/>
  <Override PartName="/ppt/media/image54.png" ContentType="image/png"/>
  <Override PartName="/ppt/media/image34.png" ContentType="image/png"/>
  <Override PartName="/ppt/media/image39.png" ContentType="image/png"/>
  <Override PartName="/ppt/media/image7.png" ContentType="image/png"/>
  <Override PartName="/ppt/media/image16.png" ContentType="image/png"/>
  <Override PartName="/ppt/media/image47.png" ContentType="image/png"/>
  <Override PartName="/ppt/media/image10.png" ContentType="image/png"/>
  <Override PartName="/ppt/media/image1.png" ContentType="image/png"/>
  <Override PartName="/ppt/media/image33.png" ContentType="image/png"/>
  <Override PartName="/ppt/media/image38.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58.png" ContentType="image/png"/>
  <Override PartName="/ppt/media/image60.jpeg" ContentType="image/jpeg"/>
  <Override PartName="/ppt/media/image43.png" ContentType="image/png"/>
  <Override PartName="/ppt/media/image23.png" ContentType="image/png"/>
  <Override PartName="/ppt/media/image22.png" ContentType="image/png"/>
  <Override PartName="/ppt/media/image59.png" ContentType="image/png"/>
  <Override PartName="/ppt/media/image61.jpeg" ContentType="image/jpeg"/>
  <Override PartName="/ppt/media/image53.png" ContentType="image/png"/>
  <Override PartName="/ppt/media/image29.png" ContentType="image/png"/>
  <Override PartName="/ppt/media/hdphoto1.wdp" ContentType="image/vnd.ms-photo"/>
  <Override PartName="/ppt/media/image25.png" ContentType="image/png"/>
  <Override PartName="/ppt/media/image28.png" ContentType="image/png"/>
  <Override PartName="/ppt/media/image26.png" ContentType="image/png"/>
  <Override PartName="/ppt/media/hdphoto2.wdp" ContentType="image/vnd.ms-photo"/>
  <Override PartName="/ppt/media/image24.png" ContentType="image/png"/>
  <Override PartName="/ppt/media/image2.png" ContentType="image/png"/>
  <Override PartName="/ppt/media/image11.png" ContentType="image/png"/>
  <Override PartName="/ppt/media/image48.png" ContentType="image/png"/>
  <Override PartName="/ppt/media/image37.png" ContentType="image/png"/>
  <Override PartName="/ppt/media/image57.jpeg" ContentType="image/jpeg"/>
  <Override PartName="/ppt/media/image17.png" ContentType="image/png"/>
  <Override PartName="/ppt/media/image8.png" ContentType="image/png"/>
  <Override PartName="/ppt/media/image35.png" ContentType="image/png"/>
  <Override PartName="/ppt/media/image3.png" ContentType="image/png"/>
  <Override PartName="/ppt/media/image12.png" ContentType="image/png"/>
  <Override PartName="/ppt/media/image49.png" ContentType="image/png"/>
  <Override PartName="/ppt/media/image20.png" ContentType="image/png"/>
  <Override PartName="/ppt/media/image18.png" ContentType="image/png"/>
  <Override PartName="/ppt/media/image9.png" ContentType="image/png"/>
  <Override PartName="/ppt/media/image36.png" ContentType="image/png"/>
  <Override PartName="/ppt/media/image4.png" ContentType="image/png"/>
  <Override PartName="/ppt/media/image13.png" ContentType="image/png"/>
  <Override PartName="/ppt/media/image30.png" ContentType="image/png"/>
  <Override PartName="/ppt/media/image31.png" ContentType="image/png"/>
  <Override PartName="/ppt/media/image32.png" ContentType="image/png"/>
  <Override PartName="/ppt/media/image40.png" ContentType="image/png"/>
  <Override PartName="/ppt/media/image41.png" ContentType="image/png"/>
  <Override PartName="/ppt/media/image42.png" ContentType="image/png"/>
  <Override PartName="/ppt/media/image44.png" ContentType="image/png"/>
  <Override PartName="/ppt/media/image45.png" ContentType="image/png"/>
  <Override PartName="/ppt/media/image46.png" ContentType="image/png"/>
  <Override PartName="/ppt/media/image50.png" ContentType="image/png"/>
  <Override PartName="/ppt/media/image51.png" ContentType="image/png"/>
  <Override PartName="/ppt/media/image52.png" ContentType="image/pn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9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92.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91.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72.xml.rels" ContentType="application/vnd.openxmlformats-package.relationships+xml"/>
  <Override PartName="/ppt/slides/_rels/slide78.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25.xml.rels" ContentType="application/vnd.openxmlformats-package.relationships+xml"/>
  <Override PartName="/ppt/slides/_rels/slide90.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52.xml.rels" ContentType="application/vnd.openxmlformats-package.relationships+xml"/>
  <Override PartName="/ppt/slides/_rels/slide89.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51.xml.rels" ContentType="application/vnd.openxmlformats-package.relationships+xml"/>
  <Override PartName="/ppt/slides/_rels/slide88.xml.rels" ContentType="application/vnd.openxmlformats-package.relationships+xml"/>
  <Override PartName="/ppt/slides/_rels/slide50.xml.rels" ContentType="application/vnd.openxmlformats-package.relationships+xml"/>
  <Override PartName="/ppt/slides/_rels/slide87.xml.rels" ContentType="application/vnd.openxmlformats-package.relationships+xml"/>
  <Override PartName="/ppt/slides/_rels/slide45.xml.rels" ContentType="application/vnd.openxmlformats-package.relationships+xml"/>
  <Override PartName="/ppt/slides/_rels/slide13.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84.xml.rels" ContentType="application/vnd.openxmlformats-package.relationships+xml"/>
  <Override PartName="/ppt/slides/_rels/slide60.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92.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66.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86.xml.rels" ContentType="application/vnd.openxmlformats-package.relationships+xml"/>
  <Override PartName="/ppt/slides/_rels/slide74.xml.rels" ContentType="application/vnd.openxmlformats-package.relationships+xml"/>
  <Override PartName="/ppt/slides/_rels/slide85.xml.rels" ContentType="application/vnd.openxmlformats-package.relationships+xml"/>
  <Override PartName="/ppt/slides/_rels/slide73.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2.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9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_rels/notesSlide49.xml.rels" ContentType="application/vnd.openxmlformats-package.relationships+xml"/>
  <Override PartName="/ppt/notesSlides/_rels/notesSlide47.xml.rels" ContentType="application/vnd.openxmlformats-package.relationships+xml"/>
  <Override PartName="/ppt/notesSlides/_rels/notesSlide42.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38.xml.rels" ContentType="application/vnd.openxmlformats-package.relationships+xml"/>
  <Override PartName="/ppt/notesSlides/notesSlide47.xml" ContentType="application/vnd.openxmlformats-officedocument.presentationml.notesSlide+xml"/>
  <Override PartName="/ppt/notesSlides/notesSlide4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400" strike="noStrike" u="none">
                <a:solidFill>
                  <a:srgbClr val="000000"/>
                </a:solidFill>
                <a:uFillTx/>
                <a:latin typeface="Arial"/>
              </a:rPr>
              <a:t>Click to move </a:t>
            </a:r>
            <a:r>
              <a:rPr b="0" lang="en-US" sz="1400" strike="noStrike" u="none">
                <a:solidFill>
                  <a:srgbClr val="000000"/>
                </a:solidFill>
                <a:uFillTx/>
                <a:latin typeface="Arial"/>
              </a:rPr>
              <a:t>the slide</a:t>
            </a:r>
            <a:endParaRPr b="0" lang="en-US" sz="1400" strike="noStrike" u="none">
              <a:solidFill>
                <a:srgbClr val="000000"/>
              </a:solidFill>
              <a:uFillTx/>
              <a:latin typeface="Arial"/>
            </a:endParaRPr>
          </a:p>
        </p:txBody>
      </p:sp>
      <p:sp>
        <p:nvSpPr>
          <p:cNvPr id="2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Click to </a:t>
            </a:r>
            <a:r>
              <a:rPr b="0" lang="en-US" sz="2000" strike="noStrike" u="none">
                <a:solidFill>
                  <a:srgbClr val="000000"/>
                </a:solidFill>
                <a:uFillTx/>
                <a:latin typeface="Arial"/>
              </a:rPr>
              <a:t>edit the </a:t>
            </a:r>
            <a:r>
              <a:rPr b="0" lang="en-US" sz="2000" strike="noStrike" u="none">
                <a:solidFill>
                  <a:srgbClr val="000000"/>
                </a:solidFill>
                <a:uFillTx/>
                <a:latin typeface="Arial"/>
              </a:rPr>
              <a:t>notes </a:t>
            </a:r>
            <a:r>
              <a:rPr b="0" lang="en-US" sz="2000" strike="noStrike" u="none">
                <a:solidFill>
                  <a:srgbClr val="000000"/>
                </a:solidFill>
                <a:uFillTx/>
                <a:latin typeface="Arial"/>
              </a:rPr>
              <a:t>format</a:t>
            </a:r>
            <a:endParaRPr b="0" lang="en-US" sz="2000" strike="noStrike" u="none">
              <a:solidFill>
                <a:srgbClr val="000000"/>
              </a:solidFill>
              <a:uFillTx/>
              <a:latin typeface="Arial"/>
            </a:endParaRPr>
          </a:p>
        </p:txBody>
      </p:sp>
      <p:sp>
        <p:nvSpPr>
          <p:cNvPr id="2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3" name="PlaceHolder 4"/>
          <p:cNvSpPr>
            <a:spLocks noGrp="1"/>
          </p:cNvSpPr>
          <p:nvPr>
            <p:ph type="dt" idx="8"/>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4" name="PlaceHolder 5"/>
          <p:cNvSpPr>
            <a:spLocks noGrp="1"/>
          </p:cNvSpPr>
          <p:nvPr>
            <p:ph type="ftr" idx="9"/>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5" name="PlaceHolder 6"/>
          <p:cNvSpPr>
            <a:spLocks noGrp="1"/>
          </p:cNvSpPr>
          <p:nvPr>
            <p:ph type="sldNum" idx="10"/>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Times New Roman"/>
              </a:defRPr>
            </a:lvl1pPr>
          </a:lstStyle>
          <a:p>
            <a:pPr indent="0" algn="r">
              <a:buNone/>
            </a:pPr>
            <a:fld id="{0D9E84D3-8BFA-4932-A7B9-9AAF59CCE958}" type="slidenum">
              <a:rPr b="0" lang="en-US" sz="1400" strike="noStrike" u="none">
                <a:solidFill>
                  <a:srgbClr val="000000"/>
                </a:solidFill>
                <a:uFillTx/>
                <a:latin typeface="Times New Roman"/>
              </a:rPr>
              <a:t>1</a:t>
            </a:fld>
            <a:endParaRPr b="0" lang="en-US"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380880" y="685800"/>
            <a:ext cx="609552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.parallel(var)</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Splits the computation of a function along a specified variable, allowing different portions to be computed concurrently on multiple CPU cores.</a:t>
            </a:r>
            <a:endParaRPr b="0" lang="en-US" sz="1200" strike="noStrike" u="none">
              <a:solidFill>
                <a:srgbClr val="000000"/>
              </a:solidFill>
              <a:uFillTx/>
              <a:latin typeface="Arial"/>
            </a:endParaRPr>
          </a:p>
          <a:p>
            <a:pPr indent="0">
              <a:lnSpc>
                <a:spcPct val="100000"/>
              </a:lnSpc>
              <a:buNone/>
              <a:tabLst>
                <a:tab algn="l" pos="0"/>
              </a:tabLst>
            </a:pPr>
            <a:br>
              <a:rPr sz="1200"/>
            </a:b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.vectorize(var, width)</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Breaks down a computation into SIMD (Single Instruction, Multiple Data) operations that can be executed in parallel within a single CPU core.</a:t>
            </a:r>
            <a:endParaRPr b="0" lang="en-US" sz="1200" strike="noStrike" u="none">
              <a:solidFill>
                <a:srgbClr val="000000"/>
              </a:solidFill>
              <a:uFillTx/>
              <a:latin typeface="Arial"/>
            </a:endParaRPr>
          </a:p>
          <a:p>
            <a:pPr indent="0">
              <a:lnSpc>
                <a:spcPct val="100000"/>
              </a:lnSpc>
              <a:buNone/>
              <a:tabLst>
                <a:tab algn="l" pos="0"/>
              </a:tabLst>
            </a:pPr>
            <a:br>
              <a:rPr sz="1200"/>
            </a:b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.tile(x, y, xo, yo, xi, yi, x_factor, y_factor)</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Divides the computation into small, manageable tiles that fit into the CPU cache, improving data locality and cache performance.</a:t>
            </a:r>
            <a:endParaRPr b="0" lang="en-US" sz="1200" strike="noStrike" u="none">
              <a:solidFill>
                <a:srgbClr val="000000"/>
              </a:solidFill>
              <a:uFillTx/>
              <a:latin typeface="Arial"/>
            </a:endParaRPr>
          </a:p>
          <a:p>
            <a:pPr indent="0">
              <a:lnSpc>
                <a:spcPct val="100000"/>
              </a:lnSpc>
              <a:buNone/>
              <a:tabLst>
                <a:tab algn="l" pos="0"/>
              </a:tabLst>
            </a:pPr>
            <a:br>
              <a:rPr sz="1200"/>
            </a:b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.unroll(var, factor)</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Expands a loop by a specified factor, duplicating the loop body to reduce loop overhead and increase instruction-level parallelism.</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.fuse(var1, var2, fused_var)</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Combines two variables into a single loop, enabling joint scheduling and parallelization of the resulting fused loop.</a:t>
            </a:r>
            <a:endParaRPr b="0" lang="en-US" sz="1200" strike="noStrike" u="none">
              <a:solidFill>
                <a:srgbClr val="000000"/>
              </a:solidFill>
              <a:uFillTx/>
              <a:latin typeface="Arial"/>
            </a:endParaRPr>
          </a:p>
          <a:p>
            <a:pPr indent="0">
              <a:lnSpc>
                <a:spcPct val="100000"/>
              </a:lnSpc>
              <a:buNone/>
              <a:tabLst>
                <a:tab algn="l" pos="0"/>
              </a:tabLst>
            </a:pPr>
            <a:br>
              <a:rPr sz="1200"/>
            </a:br>
            <a:r>
              <a:rPr b="0" lang="en" sz="1200" strike="noStrike" u="none">
                <a:solidFill>
                  <a:schemeClr val="dk1"/>
                </a:solidFill>
                <a:uFillTx/>
                <a:latin typeface="Calibri"/>
                <a:ea typeface="Calibri"/>
              </a:rPr>
              <a:t>Method: </a:t>
            </a:r>
            <a:r>
              <a:rPr b="1" lang="en" sz="1200" strike="noStrike" u="none">
                <a:solidFill>
                  <a:schemeClr val="dk1"/>
                </a:solidFill>
                <a:uFillTx/>
                <a:latin typeface="Calibri"/>
                <a:ea typeface="Calibri"/>
              </a:rPr>
              <a:t>.reorder(vars...)</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Description: Changes the nesting order of loops, potentially improving cache locality and exposing opportunities for vectorization and parallelism.</a:t>
            </a:r>
            <a:endParaRPr b="0" lang="en-US" sz="1200" strike="noStrike" u="none">
              <a:solidFill>
                <a:srgbClr val="000000"/>
              </a:solidFill>
              <a:uFillTx/>
              <a:latin typeface="Arial"/>
            </a:endParaRPr>
          </a:p>
          <a:p>
            <a:pPr indent="0">
              <a:lnSpc>
                <a:spcPct val="100000"/>
              </a:lnSpc>
              <a:buNone/>
              <a:tabLst>
                <a:tab algn="l" pos="0"/>
              </a:tabLst>
            </a:pPr>
            <a:br>
              <a:rPr sz="1200"/>
            </a:br>
            <a:br>
              <a:rPr sz="1200"/>
            </a:br>
            <a:r>
              <a:rPr b="1" lang="en" sz="1200" strike="noStrike" u="none">
                <a:solidFill>
                  <a:schemeClr val="dk1"/>
                </a:solidFill>
                <a:uFillTx/>
                <a:latin typeface="Calibri"/>
                <a:ea typeface="Calibri"/>
              </a:rPr>
              <a:t>Comparison with Traditional Methods</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Traditional image processing often relies on simple, straightforward loop-based computations with limited optimizations:</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Single-threaded: By default, traditional loops are single-threaded, not utilizing multiple CPU cores.</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No Vectorization: Without explicit SIMD programming, traditional loops miss out on the parallelism offered by SIMD instructions.</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Poor Cache Usage: Large, unoptimized loops can lead to poor cache performance due to frequent cache misses.</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Manual Optimization: Any parallelization, vectorization, or cache optimization requires manual effort and expertise, leading to complex and less maintainable code.</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380880" y="685800"/>
            <a:ext cx="6095520" cy="3428640"/>
          </a:xfrm>
          <a:prstGeom prst="rect">
            <a:avLst/>
          </a:prstGeom>
          <a:ln w="0">
            <a:noFill/>
          </a:ln>
        </p:spPr>
      </p:sp>
      <p:sp>
        <p:nvSpPr>
          <p:cNvPr id="530"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Interestingly enough, even with no optimisation done, the average execution time remained the same.</a:t>
            </a:r>
            <a:br>
              <a:rPr sz="1200"/>
            </a:br>
            <a:r>
              <a:rPr b="0" lang="en" sz="1200" strike="noStrike" u="none">
                <a:solidFill>
                  <a:schemeClr val="dk1"/>
                </a:solidFill>
                <a:uFillTx/>
                <a:latin typeface="Calibri"/>
                <a:ea typeface="Calibri"/>
              </a:rPr>
              <a:t>In some other examples, it even increased a lot of the times.</a:t>
            </a:r>
            <a:br>
              <a:rPr sz="1200"/>
            </a:br>
            <a:br>
              <a:rPr sz="1200"/>
            </a:br>
            <a:r>
              <a:rPr b="0" lang="en" sz="1200" strike="noStrike" u="none">
                <a:solidFill>
                  <a:schemeClr val="dk1"/>
                </a:solidFill>
                <a:uFillTx/>
                <a:latin typeface="Calibri"/>
                <a:ea typeface="Calibri"/>
              </a:rPr>
              <a:t>The first program executing faster than the second one, despite the advanced scheduling in the second, can happen for several reasons:</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a:p>
            <a:pPr indent="0">
              <a:lnSpc>
                <a:spcPct val="100000"/>
              </a:lnSpc>
              <a:buNone/>
              <a:tabLst>
                <a:tab algn="l" pos="0"/>
              </a:tabLst>
            </a:pPr>
            <a:r>
              <a:rPr b="1" lang="en" sz="1200" strike="noStrike" u="none">
                <a:solidFill>
                  <a:schemeClr val="dk1"/>
                </a:solidFill>
                <a:uFillTx/>
                <a:latin typeface="Calibri"/>
                <a:ea typeface="Calibri"/>
              </a:rPr>
              <a:t>Overhead of Parallelism: The overhead of managing threads and synchronization can sometimes outweigh the benefits of parallel execution, especially for relatively simple computations </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Cache Behavior: Tiling is supposed to improve cache locality, but if the tile size does not align well with the cache size or if there are too many threads causing cache thrashing, performance can degrade.</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Vectorization and Unrolling: These optimizations are beneficial for complex computations but might not show significant improvements for simple operations. The overhead of setting up these optimizations might not be worth it for such a straightforward calculation.</a:t>
            </a: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Processor and Memory Bandwidth: For very large data sizes, the memory bandwidth can become the bottleneck. The simple program might be benefiting from better cache and memory access patterns that are disrupted by the more complex scheduling in the second program.</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380880" y="685800"/>
            <a:ext cx="6095520" cy="3428640"/>
          </a:xfrm>
          <a:prstGeom prst="rect">
            <a:avLst/>
          </a:prstGeom>
          <a:ln w="0">
            <a:noFill/>
          </a:ln>
        </p:spPr>
      </p:sp>
      <p:sp>
        <p:nvSpPr>
          <p:cNvPr id="532"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These tests were only run on one single image, and thus have a lot of room for improvement. From here on, tests will be performed on images of varying sizes to get a more comprehensive overview of the program’s performance.</a:t>
            </a:r>
            <a:endParaRPr b="0" lang="en-US" sz="1200" strike="noStrike" u="none">
              <a:solidFill>
                <a:srgbClr val="000000"/>
              </a:solidFill>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380880" y="685800"/>
            <a:ext cx="609552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For image rotation, there may be various scheduling decisions to make, such as tiling sizes, loop ordering, and parallelization strategies. The auto-scheduler can efficiently explore this vast space of possible schedules to find the optimal configuration for the target architecture.</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a:p>
            <a:pPr indent="0">
              <a:lnSpc>
                <a:spcPct val="100000"/>
              </a:lnSpc>
              <a:buNone/>
              <a:tabLst>
                <a:tab algn="l" pos="0"/>
              </a:tabLst>
            </a:pPr>
            <a:r>
              <a:rPr b="0" lang="en" sz="1200" strike="noStrike" u="none">
                <a:solidFill>
                  <a:schemeClr val="dk1"/>
                </a:solidFill>
                <a:uFillTx/>
                <a:latin typeface="Calibri"/>
                <a:ea typeface="Calibri"/>
              </a:rPr>
              <a:t>Also, different hardware architectures may benefit from different scheduling strategies. The auto-scheduler can adapt the schedule to the specific characteristics of the target hardware.</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380880" y="685800"/>
            <a:ext cx="6095520" cy="3428640"/>
          </a:xfrm>
          <a:prstGeom prst="rect">
            <a:avLst/>
          </a:prstGeom>
          <a:ln w="0">
            <a:noFill/>
          </a:ln>
        </p:spPr>
      </p:sp>
      <p:sp>
        <p:nvSpPr>
          <p:cNvPr id="536"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All pixels from the original line get transferred to the base-line. The angle of rotation, α is segmented into 8 areas and 2 groups. In the H areas, horizontal lines from the original image are used for rotation; in the V zones, vertical lines from the original image are employed. The m × n image T has m lines in V zones and n lines in H zones.</a:t>
            </a: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a:p>
            <a:pPr indent="0">
              <a:lnSpc>
                <a:spcPct val="100000"/>
              </a:lnSpc>
              <a:buNone/>
              <a:tabLst>
                <a:tab algn="l" pos="0"/>
              </a:tabLst>
            </a:pPr>
            <a:endParaRPr b="0" lang="en-US" sz="1200" strike="noStrike" u="none">
              <a:solidFill>
                <a:srgbClr val="000000"/>
              </a:solidFill>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380880" y="685800"/>
            <a:ext cx="6095520" cy="3428640"/>
          </a:xfrm>
          <a:prstGeom prst="rect">
            <a:avLst/>
          </a:prstGeom>
          <a:ln w="0">
            <a:noFill/>
          </a:ln>
        </p:spPr>
      </p:sp>
      <p:sp>
        <p:nvSpPr>
          <p:cNvPr id="538"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uFillTx/>
                <a:latin typeface="Calibri"/>
                <a:ea typeface="Calibri"/>
              </a:rPr>
              <a:t>Now, the issue here is a bunch of unallocated pixels, which we’ll look over later.</a:t>
            </a:r>
            <a:br>
              <a:rPr sz="1200"/>
            </a:br>
            <a:r>
              <a:rPr b="0" lang="en" sz="1200" strike="noStrike" u="none">
                <a:solidFill>
                  <a:schemeClr val="dk1"/>
                </a:solidFill>
                <a:uFillTx/>
                <a:latin typeface="Calibri"/>
                <a:ea typeface="Calibri"/>
              </a:rPr>
              <a:t>For now though, we can check out the demonstration of the line derivation at https://www.desmos.com/calculator/ujpy5sqxfa</a:t>
            </a:r>
            <a:endParaRPr b="0" lang="en-US" sz="12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trike="noStrike" u="none">
              <a:solidFill>
                <a:srgbClr val="000000"/>
              </a:solidFill>
              <a:uFillTx/>
              <a:latin typeface="Arial"/>
            </a:endParaRPr>
          </a:p>
        </p:txBody>
      </p:sp>
      <p:sp>
        <p:nvSpPr>
          <p:cNvPr id="4"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trike="noStrike" u="none">
              <a:solidFill>
                <a:srgbClr val="ffffff"/>
              </a:solidFill>
              <a:uFillTx/>
              <a:latin typeface="Arial"/>
            </a:endParaRPr>
          </a:p>
        </p:txBody>
      </p:sp>
      <p:sp>
        <p:nvSpPr>
          <p:cNvPr id="4" name="PlaceHolder 3"/>
          <p:cNvSpPr>
            <a:spLocks noGrp="1"/>
          </p:cNvSpPr>
          <p:nvPr>
            <p:ph type="sldNum" idx="1"/>
          </p:nvPr>
        </p:nvSpPr>
        <p:spPr/>
        <p:txBody>
          <a:bodyPr/>
          <a:p>
            <a:fld id="{9046CA17-20B1-49A6-A401-8D06C6C0FE4B}"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trike="noStrike" u="none">
              <a:solidFill>
                <a:srgbClr val="000000"/>
              </a:solidFill>
              <a:uFillTx/>
              <a:latin typeface="Arial"/>
            </a:endParaRPr>
          </a:p>
        </p:txBody>
      </p:sp>
      <p:sp>
        <p:nvSpPr>
          <p:cNvPr id="11"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trike="noStrike" u="none">
              <a:solidFill>
                <a:srgbClr val="ffffff"/>
              </a:solidFill>
              <a:uFillTx/>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164297D8-0FB1-4895-9B4C-ABC14E54F33F}"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trike="noStrike" u="none">
              <a:solidFill>
                <a:srgbClr val="000000"/>
              </a:solidFill>
              <a:uFillTx/>
              <a:latin typeface="Arial"/>
            </a:endParaRPr>
          </a:p>
        </p:txBody>
      </p:sp>
      <p:sp>
        <p:nvSpPr>
          <p:cNvPr id="13"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spcBef>
                <a:spcPts val="1417"/>
              </a:spcBef>
              <a:buNone/>
            </a:pPr>
            <a:endParaRPr b="0" lang="en-US" sz="1870" strike="noStrike" u="none">
              <a:solidFill>
                <a:srgbClr val="000000"/>
              </a:solidFill>
              <a:uFillTx/>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9EC26D52-6799-480B-986C-B56269AA2110}"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p>
            <a:r>
              <a:t>Footer</a:t>
            </a:r>
          </a:p>
        </p:txBody>
      </p:sp>
      <p:sp>
        <p:nvSpPr>
          <p:cNvPr id="3" name="PlaceHolder 2"/>
          <p:cNvSpPr>
            <a:spLocks noGrp="1"/>
          </p:cNvSpPr>
          <p:nvPr>
            <p:ph type="sldNum" idx="7"/>
          </p:nvPr>
        </p:nvSpPr>
        <p:spPr/>
        <p:txBody>
          <a:bodyPr/>
          <a:p>
            <a:fld id="{C96D2413-2F37-4724-89CA-524215D6337C}" type="slidenum">
              <a:t>&lt;#&gt;</a:t>
            </a:fld>
          </a:p>
        </p:txBody>
      </p:sp>
      <p:sp>
        <p:nvSpPr>
          <p:cNvPr id="4" name="PlaceHolder 3"/>
          <p:cNvSpPr>
            <a:spLocks noGrp="1"/>
          </p:cNvSpPr>
          <p:nvPr>
            <p:ph type="dt" idx="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15440" y="992880"/>
            <a:ext cx="11360520" cy="2736360"/>
          </a:xfrm>
          <a:prstGeom prst="rect">
            <a:avLst/>
          </a:prstGeom>
          <a:noFill/>
          <a:ln w="0">
            <a:noFill/>
          </a:ln>
        </p:spPr>
        <p:txBody>
          <a:bodyPr lIns="91440" rIns="91440" tIns="91440" bIns="91440" anchor="b">
            <a:noAutofit/>
          </a:bodyPr>
          <a:p>
            <a:pPr indent="0">
              <a:buNone/>
            </a:pPr>
            <a:r>
              <a:rPr b="0" lang="en-US" sz="6940" strike="noStrike" u="none">
                <a:solidFill>
                  <a:srgbClr val="000000"/>
                </a:solidFill>
                <a:uFillTx/>
                <a:latin typeface="Arial"/>
              </a:rPr>
              <a:t>Click to edit the title </a:t>
            </a:r>
            <a:r>
              <a:rPr b="0" lang="en-US" sz="6940" strike="noStrike" u="none">
                <a:solidFill>
                  <a:srgbClr val="000000"/>
                </a:solidFill>
                <a:uFillTx/>
                <a:latin typeface="Arial"/>
              </a:rPr>
              <a:t>text format</a:t>
            </a:r>
            <a:endParaRPr b="0" lang="en-US" sz="6940" strike="noStrike" u="none">
              <a:solidFill>
                <a:srgbClr val="000000"/>
              </a:solidFill>
              <a:uFillTx/>
              <a:latin typeface="Arial"/>
            </a:endParaRPr>
          </a:p>
        </p:txBody>
      </p:sp>
      <p:sp>
        <p:nvSpPr>
          <p:cNvPr id="1" name="PlaceHolder 2"/>
          <p:cNvSpPr>
            <a:spLocks noGrp="1"/>
          </p:cNvSpPr>
          <p:nvPr>
            <p:ph type="sldNum" idx="1"/>
          </p:nvPr>
        </p:nvSpPr>
        <p:spPr>
          <a:xfrm>
            <a:off x="11296440" y="6217560"/>
            <a:ext cx="731160" cy="5245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340" strike="noStrike" u="none">
                <a:solidFill>
                  <a:schemeClr val="lt2"/>
                </a:solidFill>
                <a:uFillTx/>
                <a:latin typeface="Arial"/>
                <a:ea typeface="Arial"/>
              </a:defRPr>
            </a:lvl1pPr>
          </a:lstStyle>
          <a:p>
            <a:pPr indent="0" algn="r">
              <a:lnSpc>
                <a:spcPct val="100000"/>
              </a:lnSpc>
              <a:buNone/>
              <a:tabLst>
                <a:tab algn="l" pos="0"/>
              </a:tabLst>
            </a:pPr>
            <a:fld id="{49337B7F-74E4-4D69-B7B9-380817BF143B}" type="slidenum">
              <a:rPr b="0" lang="en" sz="1340" strike="noStrike" u="none">
                <a:solidFill>
                  <a:schemeClr val="lt2"/>
                </a:solidFill>
                <a:uFillTx/>
                <a:latin typeface="Arial"/>
                <a:ea typeface="Arial"/>
              </a:rPr>
              <a:t>&lt;number&gt;</a:t>
            </a:fld>
            <a:endParaRPr b="0" lang="en-US" sz="1340" strike="noStrike" u="none">
              <a:solidFill>
                <a:srgbClr val="ffffff"/>
              </a:solidFill>
              <a:uFillTx/>
              <a:latin typeface="Times New Roman"/>
            </a:endParaRPr>
          </a:p>
        </p:txBody>
      </p:sp>
      <p:sp>
        <p:nvSpPr>
          <p:cNvPr id="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70" strike="noStrike" u="none">
                <a:solidFill>
                  <a:srgbClr val="000000"/>
                </a:solidFill>
                <a:uFillTx/>
                <a:latin typeface="Arial"/>
              </a:rPr>
              <a:t>Click to edit the outline text format</a:t>
            </a:r>
            <a:endParaRPr b="0" lang="en-US" sz="187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n-US" sz="1870" strike="noStrike" u="none">
                <a:solidFill>
                  <a:srgbClr val="000000"/>
                </a:solidFill>
                <a:uFillTx/>
                <a:latin typeface="Arial"/>
              </a:rPr>
              <a:t>Second Outline Level</a:t>
            </a:r>
            <a:endParaRPr b="0" lang="en-US" sz="187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n-US" sz="1870" strike="noStrike" u="none">
                <a:solidFill>
                  <a:srgbClr val="000000"/>
                </a:solidFill>
                <a:uFillTx/>
                <a:latin typeface="Arial"/>
              </a:rPr>
              <a:t>Third Outline Level</a:t>
            </a:r>
            <a:endParaRPr b="0" lang="en-US" sz="187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n-US" sz="1870" strike="noStrike" u="none">
                <a:solidFill>
                  <a:srgbClr val="000000"/>
                </a:solidFill>
                <a:uFillTx/>
                <a:latin typeface="Arial"/>
              </a:rPr>
              <a:t>Fourth Outline Level</a:t>
            </a:r>
            <a:endParaRPr b="0" lang="en-US" sz="187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3740" strike="noStrike" u="none">
                <a:solidFill>
                  <a:srgbClr val="000000"/>
                </a:solidFill>
                <a:uFillTx/>
                <a:latin typeface="Arial"/>
              </a:rPr>
              <a:t>Click to edit the title text format</a:t>
            </a:r>
            <a:endParaRPr b="0" lang="en-US" sz="3740" strike="noStrike" u="none">
              <a:solidFill>
                <a:srgbClr val="000000"/>
              </a:solidFill>
              <a:uFillTx/>
              <a:latin typeface="Arial"/>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2400" strike="noStrike" u="none">
                <a:solidFill>
                  <a:srgbClr val="000000"/>
                </a:solidFill>
                <a:uFillTx/>
                <a:latin typeface="Arial"/>
              </a:rPr>
              <a:t>Click to edit the outline text format</a:t>
            </a:r>
            <a:endParaRPr b="0" lang="en-US" sz="24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n-US" sz="2400" strike="noStrike" u="none">
                <a:solidFill>
                  <a:srgbClr val="000000"/>
                </a:solidFill>
                <a:uFillTx/>
                <a:latin typeface="Arial"/>
              </a:rPr>
              <a:t>Second Outline Level</a:t>
            </a:r>
            <a:endParaRPr b="0" lang="en-US" sz="24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n-US" sz="2400" strike="noStrike" u="none">
                <a:solidFill>
                  <a:srgbClr val="000000"/>
                </a:solidFill>
                <a:uFillTx/>
                <a:latin typeface="Arial"/>
              </a:rPr>
              <a:t>Fourth Outline Level</a:t>
            </a:r>
            <a:endParaRPr b="0" lang="en-US" sz="24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n-US" sz="2400" strike="noStrike" u="none">
                <a:solidFill>
                  <a:srgbClr val="000000"/>
                </a:solidFill>
                <a:uFillTx/>
                <a:latin typeface="Arial"/>
              </a:rPr>
              <a:t>Fifth Outline Level</a:t>
            </a:r>
            <a:endParaRPr b="0" lang="en-US" sz="24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n-US" sz="2400" strike="noStrike" u="none">
                <a:solidFill>
                  <a:srgbClr val="000000"/>
                </a:solidFill>
                <a:uFillTx/>
                <a:latin typeface="Arial"/>
              </a:rPr>
              <a:t>Sixth Outline Level</a:t>
            </a:r>
            <a:endParaRPr b="0" lang="en-US" sz="24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n-US" sz="2400" strike="noStrike" u="none">
                <a:solidFill>
                  <a:srgbClr val="000000"/>
                </a:solidFill>
                <a:uFillTx/>
                <a:latin typeface="Arial"/>
              </a:rPr>
              <a:t>Seventh Outline Level</a:t>
            </a:r>
            <a:endParaRPr b="0" lang="en-US" sz="2400" strike="noStrike" u="none">
              <a:solidFill>
                <a:srgbClr val="000000"/>
              </a:solidFill>
              <a:uFillTx/>
              <a:latin typeface="Arial"/>
            </a:endParaRPr>
          </a:p>
        </p:txBody>
      </p:sp>
      <p:sp>
        <p:nvSpPr>
          <p:cNvPr id="7" name="PlaceHolder 3"/>
          <p:cNvSpPr>
            <a:spLocks noGrp="1"/>
          </p:cNvSpPr>
          <p:nvPr>
            <p:ph type="dt" idx="2"/>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trike="noStrike" u="none">
                <a:solidFill>
                  <a:srgbClr val="ffffff"/>
                </a:solidFill>
                <a:uFillTx/>
                <a:latin typeface="Times New Roman"/>
              </a:defRPr>
            </a:lvl1pPr>
          </a:lstStyle>
          <a:p>
            <a:pPr indent="0">
              <a:buNone/>
            </a:pPr>
            <a:r>
              <a:rPr b="0" lang="en-US" sz="1400" strike="noStrike" u="none">
                <a:solidFill>
                  <a:srgbClr val="ffffff"/>
                </a:solidFill>
                <a:uFillTx/>
                <a:latin typeface="Times New Roman"/>
              </a:rPr>
              <a:t>&lt;date/time&gt;</a:t>
            </a:r>
            <a:endParaRPr b="0" lang="en-US" sz="1400" strike="noStrike" u="none">
              <a:solidFill>
                <a:srgbClr val="ffffff"/>
              </a:solidFill>
              <a:uFillTx/>
              <a:latin typeface="Times New Roman"/>
            </a:endParaRPr>
          </a:p>
        </p:txBody>
      </p:sp>
      <p:sp>
        <p:nvSpPr>
          <p:cNvPr id="8" name="PlaceHolder 4"/>
          <p:cNvSpPr>
            <a:spLocks noGrp="1"/>
          </p:cNvSpPr>
          <p:nvPr>
            <p:ph type="ftr" idx="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uFillTx/>
                <a:latin typeface="Times New Roman"/>
              </a:defRPr>
            </a:lvl1pPr>
          </a:lstStyle>
          <a:p>
            <a:pPr indent="0" algn="ctr">
              <a:buNone/>
            </a:pPr>
            <a:r>
              <a:rPr b="0" lang="en-US" sz="1400" strike="noStrike" u="none">
                <a:solidFill>
                  <a:srgbClr val="ffffff"/>
                </a:solidFill>
                <a:uFillTx/>
                <a:latin typeface="Times New Roman"/>
              </a:rPr>
              <a:t>&lt;footer&gt;</a:t>
            </a:r>
            <a:endParaRPr b="0" lang="en-US" sz="1400" strike="noStrike" u="none">
              <a:solidFill>
                <a:srgbClr val="ffffff"/>
              </a:solidFill>
              <a:uFillTx/>
              <a:latin typeface="Times New Roman"/>
            </a:endParaRPr>
          </a:p>
        </p:txBody>
      </p:sp>
      <p:sp>
        <p:nvSpPr>
          <p:cNvPr id="9" name="PlaceHolder 5"/>
          <p:cNvSpPr>
            <a:spLocks noGrp="1"/>
          </p:cNvSpPr>
          <p:nvPr>
            <p:ph type="sldNum" idx="4"/>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IN" sz="1200" strike="noStrike" u="none">
                <a:solidFill>
                  <a:schemeClr val="lt2"/>
                </a:solidFill>
                <a:uFillTx/>
                <a:latin typeface="Calibri"/>
                <a:ea typeface="Calibri"/>
              </a:defRPr>
            </a:lvl1pPr>
          </a:lstStyle>
          <a:p>
            <a:pPr indent="0" algn="r">
              <a:lnSpc>
                <a:spcPct val="100000"/>
              </a:lnSpc>
              <a:buNone/>
              <a:tabLst>
                <a:tab algn="l" pos="0"/>
              </a:tabLst>
            </a:pPr>
            <a:fld id="{D80984B9-1108-42A0-A902-723C75BFA260}" type="slidenum">
              <a:rPr b="0" lang="en-IN" sz="1200" strike="noStrike" u="none">
                <a:solidFill>
                  <a:schemeClr val="lt2"/>
                </a:solidFill>
                <a:uFillTx/>
                <a:latin typeface="Calibri"/>
                <a:ea typeface="Calibri"/>
              </a:rPr>
              <a:t>&lt;number&gt;</a:t>
            </a:fld>
            <a:endParaRPr b="0" lang="en-US" sz="1200" strike="noStrike" u="none">
              <a:solidFill>
                <a:srgbClr val="ffffff"/>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51" r:id="rId2"/>
    <p:sldLayoutId id="2147483652"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trike="noStrike" u="none">
                <a:solidFill>
                  <a:srgbClr val="000000"/>
                </a:solidFill>
                <a:uFillTx/>
                <a:latin typeface="Arial"/>
              </a:rPr>
              <a:t>Click </a:t>
            </a:r>
            <a:r>
              <a:rPr b="0" lang="en-US" sz="3200" strike="noStrike" u="none">
                <a:solidFill>
                  <a:srgbClr val="000000"/>
                </a:solidFill>
                <a:uFillTx/>
                <a:latin typeface="Arial"/>
              </a:rPr>
              <a:t>to edit </a:t>
            </a:r>
            <a:r>
              <a:rPr b="0" lang="en-US" sz="3200" strike="noStrike" u="none">
                <a:solidFill>
                  <a:srgbClr val="000000"/>
                </a:solidFill>
                <a:uFillTx/>
                <a:latin typeface="Arial"/>
              </a:rPr>
              <a:t>the </a:t>
            </a:r>
            <a:r>
              <a:rPr b="0" lang="en-US" sz="3200" strike="noStrike" u="none">
                <a:solidFill>
                  <a:srgbClr val="000000"/>
                </a:solidFill>
                <a:uFillTx/>
                <a:latin typeface="Arial"/>
              </a:rPr>
              <a:t>title </a:t>
            </a:r>
            <a:r>
              <a:rPr b="0" lang="en-US" sz="3200" strike="noStrike" u="none">
                <a:solidFill>
                  <a:srgbClr val="000000"/>
                </a:solidFill>
                <a:uFillTx/>
                <a:latin typeface="Arial"/>
              </a:rPr>
              <a:t>text </a:t>
            </a:r>
            <a:r>
              <a:rPr b="0" lang="en-US" sz="3200" strike="noStrike" u="none">
                <a:solidFill>
                  <a:srgbClr val="000000"/>
                </a:solidFill>
                <a:uFillTx/>
                <a:latin typeface="Arial"/>
              </a:rPr>
              <a:t>format</a:t>
            </a:r>
            <a:endParaRPr b="0" lang="en-US" sz="3200" strike="noStrike" u="none">
              <a:solidFill>
                <a:srgbClr val="000000"/>
              </a:solidFill>
              <a:uFillTx/>
              <a:latin typeface="Arial"/>
            </a:endParaRPr>
          </a:p>
        </p:txBody>
      </p:sp>
      <p:sp>
        <p:nvSpPr>
          <p:cNvPr id="1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en-US" sz="1800" strike="noStrike" u="none">
                <a:solidFill>
                  <a:srgbClr val="000000"/>
                </a:solidFill>
                <a:uFillTx/>
                <a:latin typeface="Arial"/>
              </a:rPr>
              <a:t>Click to edit the outline text format</a:t>
            </a:r>
            <a:endParaRPr b="0" lang="en-U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n-US" sz="1800" strike="noStrike" u="none">
                <a:solidFill>
                  <a:srgbClr val="000000"/>
                </a:solidFill>
                <a:uFillTx/>
                <a:latin typeface="Arial"/>
              </a:rPr>
              <a:t>Second Outline Level</a:t>
            </a:r>
            <a:endParaRPr b="0" lang="en-U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n-US" sz="1800" strike="noStrike" u="none">
                <a:solidFill>
                  <a:srgbClr val="000000"/>
                </a:solidFill>
                <a:uFillTx/>
                <a:latin typeface="Arial"/>
              </a:rPr>
              <a:t>Third Outline Level</a:t>
            </a:r>
            <a:endParaRPr b="0" lang="en-U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n-US" sz="1800" strike="noStrike" u="none">
                <a:solidFill>
                  <a:srgbClr val="000000"/>
                </a:solidFill>
                <a:uFillTx/>
                <a:latin typeface="Arial"/>
              </a:rPr>
              <a:t>Fourth Outline Level</a:t>
            </a:r>
            <a:endParaRPr b="0" lang="en-U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n-US" sz="1800" strike="noStrike" u="none">
                <a:solidFill>
                  <a:srgbClr val="000000"/>
                </a:solidFill>
                <a:uFillTx/>
                <a:latin typeface="Arial"/>
              </a:rPr>
              <a:t>Fifth Outline Level</a:t>
            </a:r>
            <a:endParaRPr b="0" lang="en-U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n-US" sz="1800" strike="noStrike" u="none">
                <a:solidFill>
                  <a:srgbClr val="000000"/>
                </a:solidFill>
                <a:uFillTx/>
                <a:latin typeface="Arial"/>
              </a:rPr>
              <a:t>Sixth Outline Level</a:t>
            </a:r>
            <a:endParaRPr b="0" lang="en-U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n-US" sz="1800" strike="noStrike" u="none">
                <a:solidFill>
                  <a:srgbClr val="000000"/>
                </a:solidFill>
                <a:uFillTx/>
                <a:latin typeface="Arial"/>
              </a:rPr>
              <a:t>Seventh Outline Level</a:t>
            </a:r>
            <a:endParaRPr b="0" lang="en-US" sz="1800" strike="noStrike" u="none">
              <a:solidFill>
                <a:srgbClr val="000000"/>
              </a:solidFill>
              <a:uFillTx/>
              <a:latin typeface="Arial"/>
            </a:endParaRPr>
          </a:p>
        </p:txBody>
      </p:sp>
      <p:sp>
        <p:nvSpPr>
          <p:cNvPr id="1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1600" strike="noStrike" u="none">
                <a:solidFill>
                  <a:srgbClr val="000000"/>
                </a:solidFill>
                <a:uFillTx/>
                <a:latin typeface="Arial"/>
              </a:rPr>
              <a:t>Click to edit the outline text format</a:t>
            </a:r>
            <a:endParaRPr b="0" lang="en-US" sz="16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n-US" sz="1600" strike="noStrike" u="none">
                <a:solidFill>
                  <a:srgbClr val="000000"/>
                </a:solidFill>
                <a:uFillTx/>
                <a:latin typeface="Arial"/>
              </a:rPr>
              <a:t>Second Outline Level</a:t>
            </a:r>
            <a:endParaRPr b="0" lang="en-US" sz="16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n-US" sz="1600" strike="noStrike" u="none">
                <a:solidFill>
                  <a:srgbClr val="000000"/>
                </a:solidFill>
                <a:uFillTx/>
                <a:latin typeface="Arial"/>
              </a:rPr>
              <a:t>Third Outline Level</a:t>
            </a:r>
            <a:endParaRPr b="0" lang="en-US" sz="16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n-US" sz="1600" strike="noStrike" u="none">
                <a:solidFill>
                  <a:srgbClr val="000000"/>
                </a:solidFill>
                <a:uFillTx/>
                <a:latin typeface="Arial"/>
              </a:rPr>
              <a:t>Fourth Outline Level</a:t>
            </a:r>
            <a:endParaRPr b="0" lang="en-US" sz="16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n-US" sz="1600" strike="noStrike" u="none">
                <a:solidFill>
                  <a:srgbClr val="000000"/>
                </a:solidFill>
                <a:uFillTx/>
                <a:latin typeface="Arial"/>
              </a:rPr>
              <a:t>Fifth Outline Level</a:t>
            </a:r>
            <a:endParaRPr b="0" lang="en-US" sz="16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n-US" sz="1600" strike="noStrike" u="none">
                <a:solidFill>
                  <a:srgbClr val="000000"/>
                </a:solidFill>
                <a:uFillTx/>
                <a:latin typeface="Arial"/>
              </a:rPr>
              <a:t>Sixth Outline Level</a:t>
            </a:r>
            <a:endParaRPr b="0" lang="en-US" sz="16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n-US" sz="1600" strike="noStrike" u="none">
                <a:solidFill>
                  <a:srgbClr val="000000"/>
                </a:solidFill>
                <a:uFillTx/>
                <a:latin typeface="Arial"/>
              </a:rPr>
              <a:t>Seventh Outline Level</a:t>
            </a:r>
            <a:endParaRPr b="0" lang="en-US" sz="1600" strike="noStrike" u="none">
              <a:solidFill>
                <a:srgbClr val="000000"/>
              </a:solidFill>
              <a:uFillTx/>
              <a:latin typeface="Arial"/>
            </a:endParaRPr>
          </a:p>
        </p:txBody>
      </p:sp>
      <p:sp>
        <p:nvSpPr>
          <p:cNvPr id="17" name="PlaceHolder 4"/>
          <p:cNvSpPr>
            <a:spLocks noGrp="1"/>
          </p:cNvSpPr>
          <p:nvPr>
            <p:ph type="dt" idx="5"/>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trike="noStrike" u="none">
                <a:solidFill>
                  <a:srgbClr val="ffffff"/>
                </a:solidFill>
                <a:uFillTx/>
                <a:latin typeface="Times New Roman"/>
              </a:defRPr>
            </a:lvl1pPr>
          </a:lstStyle>
          <a:p>
            <a:pPr indent="0">
              <a:buNone/>
            </a:pPr>
            <a:r>
              <a:rPr b="0" lang="en-US" sz="1400" strike="noStrike" u="none">
                <a:solidFill>
                  <a:srgbClr val="ffffff"/>
                </a:solidFill>
                <a:uFillTx/>
                <a:latin typeface="Times New Roman"/>
              </a:rPr>
              <a:t>&lt;date/time&gt;</a:t>
            </a:r>
            <a:endParaRPr b="0" lang="en-US" sz="1400" strike="noStrike" u="none">
              <a:solidFill>
                <a:srgbClr val="ffffff"/>
              </a:solidFill>
              <a:uFillTx/>
              <a:latin typeface="Times New Roman"/>
            </a:endParaRPr>
          </a:p>
        </p:txBody>
      </p:sp>
      <p:sp>
        <p:nvSpPr>
          <p:cNvPr id="18" name="PlaceHolder 5"/>
          <p:cNvSpPr>
            <a:spLocks noGrp="1"/>
          </p:cNvSpPr>
          <p:nvPr>
            <p:ph type="ftr" idx="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uFillTx/>
                <a:latin typeface="Times New Roman"/>
              </a:defRPr>
            </a:lvl1pPr>
          </a:lstStyle>
          <a:p>
            <a:pPr indent="0" algn="ctr">
              <a:buNone/>
            </a:pPr>
            <a:r>
              <a:rPr b="0" lang="en-US" sz="1400" strike="noStrike" u="none">
                <a:solidFill>
                  <a:srgbClr val="ffffff"/>
                </a:solidFill>
                <a:uFillTx/>
                <a:latin typeface="Times New Roman"/>
              </a:rPr>
              <a:t>&lt;footer&gt;</a:t>
            </a:r>
            <a:endParaRPr b="0" lang="en-US" sz="1400" strike="noStrike" u="none">
              <a:solidFill>
                <a:srgbClr val="ffffff"/>
              </a:solidFill>
              <a:uFillTx/>
              <a:latin typeface="Times New Roman"/>
            </a:endParaRPr>
          </a:p>
        </p:txBody>
      </p:sp>
      <p:sp>
        <p:nvSpPr>
          <p:cNvPr id="19" name="PlaceHolder 6"/>
          <p:cNvSpPr>
            <a:spLocks noGrp="1"/>
          </p:cNvSpPr>
          <p:nvPr>
            <p:ph type="sldNum" idx="7"/>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IN" sz="1200" strike="noStrike" u="none">
                <a:solidFill>
                  <a:schemeClr val="lt2"/>
                </a:solidFill>
                <a:uFillTx/>
                <a:latin typeface="Calibri"/>
                <a:ea typeface="Calibri"/>
              </a:defRPr>
            </a:lvl1pPr>
          </a:lstStyle>
          <a:p>
            <a:pPr indent="0" algn="r">
              <a:lnSpc>
                <a:spcPct val="100000"/>
              </a:lnSpc>
              <a:buNone/>
              <a:tabLst>
                <a:tab algn="l" pos="0"/>
              </a:tabLst>
            </a:pPr>
            <a:fld id="{EF4D9377-8E2F-4922-8E3C-FB3D8B037B66}" type="slidenum">
              <a:rPr b="0" lang="en-IN" sz="1200" strike="noStrike" u="none">
                <a:solidFill>
                  <a:schemeClr val="lt2"/>
                </a:solidFill>
                <a:uFillTx/>
                <a:latin typeface="Calibri"/>
                <a:ea typeface="Calibri"/>
              </a:rPr>
              <a:t>&lt;number&gt;</a:t>
            </a:fld>
            <a:endParaRPr b="0" lang="en-US" sz="1200" strike="noStrike" u="none">
              <a:solidFill>
                <a:srgbClr val="ffffff"/>
              </a:solidFill>
              <a:uFillTx/>
              <a:latin typeface="Times New Roman"/>
            </a:endParaRPr>
          </a:p>
        </p:txBody>
      </p:sp>
    </p:spTree>
  </p:cSld>
  <p:clrMap bg1="lt1" tx1="dk1" bg2="dk2" tx2="lt2" accent1="accent1" accent2="accent2" accent3="accent3" accent4="accent4" accent5="accent5" accent6="accent6" hlink="hlink" folHlink="folHlink"/>
  <p:sldLayoutIdLst>
    <p:sldLayoutId id="2147483654"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6.png"/><Relationship Id="rId3"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7.png"/><Relationship Id="rId3"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1.png"/><Relationship Id="rId3"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6.png"/><Relationship Id="rId3" Type="http://schemas.microsoft.com/office/2007/relationships/hdphoto" Target="../media/hdphoto1.wdp"/><Relationship Id="rId4" Type="http://schemas.openxmlformats.org/officeDocument/2006/relationships/image" Target="../media/image37.png"/><Relationship Id="rId5" Type="http://schemas.microsoft.com/office/2007/relationships/hdphoto" Target="../media/hdphoto2.wdp"/><Relationship Id="rId6"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hyperlink" Target="https://halide-lang.org/tutorials/tutorial_lesson_05_scheduling_1.html" TargetMode="External"/><Relationship Id="rId3" Type="http://schemas.openxmlformats.org/officeDocument/2006/relationships/slideLayout" Target="../slideLayouts/slideLayout1.xml"/><Relationship Id="rId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hyperlink" Target="https://halide-lang.org/tutorials/tutorial_lesson_21_auto_scheduler_generate.html" TargetMode="External"/><Relationship Id="rId3" Type="http://schemas.openxmlformats.org/officeDocument/2006/relationships/slideLayout" Target="../slideLayouts/slideLayout1.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2.png"/><Relationship Id="rId3"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3.png"/><Relationship Id="rId3" Type="http://schemas.openxmlformats.org/officeDocument/2006/relationships/slideLayout" Target="../slideLayouts/slideLayout1.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4.png"/><Relationship Id="rId3"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slideLayout" Target="../slideLayouts/slideLayout1.xml"/><Relationship Id="rId5"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9.png"/><Relationship Id="rId3" Type="http://schemas.openxmlformats.org/officeDocument/2006/relationships/image" Target="../media/image47.png"/><Relationship Id="rId4"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0.png"/><Relationship Id="rId3"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1.png"/><Relationship Id="rId3"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hyperlink" Target="https://learn.microsoft.com/en-us/cpp/intrinsics/compiler-intrinsics?view=msvc-170" TargetMode="External"/><Relationship Id="rId3"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hyperlink" Target="https://developer.arm.com/documentation/102474/0100/Overview?lang=en" TargetMode="External"/><Relationship Id="rId3" Type="http://schemas.openxmlformats.org/officeDocument/2006/relationships/image" Target="../media/image52.png"/><Relationship Id="rId4"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hyperlink" Target="https://www.intel.com/content/www/us/en/docs/cpp-compiler/developer-guide-reference/2021-10/overview.html" TargetMode="External"/><Relationship Id="rId3" Type="http://schemas.openxmlformats.org/officeDocument/2006/relationships/hyperlink" Target="https://www.intel.com/content/www/us/en/docs/intrinsics-guide/index.html" TargetMode="External"/><Relationship Id="rId4"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3.png"/><Relationship Id="rId3"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4.png"/><Relationship Id="rId3"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5.png"/><Relationship Id="rId3"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6.jpeg"/><Relationship Id="rId3"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7.jpeg"/><Relationship Id="rId3"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58.png"/><Relationship Id="rId3"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8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8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8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1.png"/><Relationship Id="rId3" Type="http://schemas.openxmlformats.org/officeDocument/2006/relationships/image" Target="../media/image59.png"/><Relationship Id="rId4" Type="http://schemas.openxmlformats.org/officeDocument/2006/relationships/slideLayout" Target="../slideLayouts/slideLayout4.xml"/>
</Relationships>
</file>

<file path=ppt/slides/_rels/slide8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0.jpeg"/><Relationship Id="rId3" Type="http://schemas.openxmlformats.org/officeDocument/2006/relationships/image" Target="../media/image61.jpeg"/><Relationship Id="rId4" Type="http://schemas.openxmlformats.org/officeDocument/2006/relationships/slideLayout" Target="../slideLayouts/slideLayout4.xml"/>
</Relationships>
</file>

<file path=ppt/slides/_rels/slide8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Google Shape;88;p1"/>
          <p:cNvSpPr/>
          <p:nvPr/>
        </p:nvSpPr>
        <p:spPr>
          <a:xfrm>
            <a:off x="827280" y="3254760"/>
            <a:ext cx="10536840" cy="2414520"/>
          </a:xfrm>
          <a:prstGeom prst="rect">
            <a:avLst/>
          </a:prstGeom>
          <a:solidFill>
            <a:srgbClr val="212121"/>
          </a:solidFill>
          <a:ln>
            <a:solidFill>
              <a:srgbClr val="ffffff"/>
            </a:solidFill>
            <a:round/>
          </a:ln>
        </p:spPr>
        <p:style>
          <a:lnRef idx="2">
            <a:schemeClr val="dk1"/>
          </a:lnRef>
          <a:fillRef idx="1">
            <a:schemeClr val="lt1"/>
          </a:fillRef>
          <a:effectRef idx="0">
            <a:schemeClr val="dk1"/>
          </a:effectRef>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27" name="Google Shape;92;p1"/>
          <p:cNvSpPr/>
          <p:nvPr/>
        </p:nvSpPr>
        <p:spPr>
          <a:xfrm>
            <a:off x="827280" y="3337200"/>
            <a:ext cx="1644120" cy="396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IN" sz="2000" strike="noStrike" u="none">
                <a:solidFill>
                  <a:schemeClr val="dk1"/>
                </a:solidFill>
                <a:uFillTx/>
                <a:latin typeface="Arial"/>
                <a:ea typeface="Arial"/>
              </a:rPr>
              <a:t>Team</a:t>
            </a:r>
            <a:endParaRPr b="0" lang="en-US" sz="2000" strike="noStrike" u="none">
              <a:solidFill>
                <a:srgbClr val="ffffff"/>
              </a:solidFill>
              <a:uFillTx/>
              <a:latin typeface="Arial"/>
            </a:endParaRPr>
          </a:p>
        </p:txBody>
      </p:sp>
      <p:sp>
        <p:nvSpPr>
          <p:cNvPr id="28" name="Google Shape;93;p1"/>
          <p:cNvSpPr/>
          <p:nvPr/>
        </p:nvSpPr>
        <p:spPr>
          <a:xfrm>
            <a:off x="1395000" y="3737160"/>
            <a:ext cx="9705960" cy="1554480"/>
          </a:xfrm>
          <a:prstGeom prst="rect">
            <a:avLst/>
          </a:prstGeom>
          <a:noFill/>
          <a:ln w="0">
            <a:noFill/>
          </a:ln>
        </p:spPr>
        <p:style>
          <a:lnRef idx="0"/>
          <a:fillRef idx="0"/>
          <a:effectRef idx="0"/>
          <a:fontRef idx="minor"/>
        </p:style>
        <p:txBody>
          <a:bodyPr anchor="t">
            <a:spAutoFit/>
          </a:bodyPr>
          <a:p>
            <a:pPr marL="228600" indent="-228600">
              <a:lnSpc>
                <a:spcPct val="100000"/>
              </a:lnSpc>
              <a:buClr>
                <a:srgbClr val="ffffff"/>
              </a:buClr>
              <a:buFont typeface="Arial"/>
              <a:buAutoNum type="arabicPeriod"/>
            </a:pPr>
            <a:r>
              <a:rPr b="0" lang="en-IN" sz="1800" strike="noStrike" u="none">
                <a:solidFill>
                  <a:schemeClr val="dk1">
                    <a:lumMod val="85000"/>
                  </a:schemeClr>
                </a:solidFill>
                <a:uFillTx/>
                <a:latin typeface="Arial"/>
                <a:ea typeface="Arial"/>
              </a:rPr>
              <a:t>College Professor(s):  Dr. Sujoy Datta / sdattafcs@kiit.ac.in</a:t>
            </a:r>
            <a:endParaRPr b="0" lang="en-US" sz="1800" strike="noStrike" u="none">
              <a:solidFill>
                <a:srgbClr val="ffffff"/>
              </a:solidFill>
              <a:uFillTx/>
              <a:latin typeface="Arial"/>
            </a:endParaRPr>
          </a:p>
          <a:p>
            <a:pPr marL="228600" indent="-228600">
              <a:lnSpc>
                <a:spcPct val="100000"/>
              </a:lnSpc>
              <a:buClr>
                <a:srgbClr val="ffffff"/>
              </a:buClr>
              <a:buFont typeface="Arial"/>
              <a:buAutoNum type="arabicPeriod"/>
            </a:pPr>
            <a:r>
              <a:rPr b="0" lang="en-IN" sz="1800" strike="noStrike" u="none">
                <a:solidFill>
                  <a:schemeClr val="dk1">
                    <a:lumMod val="85000"/>
                  </a:schemeClr>
                </a:solidFill>
                <a:uFillTx/>
                <a:latin typeface="Arial"/>
                <a:ea typeface="Arial"/>
              </a:rPr>
              <a:t>Students:</a:t>
            </a:r>
            <a:endParaRPr b="0" lang="en-US" sz="1800" strike="noStrike" u="none">
              <a:solidFill>
                <a:srgbClr val="ffffff"/>
              </a:solidFill>
              <a:uFillTx/>
              <a:latin typeface="Arial"/>
            </a:endParaRPr>
          </a:p>
          <a:p>
            <a:pPr lvl="1" marL="685800" indent="-228600">
              <a:lnSpc>
                <a:spcPct val="100000"/>
              </a:lnSpc>
              <a:buClr>
                <a:srgbClr val="ffffff"/>
              </a:buClr>
              <a:buFont typeface="Arial"/>
              <a:buAutoNum type="arabicPeriod"/>
            </a:pPr>
            <a:r>
              <a:rPr b="0" lang="en-IN" sz="1400" strike="noStrike" u="none">
                <a:solidFill>
                  <a:schemeClr val="dk1">
                    <a:lumMod val="85000"/>
                  </a:schemeClr>
                </a:solidFill>
                <a:uFillTx/>
                <a:latin typeface="Arial"/>
                <a:ea typeface="Arial"/>
              </a:rPr>
              <a:t>SUBHADEEP BHADRA / 2205336@kiit.ac.in</a:t>
            </a:r>
            <a:endParaRPr b="0" lang="en-US" sz="1400" strike="noStrike" u="none">
              <a:solidFill>
                <a:srgbClr val="ffffff"/>
              </a:solidFill>
              <a:uFillTx/>
              <a:latin typeface="Arial"/>
            </a:endParaRPr>
          </a:p>
          <a:p>
            <a:pPr lvl="1" marL="685800" indent="-228600">
              <a:lnSpc>
                <a:spcPct val="100000"/>
              </a:lnSpc>
              <a:buClr>
                <a:srgbClr val="ffffff"/>
              </a:buClr>
              <a:buFont typeface="Arial"/>
              <a:buAutoNum type="arabicPeriod"/>
            </a:pPr>
            <a:r>
              <a:rPr b="0" lang="en-IN" sz="1400" strike="noStrike" u="none">
                <a:solidFill>
                  <a:schemeClr val="dk1">
                    <a:lumMod val="85000"/>
                  </a:schemeClr>
                </a:solidFill>
                <a:uFillTx/>
                <a:latin typeface="Arial"/>
                <a:ea typeface="Arial"/>
              </a:rPr>
              <a:t>SOURAV KUMAR PARIDA / 22051032@kiit.ac.in</a:t>
            </a:r>
            <a:endParaRPr b="0" lang="en-US" sz="1400" strike="noStrike" u="none">
              <a:solidFill>
                <a:srgbClr val="ffffff"/>
              </a:solidFill>
              <a:uFillTx/>
              <a:latin typeface="Arial"/>
            </a:endParaRPr>
          </a:p>
          <a:p>
            <a:pPr lvl="1" marL="685800" indent="-228600">
              <a:lnSpc>
                <a:spcPct val="100000"/>
              </a:lnSpc>
              <a:buClr>
                <a:srgbClr val="ffffff"/>
              </a:buClr>
              <a:buFont typeface="Arial"/>
              <a:buAutoNum type="arabicPeriod"/>
            </a:pPr>
            <a:r>
              <a:rPr b="0" lang="en-IN" sz="1400" strike="noStrike" u="none">
                <a:solidFill>
                  <a:schemeClr val="dk1">
                    <a:lumMod val="85000"/>
                  </a:schemeClr>
                </a:solidFill>
                <a:uFillTx/>
                <a:latin typeface="Arial"/>
                <a:ea typeface="Arial"/>
              </a:rPr>
              <a:t>DHRUBAJYOTI MANDAL / 22053859@kiit.ac.in</a:t>
            </a:r>
            <a:endParaRPr b="0" lang="en-US" sz="1400" strike="noStrike" u="none">
              <a:solidFill>
                <a:srgbClr val="ffffff"/>
              </a:solidFill>
              <a:uFillTx/>
              <a:latin typeface="Arial"/>
            </a:endParaRPr>
          </a:p>
          <a:p>
            <a:pPr marL="228600" indent="-228600">
              <a:lnSpc>
                <a:spcPct val="100000"/>
              </a:lnSpc>
              <a:buClr>
                <a:srgbClr val="ffffff"/>
              </a:buClr>
              <a:buFont typeface="Arial"/>
              <a:buAutoNum type="arabicPeriod"/>
            </a:pPr>
            <a:r>
              <a:rPr b="0" lang="en-IN" sz="1800" strike="noStrike" u="none">
                <a:solidFill>
                  <a:schemeClr val="dk1">
                    <a:lumMod val="85000"/>
                  </a:schemeClr>
                </a:solidFill>
                <a:uFillTx/>
                <a:latin typeface="Arial"/>
                <a:ea typeface="Arial"/>
              </a:rPr>
              <a:t>Department: CSE</a:t>
            </a:r>
            <a:endParaRPr b="0" lang="en-US" sz="1800" strike="noStrike" u="none">
              <a:solidFill>
                <a:srgbClr val="ffffff"/>
              </a:solidFill>
              <a:uFillTx/>
              <a:latin typeface="Arial"/>
            </a:endParaRPr>
          </a:p>
        </p:txBody>
      </p:sp>
      <p:pic>
        <p:nvPicPr>
          <p:cNvPr id="29" name="Google Shape;95;p1" descr=""/>
          <p:cNvPicPr/>
          <p:nvPr/>
        </p:nvPicPr>
        <p:blipFill>
          <a:blip r:embed="rId1"/>
          <a:srcRect l="4529" t="20257" r="4160" b="26835"/>
          <a:stretch/>
        </p:blipFill>
        <p:spPr>
          <a:xfrm>
            <a:off x="10942200" y="105120"/>
            <a:ext cx="1249560" cy="474480"/>
          </a:xfrm>
          <a:prstGeom prst="rect">
            <a:avLst/>
          </a:prstGeom>
          <a:ln w="0">
            <a:noFill/>
          </a:ln>
        </p:spPr>
      </p:pic>
      <p:sp>
        <p:nvSpPr>
          <p:cNvPr id="30" name="Google Shape;96;p1"/>
          <p:cNvSpPr/>
          <p:nvPr/>
        </p:nvSpPr>
        <p:spPr>
          <a:xfrm>
            <a:off x="1395000" y="1389960"/>
            <a:ext cx="9401760" cy="1309680"/>
          </a:xfrm>
          <a:prstGeom prst="rect">
            <a:avLst/>
          </a:prstGeom>
          <a:noFill/>
          <a:ln w="0">
            <a:noFill/>
          </a:ln>
        </p:spPr>
        <p:style>
          <a:lnRef idx="0"/>
          <a:fillRef idx="0"/>
          <a:effectRef idx="0"/>
          <a:fontRef idx="minor"/>
        </p:style>
        <p:txBody>
          <a:bodyPr anchor="ctr">
            <a:spAutoFit/>
          </a:bodyPr>
          <a:p>
            <a:pPr algn="ctr">
              <a:lnSpc>
                <a:spcPct val="100000"/>
              </a:lnSpc>
              <a:tabLst>
                <a:tab algn="l" pos="0"/>
              </a:tabLst>
            </a:pPr>
            <a:r>
              <a:rPr b="1" lang="en-IN" sz="4000" strike="noStrike" u="none">
                <a:solidFill>
                  <a:schemeClr val="dk1"/>
                </a:solidFill>
                <a:uFillTx/>
                <a:latin typeface="Arial"/>
                <a:ea typeface="Arial"/>
              </a:rPr>
              <a:t>Fast Parallel Image Rotation Algorithm</a:t>
            </a:r>
            <a:endParaRPr b="0" lang="en-US" sz="4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Google Shape;216;p6"/>
          <p:cNvSpPr/>
          <p:nvPr/>
        </p:nvSpPr>
        <p:spPr>
          <a:xfrm>
            <a:off x="518040" y="1370160"/>
            <a:ext cx="11048760" cy="5300640"/>
          </a:xfrm>
          <a:prstGeom prst="rect">
            <a:avLst/>
          </a:prstGeom>
          <a:noFill/>
          <a:ln w="0">
            <a:noFill/>
          </a:ln>
        </p:spPr>
        <p:style>
          <a:lnRef idx="0"/>
          <a:fillRef idx="0"/>
          <a:effectRef idx="0"/>
          <a:fontRef idx="minor"/>
        </p:style>
        <p:txBody>
          <a:bodyPr tIns="91440" bIns="91440" anchor="t">
            <a:spAutoFit/>
          </a:bodyPr>
          <a:p>
            <a:pPr>
              <a:lnSpc>
                <a:spcPct val="100000"/>
              </a:lnSpc>
            </a:pPr>
            <a:r>
              <a:rPr b="1" lang="en-IN" sz="1600" strike="noStrike" u="none">
                <a:solidFill>
                  <a:schemeClr val="dk1">
                    <a:lumMod val="85000"/>
                  </a:schemeClr>
                </a:solidFill>
                <a:uFillTx/>
                <a:latin typeface="Arial"/>
                <a:ea typeface="Arial"/>
              </a:rPr>
              <a:t>Initial parameters:</a:t>
            </a:r>
            <a:endParaRPr b="0" lang="en-US" sz="16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i="1" lang="en-US" sz="1600" strike="noStrike" u="none">
                <a:solidFill>
                  <a:schemeClr val="dk1">
                    <a:lumMod val="85000"/>
                  </a:schemeClr>
                </a:solidFill>
                <a:uFillTx/>
                <a:latin typeface="Arial"/>
                <a:ea typeface="Arial"/>
              </a:rPr>
              <a:t> </a:t>
            </a:r>
            <a:r>
              <a:rPr b="0" i="1" lang="en-US" sz="1600" strike="noStrike" u="none">
                <a:solidFill>
                  <a:schemeClr val="dk1">
                    <a:lumMod val="85000"/>
                  </a:schemeClr>
                </a:solidFill>
                <a:uFillTx/>
                <a:latin typeface="Arial"/>
                <a:ea typeface="Arial"/>
              </a:rPr>
              <a:t>float rot_angle = 45;                                           </a:t>
            </a:r>
            <a:endParaRPr b="0" lang="en-US" sz="1600" strike="noStrike" u="none">
              <a:solidFill>
                <a:srgbClr val="ffffff"/>
              </a:solidFill>
              <a:uFillTx/>
              <a:latin typeface="Arial"/>
            </a:endParaRPr>
          </a:p>
          <a:p>
            <a:pPr>
              <a:lnSpc>
                <a:spcPct val="100000"/>
              </a:lnSpc>
            </a:pPr>
            <a:r>
              <a:rPr b="0" i="1" lang="en-US" sz="1600" strike="noStrike" u="none">
                <a:solidFill>
                  <a:schemeClr val="dk1">
                    <a:lumMod val="85000"/>
                  </a:schemeClr>
                </a:solidFill>
                <a:uFillTx/>
                <a:latin typeface="Arial"/>
                <a:ea typeface="Arial"/>
              </a:rPr>
              <a:t>    </a:t>
            </a:r>
            <a:r>
              <a:rPr b="0" i="1" lang="en-US" sz="1600" strike="noStrike" u="none">
                <a:solidFill>
                  <a:schemeClr val="dk1">
                    <a:lumMod val="85000"/>
                  </a:schemeClr>
                </a:solidFill>
                <a:uFillTx/>
                <a:latin typeface="Arial"/>
                <a:ea typeface="Arial"/>
              </a:rPr>
              <a:t>Point2f center(img.cols / 2.0, img.rows / 2.0); </a:t>
            </a:r>
            <a:endParaRPr b="0" lang="en-US" sz="1600" strike="noStrike" u="none">
              <a:solidFill>
                <a:srgbClr val="ffffff"/>
              </a:solidFill>
              <a:uFillTx/>
              <a:latin typeface="Arial"/>
            </a:endParaRPr>
          </a:p>
          <a:p>
            <a:pPr>
              <a:lnSpc>
                <a:spcPct val="100000"/>
              </a:lnSpc>
            </a:pPr>
            <a:r>
              <a:rPr b="0" i="1" lang="en-US" sz="1600" strike="noStrike" u="none">
                <a:solidFill>
                  <a:schemeClr val="dk1">
                    <a:lumMod val="85000"/>
                  </a:schemeClr>
                </a:solidFill>
                <a:uFillTx/>
                <a:latin typeface="Arial"/>
                <a:ea typeface="Arial"/>
              </a:rPr>
              <a:t> </a:t>
            </a: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a:t>
            </a:r>
            <a:r>
              <a:rPr b="0" lang="en-US" sz="1600" strike="noStrike" u="none">
                <a:solidFill>
                  <a:schemeClr val="dk1">
                    <a:lumMod val="85000"/>
                  </a:schemeClr>
                </a:solidFill>
                <a:uFillTx/>
                <a:latin typeface="Arial"/>
                <a:ea typeface="Arial"/>
              </a:rPr>
              <a:t>rot_angle’ is the rotation angle in degrees.</a:t>
            </a: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a:t>
            </a:r>
            <a:r>
              <a:rPr b="0" lang="en-US" sz="1600" strike="noStrike" u="none">
                <a:solidFill>
                  <a:schemeClr val="dk1">
                    <a:lumMod val="85000"/>
                  </a:schemeClr>
                </a:solidFill>
                <a:uFillTx/>
                <a:latin typeface="Arial"/>
                <a:ea typeface="Arial"/>
              </a:rPr>
              <a:t>Center’ is the point around which the image will be rotated (the center of the image).</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IN" sz="1600" strike="noStrike" u="none">
                <a:solidFill>
                  <a:schemeClr val="dk1">
                    <a:lumMod val="85000"/>
                  </a:schemeClr>
                </a:solidFill>
                <a:uFillTx/>
                <a:latin typeface="Arial"/>
                <a:ea typeface="Arial"/>
              </a:rPr>
              <a:t>Calculate the Rotation Matrix:</a:t>
            </a:r>
            <a:endParaRPr b="0" lang="en-US" sz="1600" strike="noStrike" u="none">
              <a:solidFill>
                <a:srgbClr val="ffffff"/>
              </a:solidFill>
              <a:uFillTx/>
              <a:latin typeface="Arial"/>
            </a:endParaRPr>
          </a:p>
          <a:p>
            <a:pPr>
              <a:lnSpc>
                <a:spcPct val="100000"/>
              </a:lnSpc>
            </a:pPr>
            <a:r>
              <a:rPr b="0" i="1" lang="en-US" sz="1600" strike="noStrike" u="none">
                <a:solidFill>
                  <a:schemeClr val="dk1">
                    <a:lumMod val="85000"/>
                  </a:schemeClr>
                </a:solidFill>
                <a:uFillTx/>
                <a:latin typeface="Arial"/>
                <a:ea typeface="Arial"/>
              </a:rPr>
              <a:t>Mat rotation_mat = getRotationMatrix2D(center, rot_angle, 1.0);</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getRotationMatrix2D creates a 2x3 rotation matrix for rotating the image around the specified center point.</a:t>
            </a: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The scale factor is 1.0, meaning the image size remains unchanged apart from rotation.</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Where (𝑡𝑥,𝑡𝑦) are the translation components.</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IN" sz="1600" strike="noStrike" u="none">
                <a:solidFill>
                  <a:schemeClr val="dk1">
                    <a:lumMod val="85000"/>
                  </a:schemeClr>
                </a:solidFill>
                <a:uFillTx/>
                <a:latin typeface="Arial"/>
                <a:ea typeface="Arial"/>
              </a:rPr>
              <a:t>Calculate Bounding Box:</a:t>
            </a:r>
            <a:endParaRPr b="0" lang="en-US" sz="1600" strike="noStrike" u="none">
              <a:solidFill>
                <a:srgbClr val="ffffff"/>
              </a:solidFill>
              <a:uFillTx/>
              <a:latin typeface="Arial"/>
            </a:endParaRPr>
          </a:p>
          <a:p>
            <a:pPr>
              <a:lnSpc>
                <a:spcPct val="100000"/>
              </a:lnSpc>
            </a:pPr>
            <a:r>
              <a:rPr b="0" i="1" lang="en-US" sz="1600" strike="noStrike" u="none">
                <a:solidFill>
                  <a:schemeClr val="dk1">
                    <a:lumMod val="85000"/>
                  </a:schemeClr>
                </a:solidFill>
                <a:uFillTx/>
                <a:latin typeface="Arial"/>
                <a:ea typeface="Arial"/>
              </a:rPr>
              <a:t>Rect2f bbox = RotatedRect(Point2f(), img.size(), rot_angle).boundingRect2f();</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a:t>
            </a:r>
            <a:r>
              <a:rPr b="0" lang="en-US" sz="1600" strike="noStrike" u="none">
                <a:solidFill>
                  <a:schemeClr val="dk1">
                    <a:lumMod val="85000"/>
                  </a:schemeClr>
                </a:solidFill>
                <a:uFillTx/>
                <a:latin typeface="Arial"/>
                <a:ea typeface="Arial"/>
              </a:rPr>
              <a:t>RotatedRect’ calculates the rotated rectangle.</a:t>
            </a:r>
            <a:endParaRPr b="0" lang="en-US" sz="1600" strike="noStrike" u="none">
              <a:solidFill>
                <a:srgbClr val="ffffff"/>
              </a:solidFill>
              <a:uFillTx/>
              <a:latin typeface="Arial"/>
            </a:endParaRPr>
          </a:p>
          <a:p>
            <a:pPr marL="285840" indent="-285840">
              <a:lnSpc>
                <a:spcPct val="100000"/>
              </a:lnSpc>
              <a:buClr>
                <a:srgbClr val="ffffff"/>
              </a:buClr>
              <a:buFont typeface="Arial"/>
              <a:buChar char="•"/>
            </a:pPr>
            <a:r>
              <a:rPr b="0" lang="en-US" sz="1600" strike="noStrike" u="none">
                <a:solidFill>
                  <a:schemeClr val="dk1">
                    <a:lumMod val="85000"/>
                  </a:schemeClr>
                </a:solidFill>
                <a:uFillTx/>
                <a:latin typeface="Arial"/>
                <a:ea typeface="Arial"/>
              </a:rPr>
              <a:t>‘</a:t>
            </a:r>
            <a:r>
              <a:rPr b="0" lang="en-US" sz="1600" strike="noStrike" u="none">
                <a:solidFill>
                  <a:schemeClr val="dk1">
                    <a:lumMod val="85000"/>
                  </a:schemeClr>
                </a:solidFill>
                <a:uFillTx/>
                <a:latin typeface="Arial"/>
                <a:ea typeface="Arial"/>
              </a:rPr>
              <a:t>boundingRect2f’ computes the axis-aligned bounding box that contains the rotated rectangle.</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pic>
        <p:nvPicPr>
          <p:cNvPr id="32" name="Picture 2" descr=""/>
          <p:cNvPicPr/>
          <p:nvPr/>
        </p:nvPicPr>
        <p:blipFill>
          <a:blip r:embed="rId1"/>
          <a:srcRect l="6010" t="18638" r="0" b="0"/>
          <a:stretch/>
        </p:blipFill>
        <p:spPr>
          <a:xfrm>
            <a:off x="6904440" y="4519800"/>
            <a:ext cx="4037400" cy="718560"/>
          </a:xfrm>
          <a:prstGeom prst="rect">
            <a:avLst/>
          </a:prstGeom>
          <a:ln w="0">
            <a:noFill/>
          </a:ln>
        </p:spPr>
      </p:pic>
      <p:pic>
        <p:nvPicPr>
          <p:cNvPr id="33"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34" name="Google Shape;212;p6"/>
          <p:cNvSpPr/>
          <p:nvPr/>
        </p:nvSpPr>
        <p:spPr>
          <a:xfrm>
            <a:off x="571680" y="25128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Rotation Function warpAffine algorithm in Halide: </a:t>
            </a:r>
            <a:endParaRPr b="0" lang="en-US" sz="3200" strike="noStrike" u="none">
              <a:solidFill>
                <a:srgbClr val="ffffff"/>
              </a:solidFill>
              <a:uFillTx/>
              <a:latin typeface="Arial"/>
            </a:endParaRPr>
          </a:p>
        </p:txBody>
      </p:sp>
      <p:sp>
        <p:nvSpPr>
          <p:cNvPr id="35" name="Google Shape;100;p17"/>
          <p:cNvSpPr/>
          <p:nvPr/>
        </p:nvSpPr>
        <p:spPr>
          <a:xfrm>
            <a:off x="8837640" y="619236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May 28, 2024</a:t>
            </a:r>
            <a:endParaRPr b="0" lang="en-US" sz="2660" strike="noStrike" u="none">
              <a:solidFill>
                <a:srgbClr val="ffffff"/>
              </a:solidFill>
              <a:uFillTx/>
              <a:latin typeface="Arial"/>
            </a:endParaRPr>
          </a:p>
        </p:txBody>
      </p:sp>
      <p:sp>
        <p:nvSpPr>
          <p:cNvPr id="36"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Google Shape;216;p6"/>
          <p:cNvSpPr/>
          <p:nvPr/>
        </p:nvSpPr>
        <p:spPr>
          <a:xfrm>
            <a:off x="571680" y="1329840"/>
            <a:ext cx="11048760" cy="5544360"/>
          </a:xfrm>
          <a:prstGeom prst="rect">
            <a:avLst/>
          </a:prstGeom>
          <a:noFill/>
          <a:ln w="0">
            <a:noFill/>
          </a:ln>
        </p:spPr>
        <p:style>
          <a:lnRef idx="0"/>
          <a:fillRef idx="0"/>
          <a:effectRef idx="0"/>
          <a:fontRef idx="minor"/>
        </p:style>
        <p:txBody>
          <a:bodyPr tIns="91440" bIns="91440" anchor="t">
            <a:spAutoFit/>
          </a:bodyPr>
          <a:p>
            <a:pPr>
              <a:lnSpc>
                <a:spcPct val="100000"/>
              </a:lnSpc>
            </a:pPr>
            <a:r>
              <a:rPr b="1" lang="en-IN" sz="1600" strike="noStrike" u="none">
                <a:solidFill>
                  <a:schemeClr val="dk1">
                    <a:lumMod val="85000"/>
                  </a:schemeClr>
                </a:solidFill>
                <a:uFillTx/>
                <a:latin typeface="Arial"/>
                <a:ea typeface="Arial"/>
              </a:rPr>
              <a:t>Adjust the Transformation Matrix:</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i="1" lang="en-IN" sz="1600" strike="noStrike" u="none">
                <a:solidFill>
                  <a:schemeClr val="dk1">
                    <a:lumMod val="85000"/>
                  </a:schemeClr>
                </a:solidFill>
                <a:uFillTx/>
                <a:latin typeface="Arial"/>
                <a:ea typeface="Arial"/>
              </a:rPr>
              <a:t>rotation_mat.at&lt;double&gt;(0, 2) += bbox.width / 2.0 - img.cols / 2.0;</a:t>
            </a:r>
            <a:endParaRPr b="0" lang="en-US" sz="1600" strike="noStrike" u="none">
              <a:solidFill>
                <a:srgbClr val="ffffff"/>
              </a:solidFill>
              <a:uFillTx/>
              <a:latin typeface="Arial"/>
            </a:endParaRPr>
          </a:p>
          <a:p>
            <a:pPr>
              <a:lnSpc>
                <a:spcPct val="100000"/>
              </a:lnSpc>
            </a:pPr>
            <a:r>
              <a:rPr b="0" i="1" lang="en-IN" sz="1600" strike="noStrike" u="none">
                <a:solidFill>
                  <a:schemeClr val="dk1">
                    <a:lumMod val="85000"/>
                  </a:schemeClr>
                </a:solidFill>
                <a:uFillTx/>
                <a:latin typeface="Arial"/>
                <a:ea typeface="Arial"/>
              </a:rPr>
              <a:t>rotation_mat.at&lt;double&gt;(1, 2) += bbox.height / 2.0 - img.rows / 2.0;</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lumMod val="85000"/>
                  </a:schemeClr>
                </a:solidFill>
                <a:uFillTx/>
                <a:latin typeface="Arial"/>
                <a:ea typeface="Arial"/>
              </a:rPr>
              <a:t>Adjusts the translation components (tx and ty) of the rotation matrix to center the rotated image within the bounding box.</a:t>
            </a: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lumMod val="85000"/>
                  </a:schemeClr>
                </a:solidFill>
                <a:uFillTx/>
                <a:latin typeface="Arial"/>
                <a:ea typeface="Arial"/>
              </a:rPr>
              <a:t>Without this adjustment, the image would not be correctly centered in the new bounding box.</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lumMod val="85000"/>
                  </a:schemeClr>
                </a:solidFill>
                <a:uFillTx/>
                <a:latin typeface="Arial"/>
                <a:ea typeface="Arial"/>
              </a:rPr>
              <a:t>This ensures the rotated image is correctly centered within its new bounding box.</a:t>
            </a:r>
            <a:endParaRPr b="0" lang="en-US" sz="1600" strike="noStrike" u="none">
              <a:solidFill>
                <a:srgbClr val="ffffff"/>
              </a:solidFill>
              <a:uFillTx/>
              <a:latin typeface="Arial"/>
            </a:endParaRPr>
          </a:p>
          <a:p>
            <a:pPr>
              <a:lnSpc>
                <a:spcPct val="100000"/>
              </a:lnSpc>
            </a:pPr>
            <a:r>
              <a:rPr b="1" lang="en-IN" sz="1600" strike="noStrike" u="none">
                <a:solidFill>
                  <a:schemeClr val="dk1">
                    <a:lumMod val="85000"/>
                  </a:schemeClr>
                </a:solidFill>
                <a:uFillTx/>
                <a:latin typeface="Arial"/>
                <a:ea typeface="Arial"/>
              </a:rPr>
              <a:t>Perform the Affine Transformation:</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i="1" lang="en-US" sz="1600" strike="noStrike" u="none">
                <a:solidFill>
                  <a:schemeClr val="dk1">
                    <a:lumMod val="85000"/>
                  </a:schemeClr>
                </a:solidFill>
                <a:uFillTx/>
                <a:latin typeface="Arial"/>
                <a:ea typeface="Arial"/>
              </a:rPr>
              <a:t>warpAffine(img, rotated, rotation_mat, bbox.size());</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lumMod val="85000"/>
                  </a:schemeClr>
                </a:solidFill>
                <a:uFillTx/>
                <a:latin typeface="Arial"/>
                <a:ea typeface="Arial"/>
              </a:rPr>
              <a:t>‘</a:t>
            </a:r>
            <a:r>
              <a:rPr b="0" lang="en-US" sz="1600" strike="noStrike" u="none">
                <a:solidFill>
                  <a:schemeClr val="dk1">
                    <a:lumMod val="85000"/>
                  </a:schemeClr>
                </a:solidFill>
                <a:uFillTx/>
                <a:latin typeface="Arial"/>
                <a:ea typeface="Arial"/>
              </a:rPr>
              <a:t>warpAffine’ applies the affine transformation to the image using the rotation matrix and outputs the rotated image.</a:t>
            </a: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lumMod val="85000"/>
                  </a:schemeClr>
                </a:solidFill>
                <a:uFillTx/>
                <a:latin typeface="Arial"/>
                <a:ea typeface="Arial"/>
              </a:rPr>
              <a:t>The output image size is set to the bounding box size calculated earlier.</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pic>
        <p:nvPicPr>
          <p:cNvPr id="38" name="Google Shape;214;p6" descr=""/>
          <p:cNvPicPr/>
          <p:nvPr/>
        </p:nvPicPr>
        <p:blipFill>
          <a:blip r:embed="rId1"/>
          <a:srcRect l="4529" t="20257" r="4160" b="26835"/>
          <a:stretch/>
        </p:blipFill>
        <p:spPr>
          <a:xfrm>
            <a:off x="10942200" y="105120"/>
            <a:ext cx="1249560" cy="474480"/>
          </a:xfrm>
          <a:prstGeom prst="rect">
            <a:avLst/>
          </a:prstGeom>
          <a:ln w="0">
            <a:noFill/>
          </a:ln>
        </p:spPr>
      </p:pic>
      <p:pic>
        <p:nvPicPr>
          <p:cNvPr id="39" name="Picture 3" descr=""/>
          <p:cNvPicPr/>
          <p:nvPr/>
        </p:nvPicPr>
        <p:blipFill>
          <a:blip r:embed="rId2"/>
          <a:srcRect l="0" t="13599" r="0" b="7771"/>
          <a:stretch/>
        </p:blipFill>
        <p:spPr>
          <a:xfrm>
            <a:off x="3809880" y="3429000"/>
            <a:ext cx="4121280" cy="1009080"/>
          </a:xfrm>
          <a:prstGeom prst="rect">
            <a:avLst/>
          </a:prstGeom>
          <a:ln w="0">
            <a:noFill/>
          </a:ln>
        </p:spPr>
      </p:pic>
      <p:sp>
        <p:nvSpPr>
          <p:cNvPr id="40" name="Google Shape;212;p6"/>
          <p:cNvSpPr/>
          <p:nvPr/>
        </p:nvSpPr>
        <p:spPr>
          <a:xfrm>
            <a:off x="571680" y="25128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Rotation Function warpAffine algorithm in Halide: </a:t>
            </a:r>
            <a:endParaRPr b="0" lang="en-US" sz="3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Picture Placeholder 8" descr="imp1"/>
          <p:cNvPicPr/>
          <p:nvPr/>
        </p:nvPicPr>
        <p:blipFill>
          <a:blip r:embed="rId1"/>
          <a:stretch/>
        </p:blipFill>
        <p:spPr>
          <a:xfrm>
            <a:off x="608760" y="1022040"/>
            <a:ext cx="10974240" cy="4813560"/>
          </a:xfrm>
          <a:prstGeom prst="rect">
            <a:avLst/>
          </a:prstGeom>
          <a:ln w="0">
            <a:noFill/>
          </a:ln>
        </p:spPr>
      </p:pic>
      <p:pic>
        <p:nvPicPr>
          <p:cNvPr id="42"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43" name="Google Shape;212;p6"/>
          <p:cNvSpPr/>
          <p:nvPr/>
        </p:nvSpPr>
        <p:spPr>
          <a:xfrm>
            <a:off x="381960" y="413640"/>
            <a:ext cx="9401760" cy="456480"/>
          </a:xfrm>
          <a:prstGeom prst="rect">
            <a:avLst/>
          </a:prstGeom>
          <a:noFill/>
          <a:ln w="0">
            <a:noFill/>
          </a:ln>
        </p:spPr>
        <p:style>
          <a:lnRef idx="0"/>
          <a:fillRef idx="0"/>
          <a:effectRef idx="0"/>
          <a:fontRef idx="minor"/>
        </p:style>
        <p:txBody>
          <a:bodyPr anchor="ctr">
            <a:spAutoFit/>
          </a:bodyPr>
          <a:p>
            <a:pPr>
              <a:lnSpc>
                <a:spcPct val="100000"/>
              </a:lnSpc>
            </a:pPr>
            <a:r>
              <a:rPr b="1" lang="en-US" sz="2400" strike="noStrike" u="none">
                <a:solidFill>
                  <a:schemeClr val="dk1"/>
                </a:solidFill>
                <a:uFillTx/>
                <a:latin typeface="Arial"/>
                <a:ea typeface="Arial"/>
              </a:rPr>
              <a:t>Mathmatics of Affine Transformation</a:t>
            </a:r>
            <a:endParaRPr b="0" lang="en-US" sz="2400" strike="noStrike" u="none">
              <a:solidFill>
                <a:srgbClr val="ffffff"/>
              </a:solidFill>
              <a:uFillTx/>
              <a:latin typeface="Arial"/>
            </a:endParaRPr>
          </a:p>
        </p:txBody>
      </p:sp>
      <p:sp>
        <p:nvSpPr>
          <p:cNvPr id="44" name="Google Shape;100;p17"/>
          <p:cNvSpPr/>
          <p:nvPr/>
        </p:nvSpPr>
        <p:spPr>
          <a:xfrm>
            <a:off x="8837640" y="598500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May 28, 2024</a:t>
            </a:r>
            <a:endParaRPr b="0" lang="en-US" sz="2660" strike="noStrike" u="none">
              <a:solidFill>
                <a:srgbClr val="ffffff"/>
              </a:solidFill>
              <a:uFillTx/>
              <a:latin typeface="Arial"/>
            </a:endParaRPr>
          </a:p>
        </p:txBody>
      </p:sp>
      <p:sp>
        <p:nvSpPr>
          <p:cNvPr id="45"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47" name="Google Shape;212;p6"/>
          <p:cNvSpPr/>
          <p:nvPr/>
        </p:nvSpPr>
        <p:spPr>
          <a:xfrm>
            <a:off x="381960" y="117720"/>
            <a:ext cx="9401760" cy="456480"/>
          </a:xfrm>
          <a:prstGeom prst="rect">
            <a:avLst/>
          </a:prstGeom>
          <a:noFill/>
          <a:ln w="0">
            <a:noFill/>
          </a:ln>
        </p:spPr>
        <p:style>
          <a:lnRef idx="0"/>
          <a:fillRef idx="0"/>
          <a:effectRef idx="0"/>
          <a:fontRef idx="minor"/>
        </p:style>
        <p:txBody>
          <a:bodyPr anchor="ctr">
            <a:spAutoFit/>
          </a:bodyPr>
          <a:p>
            <a:pPr>
              <a:lnSpc>
                <a:spcPct val="100000"/>
              </a:lnSpc>
            </a:pPr>
            <a:r>
              <a:rPr b="1" lang="en-US" sz="2400" strike="noStrike" u="none">
                <a:solidFill>
                  <a:schemeClr val="dk1"/>
                </a:solidFill>
                <a:uFillTx/>
                <a:latin typeface="Arial"/>
                <a:ea typeface="Arial"/>
              </a:rPr>
              <a:t>Rotation Of Image Around Any Point</a:t>
            </a:r>
            <a:endParaRPr b="0" lang="en-US" sz="2400" strike="noStrike" u="none">
              <a:solidFill>
                <a:srgbClr val="ffffff"/>
              </a:solidFill>
              <a:uFillTx/>
              <a:latin typeface="Arial"/>
            </a:endParaRPr>
          </a:p>
        </p:txBody>
      </p:sp>
      <p:pic>
        <p:nvPicPr>
          <p:cNvPr id="48" name="Picture Placeholder 1" descr="imp2"/>
          <p:cNvPicPr/>
          <p:nvPr/>
        </p:nvPicPr>
        <p:blipFill>
          <a:blip r:embed="rId2"/>
          <a:stretch/>
        </p:blipFill>
        <p:spPr>
          <a:xfrm>
            <a:off x="2575440" y="1089720"/>
            <a:ext cx="6171840" cy="1865880"/>
          </a:xfrm>
          <a:prstGeom prst="rect">
            <a:avLst/>
          </a:prstGeom>
          <a:ln w="0">
            <a:noFill/>
          </a:ln>
        </p:spPr>
      </p:pic>
      <p:pic>
        <p:nvPicPr>
          <p:cNvPr id="49" name="Picture 5" descr="imp3"/>
          <p:cNvPicPr/>
          <p:nvPr/>
        </p:nvPicPr>
        <p:blipFill>
          <a:blip r:embed="rId3"/>
          <a:stretch/>
        </p:blipFill>
        <p:spPr>
          <a:xfrm>
            <a:off x="1607760" y="3100680"/>
            <a:ext cx="8652240" cy="2491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95080" y="194760"/>
            <a:ext cx="7700400" cy="770040"/>
          </a:xfrm>
          <a:prstGeom prst="rect">
            <a:avLst/>
          </a:prstGeom>
          <a:noFill/>
          <a:ln w="0">
            <a:noFill/>
          </a:ln>
        </p:spPr>
        <p:txBody>
          <a:bodyPr lIns="91440" rIns="91440" tIns="45720" bIns="45720" anchor="b">
            <a:normAutofit fontScale="92500" lnSpcReduction="19999"/>
          </a:bodyPr>
          <a:p>
            <a:pPr indent="0">
              <a:lnSpc>
                <a:spcPct val="90000"/>
              </a:lnSpc>
              <a:buNone/>
            </a:pPr>
            <a:r>
              <a:rPr b="0" lang="en-US" sz="3200" strike="noStrike" u="none">
                <a:solidFill>
                  <a:schemeClr val="dk1"/>
                </a:solidFill>
                <a:uFillTx/>
                <a:latin typeface="Arial"/>
                <a:ea typeface="Arial"/>
              </a:rPr>
              <a:t>Affine </a:t>
            </a:r>
            <a:r>
              <a:rPr b="0" lang="en-US" sz="3200" strike="noStrike" u="none">
                <a:solidFill>
                  <a:schemeClr val="dk1"/>
                </a:solidFill>
                <a:uFillTx/>
                <a:latin typeface="Arial"/>
                <a:ea typeface="Arial"/>
              </a:rPr>
              <a:t>Transf</a:t>
            </a:r>
            <a:r>
              <a:rPr b="0" lang="en-US" sz="3200" strike="noStrike" u="none">
                <a:solidFill>
                  <a:schemeClr val="dk1"/>
                </a:solidFill>
                <a:uFillTx/>
                <a:latin typeface="Arial"/>
                <a:ea typeface="Arial"/>
              </a:rPr>
              <a:t>ormati</a:t>
            </a:r>
            <a:r>
              <a:rPr b="0" lang="en-US" sz="3200" strike="noStrike" u="none">
                <a:solidFill>
                  <a:schemeClr val="dk1"/>
                </a:solidFill>
                <a:uFillTx/>
                <a:latin typeface="Arial"/>
                <a:ea typeface="Arial"/>
              </a:rPr>
              <a:t>on </a:t>
            </a:r>
            <a:r>
              <a:rPr b="0" lang="en-US" sz="3200" strike="noStrike" u="none">
                <a:solidFill>
                  <a:schemeClr val="dk1"/>
                </a:solidFill>
                <a:uFillTx/>
                <a:latin typeface="Arial"/>
                <a:ea typeface="Arial"/>
              </a:rPr>
              <a:t>With </a:t>
            </a:r>
            <a:r>
              <a:rPr b="0" lang="en-US" sz="3200" strike="noStrike" u="none">
                <a:solidFill>
                  <a:schemeClr val="dk1"/>
                </a:solidFill>
                <a:uFillTx/>
                <a:latin typeface="Arial"/>
                <a:ea typeface="Arial"/>
              </a:rPr>
              <a:t>User </a:t>
            </a:r>
            <a:r>
              <a:rPr b="0" lang="en-US" sz="3200" strike="noStrike" u="none">
                <a:solidFill>
                  <a:schemeClr val="dk1"/>
                </a:solidFill>
                <a:uFillTx/>
                <a:latin typeface="Arial"/>
                <a:ea typeface="Arial"/>
              </a:rPr>
              <a:t>define</a:t>
            </a:r>
            <a:r>
              <a:rPr b="0" lang="en-US" sz="3200" strike="noStrike" u="none">
                <a:solidFill>
                  <a:schemeClr val="dk1"/>
                </a:solidFill>
                <a:uFillTx/>
                <a:latin typeface="Arial"/>
                <a:ea typeface="Arial"/>
              </a:rPr>
              <a:t>d </a:t>
            </a:r>
            <a:r>
              <a:rPr b="0" lang="en-US" sz="3200" strike="noStrike" u="none">
                <a:solidFill>
                  <a:schemeClr val="dk1"/>
                </a:solidFill>
                <a:uFillTx/>
                <a:latin typeface="Arial"/>
                <a:ea typeface="Arial"/>
              </a:rPr>
              <a:t>Functi</a:t>
            </a:r>
            <a:r>
              <a:rPr b="0" lang="en-US" sz="3200" strike="noStrike" u="none">
                <a:solidFill>
                  <a:schemeClr val="dk1"/>
                </a:solidFill>
                <a:uFillTx/>
                <a:latin typeface="Arial"/>
                <a:ea typeface="Arial"/>
              </a:rPr>
              <a:t>on</a:t>
            </a:r>
            <a:endParaRPr b="0" lang="en-US" sz="3200" strike="noStrike" u="none">
              <a:solidFill>
                <a:srgbClr val="000000"/>
              </a:solidFill>
              <a:uFillTx/>
              <a:latin typeface="Arial"/>
            </a:endParaRPr>
          </a:p>
        </p:txBody>
      </p:sp>
      <p:sp>
        <p:nvSpPr>
          <p:cNvPr id="51" name="PlaceHolder 2"/>
          <p:cNvSpPr>
            <a:spLocks noGrp="1"/>
          </p:cNvSpPr>
          <p:nvPr>
            <p:ph/>
          </p:nvPr>
        </p:nvSpPr>
        <p:spPr>
          <a:xfrm>
            <a:off x="0" y="1365120"/>
            <a:ext cx="11917440" cy="4503600"/>
          </a:xfrm>
          <a:prstGeom prst="rect">
            <a:avLst/>
          </a:prstGeom>
          <a:noFill/>
          <a:ln w="0">
            <a:noFill/>
          </a:ln>
        </p:spPr>
        <p:txBody>
          <a:bodyPr lIns="91440" rIns="91440" tIns="45720" bIns="45720" anchor="t">
            <a:normAutofit lnSpcReduction="9999"/>
          </a:bodyPr>
          <a:p>
            <a:pPr marL="514440" indent="-285840">
              <a:lnSpc>
                <a:spcPct val="90000"/>
              </a:lnSpc>
              <a:spcBef>
                <a:spcPts val="1001"/>
              </a:spcBef>
              <a:buClr>
                <a:srgbClr val="ffffff"/>
              </a:buClr>
              <a:buFont typeface="Wingdings" charset="2"/>
              <a:buChar char=""/>
            </a:pPr>
            <a:r>
              <a:rPr b="1" lang="en-US" sz="2000" strike="noStrike" u="none">
                <a:solidFill>
                  <a:schemeClr val="lt2"/>
                </a:solidFill>
                <a:uFillTx/>
                <a:latin typeface="Arial"/>
                <a:ea typeface="Arial"/>
              </a:rPr>
              <a:t>Translation</a:t>
            </a:r>
            <a:endParaRPr b="0" lang="en-US" sz="2000" strike="noStrike" u="none">
              <a:solidFill>
                <a:srgbClr val="000000"/>
              </a:solidFill>
              <a:uFillTx/>
              <a:latin typeface="Arial"/>
            </a:endParaRPr>
          </a:p>
          <a:p>
            <a:pPr marL="228600" indent="457200">
              <a:lnSpc>
                <a:spcPct val="90000"/>
              </a:lnSpc>
              <a:spcBef>
                <a:spcPts val="1001"/>
              </a:spcBef>
              <a:buNone/>
              <a:tabLst>
                <a:tab algn="l" pos="0"/>
              </a:tabLst>
            </a:pPr>
            <a:r>
              <a:rPr b="0" lang="en-US" sz="1800" strike="noStrike" u="none">
                <a:solidFill>
                  <a:schemeClr val="lt2"/>
                </a:solidFill>
                <a:uFillTx/>
                <a:latin typeface="Arial"/>
                <a:ea typeface="Arial"/>
              </a:rPr>
              <a:t>The calculation of the translation values tx and ty is essential for centering the rotated image within its dimensions.  </a:t>
            </a:r>
            <a:r>
              <a:rPr b="0" lang="en-US" sz="1600" strike="noStrike" u="none">
                <a:solidFill>
                  <a:schemeClr val="lt2"/>
                </a:solidFill>
                <a:uFillTx/>
                <a:latin typeface="Arial"/>
                <a:ea typeface="Arial"/>
              </a:rPr>
              <a:t> </a:t>
            </a:r>
            <a:endParaRPr b="0" lang="en-US" sz="1600" strike="noStrike" u="none">
              <a:solidFill>
                <a:srgbClr val="000000"/>
              </a:solidFill>
              <a:uFillTx/>
              <a:latin typeface="Arial"/>
            </a:endParaRPr>
          </a:p>
          <a:p>
            <a:pPr marL="228600" indent="457200">
              <a:lnSpc>
                <a:spcPct val="90000"/>
              </a:lnSpc>
              <a:spcBef>
                <a:spcPts val="1001"/>
              </a:spcBef>
              <a:buNone/>
              <a:tabLst>
                <a:tab algn="l" pos="0"/>
              </a:tabLst>
            </a:pPr>
            <a:r>
              <a:rPr b="1" lang="en-US" sz="1800" strike="noStrike" u="none">
                <a:solidFill>
                  <a:schemeClr val="lt2"/>
                </a:solidFill>
                <a:uFillTx/>
                <a:latin typeface="Arial"/>
                <a:ea typeface="Arial"/>
              </a:rPr>
              <a:t> </a:t>
            </a:r>
            <a:r>
              <a:rPr b="1" lang="en-US" sz="1800" strike="noStrike" u="none">
                <a:solidFill>
                  <a:schemeClr val="lt2"/>
                </a:solidFill>
                <a:uFillTx/>
                <a:latin typeface="Arial"/>
                <a:ea typeface="Arial"/>
              </a:rPr>
              <a:t>float tx = cx - (cx * static_cast&lt;float&gt;(cos(radians)) - cy * static_cast&lt;float&gt;(sin(radians))) ;</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cx and cy are the coordinates of the center of the original image.</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cosTheta and sinTheta are the cosine and sine of the rotation angle in radians, respectively.</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The expressions calculate the new coordinates of the center  after rotation.</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2000" strike="noStrike" u="none">
                <a:solidFill>
                  <a:schemeClr val="lt2"/>
                </a:solidFill>
                <a:uFillTx/>
                <a:latin typeface="Arial"/>
                <a:ea typeface="Arial"/>
              </a:rPr>
              <a:t>Affine-transformation matrix</a:t>
            </a:r>
            <a:endParaRPr b="0" lang="en-US" sz="2000" strike="noStrike" u="none">
              <a:solidFill>
                <a:srgbClr val="000000"/>
              </a:solidFill>
              <a:uFillTx/>
              <a:latin typeface="Arial"/>
            </a:endParaRPr>
          </a:p>
          <a:p>
            <a:pPr marL="228600" indent="457200">
              <a:lnSpc>
                <a:spcPct val="90000"/>
              </a:lnSpc>
              <a:spcBef>
                <a:spcPts val="1001"/>
              </a:spcBef>
              <a:buNone/>
              <a:tabLst>
                <a:tab algn="l" pos="0"/>
              </a:tabLst>
            </a:pPr>
            <a:r>
              <a:rPr b="0" lang="en-US" sz="1800" strike="noStrike" u="none">
                <a:solidFill>
                  <a:schemeClr val="lt2"/>
                </a:solidFill>
                <a:uFillTx/>
                <a:latin typeface="Arial"/>
                <a:ea typeface="Arial"/>
              </a:rPr>
              <a:t>Defining the transformation matrix and using the translated values i.e tx and ty.</a:t>
            </a:r>
            <a:endParaRPr b="0" lang="en-US" sz="1800" strike="noStrike" u="none">
              <a:solidFill>
                <a:srgbClr val="000000"/>
              </a:solidFill>
              <a:uFillTx/>
              <a:latin typeface="Arial"/>
            </a:endParaRPr>
          </a:p>
          <a:p>
            <a:pPr marL="228600" indent="457200">
              <a:lnSpc>
                <a:spcPct val="90000"/>
              </a:lnSpc>
              <a:spcBef>
                <a:spcPts val="1001"/>
              </a:spcBef>
              <a:buNone/>
              <a:tabLst>
                <a:tab algn="l" pos="0"/>
              </a:tabLst>
            </a:pPr>
            <a:r>
              <a:rPr b="0" lang="en-US" sz="1800" strike="noStrike" u="none">
                <a:solidFill>
                  <a:schemeClr val="lt2"/>
                </a:solidFill>
                <a:uFillTx/>
                <a:latin typeface="Arial"/>
                <a:ea typeface="Arial"/>
              </a:rPr>
              <a:t>matrix = {cosTheta, -sinTheta, tx},</a:t>
            </a:r>
            <a:endParaRPr b="0" lang="en-US" sz="1800" strike="noStrike" u="none">
              <a:solidFill>
                <a:srgbClr val="000000"/>
              </a:solidFill>
              <a:uFillTx/>
              <a:latin typeface="Arial"/>
            </a:endParaRPr>
          </a:p>
          <a:p>
            <a:pPr marL="228600" indent="457200">
              <a:lnSpc>
                <a:spcPct val="90000"/>
              </a:lnSpc>
              <a:spcBef>
                <a:spcPts val="1001"/>
              </a:spcBef>
              <a:buNone/>
              <a:tabLst>
                <a:tab algn="l" pos="0"/>
              </a:tabLst>
            </a:pPr>
            <a:r>
              <a:rPr b="0" lang="en-US" sz="1800" strike="noStrike" u="none">
                <a:solidFill>
                  <a:schemeClr val="lt2"/>
                </a:solidFill>
                <a:uFillTx/>
                <a:latin typeface="Arial"/>
                <a:ea typeface="Arial"/>
              </a:rPr>
              <a:t>                </a:t>
            </a:r>
            <a:r>
              <a:rPr b="0" lang="en-US" sz="1800" strike="noStrike" u="none">
                <a:solidFill>
                  <a:schemeClr val="lt2"/>
                </a:solidFill>
                <a:uFillTx/>
                <a:latin typeface="Arial"/>
                <a:ea typeface="Arial"/>
              </a:rPr>
              <a:t>{sinTheta, cosTheta, ty}</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2000" strike="noStrike" u="none">
                <a:solidFill>
                  <a:schemeClr val="lt2"/>
                </a:solidFill>
                <a:uFillTx/>
                <a:latin typeface="Arial"/>
                <a:ea typeface="Arial"/>
              </a:rPr>
              <a:t>Getting the new value of x and y</a:t>
            </a:r>
            <a:endParaRPr b="0" lang="en-US" sz="2000" strike="noStrike" u="none">
              <a:solidFill>
                <a:srgbClr val="000000"/>
              </a:solidFill>
              <a:uFillTx/>
              <a:latin typeface="Arial"/>
            </a:endParaRPr>
          </a:p>
          <a:p>
            <a:pPr marL="228600" indent="457200">
              <a:lnSpc>
                <a:spcPct val="90000"/>
              </a:lnSpc>
              <a:spcBef>
                <a:spcPts val="1001"/>
              </a:spcBef>
              <a:buNone/>
              <a:tabLst>
                <a:tab algn="l" pos="0"/>
              </a:tabLst>
            </a:pPr>
            <a:r>
              <a:rPr b="1" lang="en-US" sz="1800" strike="noStrike" u="none">
                <a:solidFill>
                  <a:schemeClr val="lt2"/>
                </a:solidFill>
                <a:uFillTx/>
                <a:latin typeface="Arial"/>
                <a:ea typeface="Arial"/>
              </a:rPr>
              <a:t>Expr newX = matrix[0][0] * cast&lt;float&gt;(x) + matrix[0][1] * cast&lt;float&gt;(y) + matrix[0][2];</a:t>
            </a:r>
            <a:endParaRPr b="0" lang="en-US" sz="1800" strike="noStrike" u="none">
              <a:solidFill>
                <a:srgbClr val="000000"/>
              </a:solidFill>
              <a:uFillTx/>
              <a:latin typeface="Arial"/>
            </a:endParaRPr>
          </a:p>
          <a:p>
            <a:pPr marL="228600" indent="457200">
              <a:lnSpc>
                <a:spcPct val="90000"/>
              </a:lnSpc>
              <a:spcBef>
                <a:spcPts val="1001"/>
              </a:spcBef>
              <a:buNone/>
              <a:tabLst>
                <a:tab algn="l" pos="0"/>
              </a:tabLst>
            </a:pPr>
            <a:r>
              <a:rPr b="1" lang="en-US" sz="1800" strike="noStrike" u="none">
                <a:solidFill>
                  <a:schemeClr val="lt2"/>
                </a:solidFill>
                <a:uFillTx/>
                <a:latin typeface="Arial"/>
                <a:ea typeface="Arial"/>
              </a:rPr>
              <a:t> </a:t>
            </a:r>
            <a:r>
              <a:rPr b="1" lang="en-US" sz="1800" strike="noStrike" u="none">
                <a:solidFill>
                  <a:schemeClr val="lt2"/>
                </a:solidFill>
                <a:uFillTx/>
                <a:latin typeface="Arial"/>
                <a:ea typeface="Arial"/>
              </a:rPr>
              <a:t>Expr newY = matrix[1][0] * cast&lt;float&gt;(x) + matrix[1][1] * cast&lt;float&gt;(y) + matrix[1][2];    </a:t>
            </a:r>
            <a:endParaRPr b="0" lang="en-US" sz="1800" strike="noStrike" u="none">
              <a:solidFill>
                <a:srgbClr val="000000"/>
              </a:solidFill>
              <a:uFillTx/>
              <a:latin typeface="Arial"/>
            </a:endParaRPr>
          </a:p>
        </p:txBody>
      </p:sp>
      <p:pic>
        <p:nvPicPr>
          <p:cNvPr id="52" name="Picture 4" descr="matrix"/>
          <p:cNvPicPr/>
          <p:nvPr/>
        </p:nvPicPr>
        <p:blipFill>
          <a:blip r:embed="rId1"/>
          <a:stretch/>
        </p:blipFill>
        <p:spPr>
          <a:xfrm>
            <a:off x="9016920" y="3617280"/>
            <a:ext cx="2900160" cy="1418760"/>
          </a:xfrm>
          <a:prstGeom prst="rect">
            <a:avLst/>
          </a:prstGeom>
          <a:ln w="0">
            <a:noFill/>
          </a:ln>
        </p:spPr>
      </p:pic>
      <p:pic>
        <p:nvPicPr>
          <p:cNvPr id="53"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54"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May 31, 2024</a:t>
            </a:r>
            <a:endParaRPr b="0" lang="en-US" sz="2660" strike="noStrike" u="none">
              <a:solidFill>
                <a:srgbClr val="ffffff"/>
              </a:solidFill>
              <a:uFillTx/>
              <a:latin typeface="Arial"/>
            </a:endParaRPr>
          </a:p>
        </p:txBody>
      </p:sp>
      <p:sp>
        <p:nvSpPr>
          <p:cNvPr id="55"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Picture Placeholder 8" descr="bilinear_interpolation"/>
          <p:cNvPicPr/>
          <p:nvPr/>
        </p:nvPicPr>
        <p:blipFill>
          <a:blip r:embed="rId1"/>
          <a:stretch/>
        </p:blipFill>
        <p:spPr>
          <a:xfrm>
            <a:off x="6927840" y="1142280"/>
            <a:ext cx="4811760" cy="1646280"/>
          </a:xfrm>
          <a:prstGeom prst="rect">
            <a:avLst/>
          </a:prstGeom>
          <a:ln w="0">
            <a:noFill/>
          </a:ln>
        </p:spPr>
      </p:pic>
      <p:sp>
        <p:nvSpPr>
          <p:cNvPr id="57" name="PlaceHolder 1"/>
          <p:cNvSpPr>
            <a:spLocks noGrp="1"/>
          </p:cNvSpPr>
          <p:nvPr>
            <p:ph/>
          </p:nvPr>
        </p:nvSpPr>
        <p:spPr>
          <a:xfrm>
            <a:off x="-720" y="1092960"/>
            <a:ext cx="12098160" cy="5546880"/>
          </a:xfrm>
          <a:prstGeom prst="rect">
            <a:avLst/>
          </a:prstGeom>
          <a:noFill/>
          <a:ln w="0">
            <a:noFill/>
          </a:ln>
        </p:spPr>
        <p:txBody>
          <a:bodyPr lIns="91440" rIns="91440" tIns="45720" bIns="45720" anchor="t">
            <a:normAutofit/>
          </a:bodyPr>
          <a:p>
            <a:pPr marL="514440" indent="-285840">
              <a:lnSpc>
                <a:spcPct val="90000"/>
              </a:lnSpc>
              <a:spcBef>
                <a:spcPts val="1001"/>
              </a:spcBef>
              <a:buClr>
                <a:srgbClr val="ffffff"/>
              </a:buClr>
              <a:buFont typeface="Wingdings" charset="2"/>
              <a:buChar char=""/>
            </a:pPr>
            <a:r>
              <a:rPr b="1" lang="en-US" sz="2000" strike="noStrike" u="none">
                <a:solidFill>
                  <a:schemeClr val="lt2"/>
                </a:solidFill>
                <a:uFillTx/>
                <a:latin typeface="Arial"/>
                <a:ea typeface="Arial"/>
              </a:rPr>
              <a:t>Bilinear Interpolation</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lt2"/>
                </a:solidFill>
                <a:uFillTx/>
                <a:latin typeface="Arial"/>
                <a:ea typeface="Arial"/>
              </a:rPr>
              <a:t>clamp(value, min, max): This function ensures </a:t>
            </a:r>
            <a:endParaRPr b="0" lang="en-US" sz="1800" strike="noStrike" u="none">
              <a:solidFill>
                <a:srgbClr val="000000"/>
              </a:solidFill>
              <a:uFillTx/>
              <a:latin typeface="Arial"/>
            </a:endParaRPr>
          </a:p>
          <a:p>
            <a:pPr marL="685800" indent="0">
              <a:lnSpc>
                <a:spcPct val="90000"/>
              </a:lnSpc>
              <a:spcBef>
                <a:spcPts val="499"/>
              </a:spcBef>
              <a:buNone/>
              <a:tabLst>
                <a:tab algn="l" pos="0"/>
              </a:tabLst>
            </a:pPr>
            <a:r>
              <a:rPr b="0" lang="en-US" sz="1800" strike="noStrike" u="none">
                <a:solidFill>
                  <a:schemeClr val="lt2"/>
                </a:solidFill>
                <a:uFillTx/>
                <a:latin typeface="Arial"/>
                <a:ea typeface="Arial"/>
              </a:rPr>
              <a:t>    </a:t>
            </a:r>
            <a:r>
              <a:rPr b="0" lang="en-US" sz="1800" strike="noStrike" u="none">
                <a:solidFill>
                  <a:schemeClr val="lt2"/>
                </a:solidFill>
                <a:uFillTx/>
                <a:latin typeface="Arial"/>
                <a:ea typeface="Arial"/>
              </a:rPr>
              <a:t>that the resulting coordinates are within the </a:t>
            </a:r>
            <a:endParaRPr b="0" lang="en-US" sz="1800" strike="noStrike" u="none">
              <a:solidFill>
                <a:srgbClr val="000000"/>
              </a:solidFill>
              <a:uFillTx/>
              <a:latin typeface="Arial"/>
            </a:endParaRPr>
          </a:p>
          <a:p>
            <a:pPr marL="685800" indent="0">
              <a:lnSpc>
                <a:spcPct val="90000"/>
              </a:lnSpc>
              <a:spcBef>
                <a:spcPts val="499"/>
              </a:spcBef>
              <a:buNone/>
              <a:tabLst>
                <a:tab algn="l" pos="0"/>
              </a:tabLst>
            </a:pPr>
            <a:r>
              <a:rPr b="0" lang="en-US" sz="1800" strike="noStrike" u="none">
                <a:solidFill>
                  <a:schemeClr val="lt2"/>
                </a:solidFill>
                <a:uFillTx/>
                <a:latin typeface="Arial"/>
                <a:ea typeface="Arial"/>
              </a:rPr>
              <a:t>    </a:t>
            </a:r>
            <a:r>
              <a:rPr b="0" lang="en-US" sz="1800" strike="noStrike" u="none">
                <a:solidFill>
                  <a:schemeClr val="lt2"/>
                </a:solidFill>
                <a:uFillTx/>
                <a:latin typeface="Arial"/>
                <a:ea typeface="Arial"/>
              </a:rPr>
              <a:t>valid range of the image dimensions.</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Used clamp function in x0 and y0.</a:t>
            </a:r>
            <a:endParaRPr b="0" lang="en-US" sz="1800" strike="noStrike" u="none">
              <a:solidFill>
                <a:srgbClr val="000000"/>
              </a:solidFill>
              <a:uFillTx/>
              <a:latin typeface="Arial"/>
            </a:endParaRPr>
          </a:p>
          <a:p>
            <a:pPr indent="0">
              <a:lnSpc>
                <a:spcPct val="90000"/>
              </a:lnSpc>
              <a:spcBef>
                <a:spcPts val="499"/>
              </a:spcBef>
              <a:buNone/>
              <a:tabLst>
                <a:tab algn="l" pos="0"/>
              </a:tabLst>
            </a:pP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 </a:t>
            </a:r>
            <a:r>
              <a:rPr b="0" lang="en-US" sz="1800" strike="noStrike" u="none">
                <a:solidFill>
                  <a:schemeClr val="lt2"/>
                </a:solidFill>
                <a:uFillTx/>
                <a:latin typeface="Arial"/>
                <a:ea typeface="Arial"/>
              </a:rPr>
              <a:t>Used the input function to get the pixels values, it took 3 arguments x, y and the channel index.And clamped it.</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0" lang="en-US" sz="1800" strike="noStrike" u="none">
                <a:solidFill>
                  <a:schemeClr val="lt2"/>
                </a:solidFill>
                <a:uFillTx/>
                <a:latin typeface="Arial"/>
                <a:ea typeface="Arial"/>
              </a:rPr>
              <a:t> </a:t>
            </a:r>
            <a:r>
              <a:rPr b="0" lang="en-US" sz="1800" strike="noStrike" u="none">
                <a:solidFill>
                  <a:schemeClr val="lt2"/>
                </a:solidFill>
                <a:uFillTx/>
                <a:latin typeface="Arial"/>
                <a:ea typeface="Arial"/>
              </a:rPr>
              <a:t>input(x0, y0, c): Top-left corner of the grid cell.</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0" lang="en-US" sz="1800" strike="noStrike" u="none">
                <a:solidFill>
                  <a:schemeClr val="lt2"/>
                </a:solidFill>
                <a:uFillTx/>
                <a:latin typeface="Arial"/>
                <a:ea typeface="Arial"/>
              </a:rPr>
              <a:t>input(x1, y0, c): Top-right corner of the grid cell.</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0" lang="en-US" sz="1800" strike="noStrike" u="none">
                <a:solidFill>
                  <a:schemeClr val="lt2"/>
                </a:solidFill>
                <a:uFillTx/>
                <a:latin typeface="Arial"/>
                <a:ea typeface="Arial"/>
              </a:rPr>
              <a:t>input(x0, y1, c): Bottom-left corner of the grid cell.</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0" lang="en-US" sz="1800" strike="noStrike" u="none">
                <a:solidFill>
                  <a:schemeClr val="lt2"/>
                </a:solidFill>
                <a:uFillTx/>
                <a:latin typeface="Arial"/>
                <a:ea typeface="Arial"/>
              </a:rPr>
              <a:t>input(x1, y1, c): Bottom-right corner of the grid cell.</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lt2"/>
                </a:solidFill>
                <a:uFillTx/>
                <a:latin typeface="Arial"/>
                <a:ea typeface="Arial"/>
              </a:rPr>
              <a:t>Lastly used the select () to black the out of bounded part.</a:t>
            </a:r>
            <a:endParaRPr b="0" lang="en-US" sz="1800" strike="noStrike" u="none">
              <a:solidFill>
                <a:srgbClr val="000000"/>
              </a:solidFill>
              <a:uFillTx/>
              <a:latin typeface="Arial"/>
            </a:endParaRPr>
          </a:p>
          <a:p>
            <a:pPr marL="685800" indent="0">
              <a:lnSpc>
                <a:spcPct val="90000"/>
              </a:lnSpc>
              <a:spcBef>
                <a:spcPts val="499"/>
              </a:spcBef>
              <a:buNone/>
              <a:tabLst>
                <a:tab algn="l" pos="0"/>
              </a:tabLst>
            </a:pPr>
            <a:endParaRPr b="0" lang="en-US" sz="1800" strike="noStrike" u="none">
              <a:solidFill>
                <a:srgbClr val="000000"/>
              </a:solidFill>
              <a:uFillTx/>
              <a:latin typeface="Arial"/>
            </a:endParaRPr>
          </a:p>
          <a:p>
            <a:pPr marL="685800" indent="0">
              <a:lnSpc>
                <a:spcPct val="90000"/>
              </a:lnSpc>
              <a:spcBef>
                <a:spcPts val="499"/>
              </a:spcBef>
              <a:buNone/>
              <a:tabLst>
                <a:tab algn="l" pos="0"/>
              </a:tabLst>
            </a:pPr>
            <a:endParaRPr b="0" lang="en-US" sz="1800" strike="noStrike" u="none">
              <a:solidFill>
                <a:srgbClr val="000000"/>
              </a:solidFill>
              <a:uFillTx/>
              <a:latin typeface="Arial"/>
            </a:endParaRPr>
          </a:p>
        </p:txBody>
      </p:sp>
      <p:sp>
        <p:nvSpPr>
          <p:cNvPr id="58" name="Title 1"/>
          <p:cNvSpPr/>
          <p:nvPr/>
        </p:nvSpPr>
        <p:spPr>
          <a:xfrm>
            <a:off x="507960" y="-92160"/>
            <a:ext cx="7700400" cy="770040"/>
          </a:xfrm>
          <a:prstGeom prst="rect">
            <a:avLst/>
          </a:prstGeom>
          <a:noFill/>
          <a:ln w="0">
            <a:noFill/>
          </a:ln>
        </p:spPr>
        <p:style>
          <a:lnRef idx="0"/>
          <a:fillRef idx="0"/>
          <a:effectRef idx="0"/>
          <a:fontRef idx="minor"/>
        </p:style>
        <p:txBody>
          <a:bodyPr anchor="b">
            <a:normAutofit fontScale="92500" lnSpcReduction="19999"/>
          </a:bodyPr>
          <a:p>
            <a:pPr>
              <a:lnSpc>
                <a:spcPct val="90000"/>
              </a:lnSpc>
            </a:pPr>
            <a:r>
              <a:rPr b="0" lang="en-US" sz="3200" strike="noStrike" u="none">
                <a:solidFill>
                  <a:schemeClr val="dk1"/>
                </a:solidFill>
                <a:uFillTx/>
                <a:latin typeface="Calibri"/>
                <a:ea typeface="Calibri"/>
              </a:rPr>
              <a:t>Affine Transformation With User defined Function</a:t>
            </a:r>
            <a:endParaRPr b="0" lang="en-US" sz="3200" strike="noStrike" u="none">
              <a:solidFill>
                <a:srgbClr val="ffffff"/>
              </a:solidFill>
              <a:uFillTx/>
              <a:latin typeface="Arial"/>
            </a:endParaRPr>
          </a:p>
        </p:txBody>
      </p:sp>
      <p:pic>
        <p:nvPicPr>
          <p:cNvPr id="59" name="Google Shape;214;p6" descr=""/>
          <p:cNvPicPr/>
          <p:nvPr/>
        </p:nvPicPr>
        <p:blipFill>
          <a:blip r:embed="rId2"/>
          <a:srcRect l="4529" t="20257" r="4160" b="26835"/>
          <a:stretch/>
        </p:blipFill>
        <p:spPr>
          <a:xfrm>
            <a:off x="10942200" y="105120"/>
            <a:ext cx="1249560" cy="4744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Google Shape;216;p6"/>
          <p:cNvSpPr/>
          <p:nvPr/>
        </p:nvSpPr>
        <p:spPr>
          <a:xfrm>
            <a:off x="451800" y="1593000"/>
            <a:ext cx="5644080" cy="5056920"/>
          </a:xfrm>
          <a:prstGeom prst="rect">
            <a:avLst/>
          </a:prstGeom>
          <a:noFill/>
          <a:ln w="0">
            <a:noFill/>
          </a:ln>
        </p:spPr>
        <p:style>
          <a:lnRef idx="0"/>
          <a:fillRef idx="0"/>
          <a:effectRef idx="0"/>
          <a:fontRef idx="minor"/>
        </p:style>
        <p:txBody>
          <a:bodyPr tIns="91440" bIns="91440" anchor="t">
            <a:spAutoFit/>
          </a:bodyPr>
          <a:p>
            <a:pPr>
              <a:lnSpc>
                <a:spcPct val="100000"/>
              </a:lnSpc>
            </a:pPr>
            <a:r>
              <a:rPr b="1" lang="en-IN" sz="1600" strike="noStrike" u="none">
                <a:solidFill>
                  <a:schemeClr val="dk1"/>
                </a:solidFill>
                <a:uFillTx/>
                <a:latin typeface="Arial"/>
                <a:ea typeface="Arial"/>
              </a:rPr>
              <a:t>User defined Functions </a:t>
            </a:r>
            <a:r>
              <a:rPr b="0" lang="en-IN" sz="1600" strike="noStrike" u="none">
                <a:solidFill>
                  <a:schemeClr val="dk1"/>
                </a:solidFill>
                <a:uFillTx/>
                <a:latin typeface="Arial"/>
                <a:ea typeface="Arial"/>
              </a:rPr>
              <a:t>(affine_transform): </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Parameters:-  </a:t>
            </a: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(org_</a:t>
            </a:r>
            <a:r>
              <a:rPr b="0" lang="en-US" sz="1600" strike="noStrike" u="none">
                <a:solidFill>
                  <a:schemeClr val="dk1"/>
                </a:solidFill>
                <a:uFillTx/>
                <a:latin typeface="Arial"/>
                <a:ea typeface="Arial"/>
              </a:rPr>
              <a:t>img, rotated_img, rotation_mat</a:t>
            </a:r>
            <a:r>
              <a:rPr b="0" lang="en-IN" sz="1600" strike="noStrike" u="none">
                <a:solidFill>
                  <a:schemeClr val="dk1"/>
                </a:solidFill>
                <a:uFillTx/>
                <a:latin typeface="Arial"/>
                <a:ea typeface="Arial"/>
              </a:rPr>
              <a:t>)</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Sample Output:</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Original dimensions: 256×256 pixels</a:t>
            </a: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Image dimensions: 256×256 pixels</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pic>
        <p:nvPicPr>
          <p:cNvPr id="61"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62" name="Google Shape;212;p6"/>
          <p:cNvSpPr/>
          <p:nvPr/>
        </p:nvSpPr>
        <p:spPr>
          <a:xfrm>
            <a:off x="381960" y="-4716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Comparison between user defined function and inbuild function</a:t>
            </a:r>
            <a:endParaRPr b="0" lang="en-US" sz="3200" strike="noStrike" u="none">
              <a:solidFill>
                <a:srgbClr val="ffffff"/>
              </a:solidFill>
              <a:uFillTx/>
              <a:latin typeface="Arial"/>
            </a:endParaRPr>
          </a:p>
        </p:txBody>
      </p:sp>
      <p:sp>
        <p:nvSpPr>
          <p:cNvPr id="63" name="Google Shape;216;p6"/>
          <p:cNvSpPr/>
          <p:nvPr/>
        </p:nvSpPr>
        <p:spPr>
          <a:xfrm>
            <a:off x="6095880" y="1593000"/>
            <a:ext cx="5644080" cy="5056920"/>
          </a:xfrm>
          <a:prstGeom prst="rect">
            <a:avLst/>
          </a:prstGeom>
          <a:noFill/>
          <a:ln w="0">
            <a:noFill/>
          </a:ln>
        </p:spPr>
        <p:style>
          <a:lnRef idx="0"/>
          <a:fillRef idx="0"/>
          <a:effectRef idx="0"/>
          <a:fontRef idx="minor"/>
        </p:style>
        <p:txBody>
          <a:bodyPr tIns="91440" bIns="91440" anchor="t">
            <a:spAutoFit/>
          </a:bodyPr>
          <a:p>
            <a:pPr>
              <a:lnSpc>
                <a:spcPct val="100000"/>
              </a:lnSpc>
            </a:pPr>
            <a:r>
              <a:rPr b="1" lang="en-IN" sz="1600" strike="noStrike" u="none">
                <a:solidFill>
                  <a:schemeClr val="dk1"/>
                </a:solidFill>
                <a:uFillTx/>
                <a:latin typeface="Arial"/>
                <a:ea typeface="Arial"/>
              </a:rPr>
              <a:t>In-built Functions </a:t>
            </a:r>
            <a:r>
              <a:rPr b="0" lang="en-IN" sz="1600" strike="noStrike" u="none">
                <a:solidFill>
                  <a:schemeClr val="dk1"/>
                </a:solidFill>
                <a:uFillTx/>
                <a:latin typeface="Arial"/>
                <a:ea typeface="Arial"/>
              </a:rPr>
              <a:t>(warpAffine): </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Parameters:- </a:t>
            </a: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(org_</a:t>
            </a:r>
            <a:r>
              <a:rPr b="0" lang="en-US" sz="1600" strike="noStrike" u="none">
                <a:solidFill>
                  <a:schemeClr val="dk1"/>
                </a:solidFill>
                <a:uFillTx/>
                <a:latin typeface="Arial"/>
                <a:ea typeface="Arial"/>
              </a:rPr>
              <a:t>img, rotated_img, rotation_mat, bbox.size()</a:t>
            </a:r>
            <a:r>
              <a:rPr b="0" lang="en-IN" sz="1600" strike="noStrike" u="none">
                <a:solidFill>
                  <a:schemeClr val="dk1"/>
                </a:solidFill>
                <a:uFillTx/>
                <a:latin typeface="Arial"/>
                <a:ea typeface="Arial"/>
              </a:rPr>
              <a:t>)</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Sample Output: </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Original dimensions: 256×256 pixels</a:t>
            </a: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Image dimensions: 362×362 pixels</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pic>
        <p:nvPicPr>
          <p:cNvPr id="64" name="Picture 2" descr=""/>
          <p:cNvPicPr/>
          <p:nvPr/>
        </p:nvPicPr>
        <p:blipFill>
          <a:blip r:embed="rId2"/>
          <a:stretch/>
        </p:blipFill>
        <p:spPr>
          <a:xfrm>
            <a:off x="2250000" y="2928240"/>
            <a:ext cx="2437920" cy="2437920"/>
          </a:xfrm>
          <a:prstGeom prst="rect">
            <a:avLst/>
          </a:prstGeom>
          <a:ln w="0">
            <a:noFill/>
          </a:ln>
        </p:spPr>
      </p:pic>
      <p:pic>
        <p:nvPicPr>
          <p:cNvPr id="65" name="Picture 5" descr=""/>
          <p:cNvPicPr/>
          <p:nvPr/>
        </p:nvPicPr>
        <p:blipFill>
          <a:blip r:embed="rId3"/>
          <a:stretch/>
        </p:blipFill>
        <p:spPr>
          <a:xfrm>
            <a:off x="7894080" y="2928240"/>
            <a:ext cx="2437920" cy="2437920"/>
          </a:xfrm>
          <a:prstGeom prst="rect">
            <a:avLst/>
          </a:prstGeom>
          <a:ln w="0">
            <a:noFill/>
          </a:ln>
        </p:spPr>
      </p:pic>
      <p:sp>
        <p:nvSpPr>
          <p:cNvPr id="66" name="Google Shape;127;p20"/>
          <p:cNvSpPr/>
          <p:nvPr/>
        </p:nvSpPr>
        <p:spPr>
          <a:xfrm>
            <a:off x="8837640" y="600228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May 31, 2024</a:t>
            </a:r>
            <a:endParaRPr b="0" lang="en-US" sz="2660" strike="noStrike" u="none">
              <a:solidFill>
                <a:srgbClr val="ffffff"/>
              </a:solidFill>
              <a:uFillTx/>
              <a:latin typeface="Arial"/>
            </a:endParaRPr>
          </a:p>
        </p:txBody>
      </p:sp>
      <p:sp>
        <p:nvSpPr>
          <p:cNvPr id="67"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Google Shape;216;p6"/>
          <p:cNvSpPr/>
          <p:nvPr/>
        </p:nvSpPr>
        <p:spPr>
          <a:xfrm>
            <a:off x="451800" y="1593000"/>
            <a:ext cx="11137320" cy="5056920"/>
          </a:xfrm>
          <a:prstGeom prst="rect">
            <a:avLst/>
          </a:prstGeom>
          <a:noFill/>
          <a:ln w="0">
            <a:noFill/>
          </a:ln>
        </p:spPr>
        <p:style>
          <a:lnRef idx="0"/>
          <a:fillRef idx="0"/>
          <a:effectRef idx="0"/>
          <a:fontRef idx="minor"/>
        </p:style>
        <p:txBody>
          <a:bodyPr tIns="91440" bIns="91440" anchor="t">
            <a:spAutoFit/>
          </a:bodyPr>
          <a:p>
            <a:pPr>
              <a:lnSpc>
                <a:spcPct val="100000"/>
              </a:lnSpc>
            </a:pPr>
            <a:r>
              <a:rPr b="1" lang="en-IN" sz="1600" strike="noStrike" u="none">
                <a:solidFill>
                  <a:schemeClr val="dk1"/>
                </a:solidFill>
                <a:uFillTx/>
                <a:latin typeface="Arial"/>
                <a:ea typeface="Arial"/>
              </a:rPr>
              <a:t>Drawbacks of User defined Functions </a:t>
            </a:r>
            <a:r>
              <a:rPr b="0" lang="en-IN" sz="1600" strike="noStrike" u="none">
                <a:solidFill>
                  <a:schemeClr val="dk1"/>
                </a:solidFill>
                <a:uFillTx/>
                <a:latin typeface="Arial"/>
                <a:ea typeface="Arial"/>
              </a:rPr>
              <a:t>(affine_transform):</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solidFill>
                <a:uFillTx/>
                <a:latin typeface="Arial"/>
                <a:ea typeface="Arial"/>
              </a:rPr>
              <a:t>The corners of the rotated image were trimmed because the bounding box of the rotated image was set to the same size as the original image. </a:t>
            </a: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solidFill>
                <a:uFillTx/>
                <a:latin typeface="Arial"/>
                <a:ea typeface="Arial"/>
              </a:rPr>
              <a:t>Grayscale images cannot undergo rotation.</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Time Comparison Table of Different Images Between User-Defined Affine Transform Function and Built-In Affine Transform Function.</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Image source: https://web.archive.org/web/20110526212755/http://sipi.usc.edu/database/database.php?volume=misc</a:t>
            </a:r>
            <a:endParaRPr b="0" lang="en-US" sz="1600" strike="noStrike" u="none">
              <a:solidFill>
                <a:srgbClr val="ffffff"/>
              </a:solidFill>
              <a:uFillTx/>
              <a:latin typeface="Arial"/>
            </a:endParaRPr>
          </a:p>
          <a:p>
            <a:pPr>
              <a:lnSpc>
                <a:spcPct val="100000"/>
              </a:lnSpc>
            </a:pPr>
            <a:r>
              <a:rPr b="0" lang="en-IN" sz="1600" strike="noStrike" u="none">
                <a:solidFill>
                  <a:schemeClr val="dk1"/>
                </a:solidFill>
                <a:uFillTx/>
                <a:latin typeface="Arial"/>
                <a:ea typeface="Arial"/>
              </a:rPr>
              <a:t>So the user defined function is not better than the existing warpAffine function.</a:t>
            </a:r>
            <a:endParaRPr b="0" lang="en-US" sz="1600" strike="noStrike" u="none">
              <a:solidFill>
                <a:srgbClr val="ffffff"/>
              </a:solidFill>
              <a:uFillTx/>
              <a:latin typeface="Arial"/>
            </a:endParaRPr>
          </a:p>
        </p:txBody>
      </p:sp>
      <p:pic>
        <p:nvPicPr>
          <p:cNvPr id="69"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70" name="Google Shape;212;p6"/>
          <p:cNvSpPr/>
          <p:nvPr/>
        </p:nvSpPr>
        <p:spPr>
          <a:xfrm>
            <a:off x="451800" y="11016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Comparison between user defined function and inbuild function</a:t>
            </a:r>
            <a:endParaRPr b="0" lang="en-US" sz="3200" strike="noStrike" u="none">
              <a:solidFill>
                <a:srgbClr val="ffffff"/>
              </a:solidFill>
              <a:uFillTx/>
              <a:latin typeface="Arial"/>
            </a:endParaRPr>
          </a:p>
        </p:txBody>
      </p:sp>
      <p:graphicFrame>
        <p:nvGraphicFramePr>
          <p:cNvPr id="71" name="Table 4"/>
          <p:cNvGraphicFramePr/>
          <p:nvPr/>
        </p:nvGraphicFramePr>
        <p:xfrm>
          <a:off x="2486520" y="3429000"/>
          <a:ext cx="6153840" cy="2658960"/>
        </p:xfrm>
        <a:graphic>
          <a:graphicData uri="http://schemas.openxmlformats.org/drawingml/2006/table">
            <a:tbl>
              <a:tblPr/>
              <a:tblGrid>
                <a:gridCol w="936720"/>
                <a:gridCol w="1129680"/>
                <a:gridCol w="725400"/>
                <a:gridCol w="578520"/>
                <a:gridCol w="293760"/>
                <a:gridCol w="881640"/>
                <a:gridCol w="578520"/>
                <a:gridCol w="1028520"/>
              </a:tblGrid>
              <a:tr h="214920">
                <a:tc gridSpan="4">
                  <a:txBody>
                    <a:bodyPr lIns="6120" rIns="6120" tIns="6120" bIns="0" anchor="ctr">
                      <a:noAutofit/>
                    </a:bodyPr>
                    <a:p>
                      <a:pPr algn="ctr">
                        <a:lnSpc>
                          <a:spcPct val="100000"/>
                        </a:lnSpc>
                      </a:pPr>
                      <a:r>
                        <a:rPr b="0" lang="en-IN" sz="1100" strike="noStrike" u="none">
                          <a:solidFill>
                            <a:schemeClr val="dk1"/>
                          </a:solidFill>
                          <a:uFillTx/>
                          <a:latin typeface="Arial"/>
                          <a:ea typeface="Arial"/>
                        </a:rPr>
                        <a:t>Image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rowSpan="10">
                  <a:txBody>
                    <a:bodyPr lIns="6120" rIns="6120" tIns="6120" bIns="0" anchor="ctr">
                      <a:noAutofit/>
                    </a:bodyPr>
                    <a:p>
                      <a:pPr algn="ctr">
                        <a:lnSpc>
                          <a:spcPct val="100000"/>
                        </a:lnSpc>
                      </a:pPr>
                      <a:r>
                        <a:rPr b="0" lang="en-IN" sz="1100" strike="noStrike" u="none">
                          <a:solidFill>
                            <a:schemeClr val="dk1"/>
                          </a:solidFill>
                          <a:uFillTx/>
                          <a:latin typeface="Arial"/>
                          <a:ea typeface="Arial"/>
                        </a:rPr>
                        <a:t> </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gridSpan="3">
                  <a:txBody>
                    <a:bodyPr lIns="6120" rIns="6120" tIns="6120" bIns="0" anchor="ctr">
                      <a:noAutofit/>
                    </a:bodyPr>
                    <a:p>
                      <a:pPr algn="ctr">
                        <a:lnSpc>
                          <a:spcPct val="100000"/>
                        </a:lnSpc>
                      </a:pPr>
                      <a:r>
                        <a:rPr b="0" lang="en-IN" sz="1100" strike="noStrike" u="none">
                          <a:solidFill>
                            <a:schemeClr val="dk1"/>
                          </a:solidFill>
                          <a:uFillTx/>
                          <a:latin typeface="Arial"/>
                          <a:ea typeface="Arial"/>
                        </a:rPr>
                        <a:t>Time (sec)</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r>
              <a:tr h="43020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Filename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Description</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Size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Type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In User Defined</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Inbuild (Warp-affine)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Difference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test_img_01</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Girl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256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2.797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0.554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2.243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House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257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2.808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0.627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2.181</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Tree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258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2.763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0.593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2.17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Jelly_beans</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259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3.323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0.564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2.759</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Mandrill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512 X 512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0.664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2.406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Girl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513 X 512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3.049</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0.501</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2.548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Airplane-F16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514 X 512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3.051</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0.607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2.444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Sailboat</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515 X 512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2.745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0.59</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2.155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14920">
                <a:tc gridSpan="3">
                  <a:txBody>
                    <a:bodyPr lIns="6120" rIns="6120" tIns="6120" bIns="0" anchor="ctr">
                      <a:noAutofit/>
                    </a:bodyPr>
                    <a:p>
                      <a:pPr algn="ctr">
                        <a:lnSpc>
                          <a:spcPct val="100000"/>
                        </a:lnSpc>
                      </a:pPr>
                      <a:r>
                        <a:rPr b="0" lang="en-IN" sz="1100" strike="noStrike" u="none">
                          <a:solidFill>
                            <a:schemeClr val="dk1"/>
                          </a:solidFill>
                          <a:uFillTx/>
                          <a:latin typeface="Arial"/>
                          <a:ea typeface="Arial"/>
                        </a:rPr>
                        <a:t> </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gridSpan="2">
                  <a:txBody>
                    <a:bodyPr lIns="6120" rIns="6120" tIns="6120" bIns="0" anchor="ctr">
                      <a:noAutofit/>
                    </a:bodyPr>
                    <a:p>
                      <a:pPr algn="ctr">
                        <a:lnSpc>
                          <a:spcPct val="100000"/>
                        </a:lnSpc>
                      </a:pPr>
                      <a:r>
                        <a:rPr b="0" lang="en-IN" sz="1100" strike="noStrike" u="none">
                          <a:solidFill>
                            <a:schemeClr val="dk1"/>
                          </a:solidFill>
                          <a:uFillTx/>
                          <a:latin typeface="Arial"/>
                          <a:ea typeface="Arial"/>
                        </a:rPr>
                        <a:t>Avg:</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2.95075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0.5875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2.36325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63760" y="1064160"/>
            <a:ext cx="6560640" cy="822600"/>
          </a:xfrm>
          <a:prstGeom prst="rect">
            <a:avLst/>
          </a:prstGeom>
          <a:noFill/>
          <a:ln w="0">
            <a:noFill/>
          </a:ln>
        </p:spPr>
        <p:txBody>
          <a:bodyPr lIns="91440" rIns="91440" tIns="45720" bIns="45720" anchor="b">
            <a:normAutofit/>
          </a:bodyPr>
          <a:p>
            <a:pPr indent="0">
              <a:lnSpc>
                <a:spcPct val="90000"/>
              </a:lnSpc>
              <a:buNone/>
            </a:pPr>
            <a:r>
              <a:rPr b="0" lang="en-US" sz="3200" strike="noStrike" u="none">
                <a:solidFill>
                  <a:schemeClr val="dk1"/>
                </a:solidFill>
                <a:uFillTx/>
                <a:latin typeface="Arial"/>
                <a:ea typeface="Arial"/>
              </a:rPr>
              <a:t>Scheduling </a:t>
            </a:r>
            <a:r>
              <a:rPr b="0" lang="en-US" sz="3200" strike="noStrike" u="none">
                <a:solidFill>
                  <a:schemeClr val="dk1"/>
                </a:solidFill>
                <a:uFillTx/>
                <a:latin typeface="Arial"/>
                <a:ea typeface="Arial"/>
              </a:rPr>
              <a:t>Optimisation </a:t>
            </a:r>
            <a:r>
              <a:rPr b="0" lang="en-US" sz="3200" strike="noStrike" u="none">
                <a:solidFill>
                  <a:schemeClr val="dk1"/>
                </a:solidFill>
                <a:uFillTx/>
                <a:latin typeface="Arial"/>
                <a:ea typeface="Arial"/>
              </a:rPr>
              <a:t>Technique </a:t>
            </a:r>
            <a:endParaRPr b="0" lang="en-US" sz="3200" strike="noStrike" u="none">
              <a:solidFill>
                <a:srgbClr val="000000"/>
              </a:solidFill>
              <a:uFillTx/>
              <a:latin typeface="Arial"/>
            </a:endParaRPr>
          </a:p>
        </p:txBody>
      </p:sp>
      <p:pic>
        <p:nvPicPr>
          <p:cNvPr id="73" name="Picture Placeholder 8" descr="scheduling"/>
          <p:cNvPicPr/>
          <p:nvPr/>
        </p:nvPicPr>
        <p:blipFill>
          <a:blip r:embed="rId1"/>
          <a:stretch/>
        </p:blipFill>
        <p:spPr>
          <a:xfrm>
            <a:off x="7592760" y="1373400"/>
            <a:ext cx="4017960" cy="1728000"/>
          </a:xfrm>
          <a:prstGeom prst="rect">
            <a:avLst/>
          </a:prstGeom>
          <a:ln w="0">
            <a:noFill/>
          </a:ln>
        </p:spPr>
      </p:pic>
      <p:sp>
        <p:nvSpPr>
          <p:cNvPr id="74" name="PlaceHolder 2"/>
          <p:cNvSpPr>
            <a:spLocks noGrp="1"/>
          </p:cNvSpPr>
          <p:nvPr>
            <p:ph/>
          </p:nvPr>
        </p:nvSpPr>
        <p:spPr>
          <a:xfrm>
            <a:off x="168840" y="2057400"/>
            <a:ext cx="7062120" cy="3811680"/>
          </a:xfrm>
          <a:prstGeom prst="rect">
            <a:avLst/>
          </a:prstGeom>
          <a:noFill/>
          <a:ln w="0">
            <a:noFill/>
          </a:ln>
        </p:spPr>
        <p:txBody>
          <a:bodyPr lIns="91440" rIns="91440" tIns="45720" bIns="45720" anchor="t">
            <a:noAutofit/>
          </a:bodyPr>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Using </a:t>
            </a:r>
            <a:r>
              <a:rPr b="0" lang="en-US" sz="1800" strike="noStrike" u="none">
                <a:solidFill>
                  <a:srgbClr val="ff0000"/>
                </a:solidFill>
                <a:uFillTx/>
                <a:latin typeface="Arial"/>
                <a:ea typeface="Arial"/>
              </a:rPr>
              <a:t>Vectorize function</a:t>
            </a:r>
            <a:r>
              <a:rPr b="0" lang="en-US" sz="1800" strike="noStrike" u="none">
                <a:solidFill>
                  <a:schemeClr val="lt2"/>
                </a:solidFill>
                <a:uFillTx/>
                <a:latin typeface="Arial"/>
                <a:ea typeface="Arial"/>
              </a:rPr>
              <a:t> in the code. This directive tells Halide toprocess 8 pixels at a time along the x dimension. This can significantly speed up the computation by making use of the vector registers in the CPU.</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Using </a:t>
            </a:r>
            <a:r>
              <a:rPr b="0" lang="en-US" sz="1800" strike="noStrike" u="none">
                <a:solidFill>
                  <a:srgbClr val="ff0000"/>
                </a:solidFill>
                <a:uFillTx/>
                <a:latin typeface="Arial"/>
                <a:ea typeface="Arial"/>
              </a:rPr>
              <a:t>Parallel function</a:t>
            </a:r>
            <a:r>
              <a:rPr b="0" lang="en-US" sz="1800" strike="noStrike" u="none">
                <a:solidFill>
                  <a:schemeClr val="lt2"/>
                </a:solidFill>
                <a:uFillTx/>
                <a:latin typeface="Arial"/>
                <a:ea typeface="Arial"/>
              </a:rPr>
              <a:t> in the code.This parallelizes the computation along the y dimension. Each row of pixels can be processed in parallel and can be executed concurrently.</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Using</a:t>
            </a:r>
            <a:r>
              <a:rPr b="0" lang="en-US" sz="1800" strike="noStrike" u="none">
                <a:solidFill>
                  <a:srgbClr val="ff0000"/>
                </a:solidFill>
                <a:uFillTx/>
                <a:latin typeface="Arial"/>
                <a:ea typeface="Arial"/>
              </a:rPr>
              <a:t> Compute_root</a:t>
            </a:r>
            <a:r>
              <a:rPr b="0" lang="en-US" sz="1800" strike="noStrike" u="none">
                <a:solidFill>
                  <a:schemeClr val="lt2"/>
                </a:solidFill>
                <a:uFillTx/>
                <a:latin typeface="Arial"/>
                <a:ea typeface="Arial"/>
              </a:rPr>
              <a:t> computes the entire function at the root level, ensuring efficient use of memory and avoiding redundant and un-necessary computations.</a:t>
            </a:r>
            <a:endParaRPr b="0" lang="en-US" sz="1800" strike="noStrike" u="none">
              <a:solidFill>
                <a:srgbClr val="000000"/>
              </a:solidFill>
              <a:uFillTx/>
              <a:latin typeface="Arial"/>
            </a:endParaRPr>
          </a:p>
          <a:p>
            <a:pPr indent="0">
              <a:lnSpc>
                <a:spcPct val="90000"/>
              </a:lnSpc>
              <a:spcBef>
                <a:spcPts val="1001"/>
              </a:spcBef>
              <a:buNone/>
            </a:pPr>
            <a:endParaRPr b="0" lang="en-US" sz="1800" strike="noStrike" u="none">
              <a:solidFill>
                <a:srgbClr val="000000"/>
              </a:solidFill>
              <a:uFillTx/>
              <a:latin typeface="Arial"/>
            </a:endParaRPr>
          </a:p>
        </p:txBody>
      </p:sp>
      <p:sp>
        <p:nvSpPr>
          <p:cNvPr id="75" name="Title 1"/>
          <p:cNvSpPr/>
          <p:nvPr/>
        </p:nvSpPr>
        <p:spPr>
          <a:xfrm>
            <a:off x="309960" y="-720"/>
            <a:ext cx="10491120" cy="729720"/>
          </a:xfrm>
          <a:prstGeom prst="rect">
            <a:avLst/>
          </a:prstGeom>
          <a:noFill/>
          <a:ln w="0">
            <a:noFill/>
          </a:ln>
        </p:spPr>
        <p:style>
          <a:lnRef idx="0"/>
          <a:fillRef idx="0"/>
          <a:effectRef idx="0"/>
          <a:fontRef idx="minor"/>
        </p:style>
        <p:txBody>
          <a:bodyPr anchor="b">
            <a:normAutofit/>
          </a:bodyPr>
          <a:p>
            <a:pPr>
              <a:lnSpc>
                <a:spcPct val="90000"/>
              </a:lnSpc>
            </a:pPr>
            <a:r>
              <a:rPr b="0" lang="en-US" sz="3200" strike="noStrike" u="none">
                <a:solidFill>
                  <a:schemeClr val="dk1"/>
                </a:solidFill>
                <a:uFillTx/>
                <a:latin typeface="Calibri"/>
                <a:ea typeface="Calibri"/>
              </a:rPr>
              <a:t>Optimisation Of The Affine Transformation </a:t>
            </a:r>
            <a:endParaRPr b="0" lang="en-US" sz="3200" strike="noStrike" u="none">
              <a:solidFill>
                <a:srgbClr val="ffffff"/>
              </a:solidFill>
              <a:uFillTx/>
              <a:latin typeface="Arial"/>
            </a:endParaRPr>
          </a:p>
        </p:txBody>
      </p:sp>
      <p:pic>
        <p:nvPicPr>
          <p:cNvPr id="76"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77"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
        <p:nvSpPr>
          <p:cNvPr id="78" name="Google Shape;127;p20"/>
          <p:cNvSpPr/>
          <p:nvPr/>
        </p:nvSpPr>
        <p:spPr>
          <a:xfrm>
            <a:off x="8837640" y="600228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4, 2024</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170280" y="1309320"/>
            <a:ext cx="6603120" cy="747720"/>
          </a:xfrm>
          <a:prstGeom prst="rect">
            <a:avLst/>
          </a:prstGeom>
          <a:noFill/>
          <a:ln w="0">
            <a:noFill/>
          </a:ln>
        </p:spPr>
        <p:txBody>
          <a:bodyPr lIns="91440" rIns="91440" tIns="45720" bIns="45720" anchor="b">
            <a:noAutofit/>
          </a:bodyPr>
          <a:p>
            <a:pPr indent="0">
              <a:lnSpc>
                <a:spcPct val="90000"/>
              </a:lnSpc>
              <a:buNone/>
            </a:pPr>
            <a:r>
              <a:rPr b="0" lang="en-US" sz="3200" strike="noStrike" u="none">
                <a:solidFill>
                  <a:schemeClr val="dk1"/>
                </a:solidFill>
                <a:uFillTx/>
                <a:latin typeface="Arial"/>
                <a:ea typeface="Arial"/>
              </a:rPr>
              <a:t>Time </a:t>
            </a:r>
            <a:r>
              <a:rPr b="0" lang="en-US" sz="3200" strike="noStrike" u="none">
                <a:solidFill>
                  <a:schemeClr val="dk1"/>
                </a:solidFill>
                <a:uFillTx/>
                <a:latin typeface="Arial"/>
                <a:ea typeface="Arial"/>
              </a:rPr>
              <a:t>Consumption :-</a:t>
            </a:r>
            <a:endParaRPr b="0" lang="en-US" sz="3200" strike="noStrike" u="none">
              <a:solidFill>
                <a:srgbClr val="000000"/>
              </a:solidFill>
              <a:uFillTx/>
              <a:latin typeface="Arial"/>
            </a:endParaRPr>
          </a:p>
        </p:txBody>
      </p:sp>
      <p:pic>
        <p:nvPicPr>
          <p:cNvPr id="80" name="Picture Placeholder 9" descr="Screenshot 2024-06-03 144754"/>
          <p:cNvPicPr/>
          <p:nvPr/>
        </p:nvPicPr>
        <p:blipFill>
          <a:blip r:embed="rId1"/>
          <a:stretch/>
        </p:blipFill>
        <p:spPr>
          <a:xfrm>
            <a:off x="7752240" y="1220400"/>
            <a:ext cx="4248360" cy="3810240"/>
          </a:xfrm>
          <a:prstGeom prst="rect">
            <a:avLst/>
          </a:prstGeom>
          <a:ln w="0">
            <a:noFill/>
          </a:ln>
        </p:spPr>
      </p:pic>
      <p:sp>
        <p:nvSpPr>
          <p:cNvPr id="81" name="PlaceHolder 2"/>
          <p:cNvSpPr>
            <a:spLocks noGrp="1"/>
          </p:cNvSpPr>
          <p:nvPr>
            <p:ph/>
          </p:nvPr>
        </p:nvSpPr>
        <p:spPr>
          <a:xfrm>
            <a:off x="414000" y="4714560"/>
            <a:ext cx="6359040" cy="1573200"/>
          </a:xfrm>
          <a:prstGeom prst="rect">
            <a:avLst/>
          </a:prstGeom>
          <a:noFill/>
          <a:ln w="0">
            <a:noFill/>
          </a:ln>
        </p:spPr>
        <p:txBody>
          <a:bodyPr lIns="91440" rIns="91440" tIns="45720" bIns="45720" anchor="t">
            <a:noAutofit/>
          </a:bodyPr>
          <a:p>
            <a:pPr marL="457200" indent="-228600">
              <a:lnSpc>
                <a:spcPct val="90000"/>
              </a:lnSpc>
              <a:spcBef>
                <a:spcPts val="1001"/>
              </a:spcBef>
              <a:buNone/>
              <a:tabLst>
                <a:tab algn="l" pos="0"/>
              </a:tabLst>
            </a:pPr>
            <a:r>
              <a:rPr b="0" lang="en-US" sz="1800" strike="noStrike" u="none">
                <a:solidFill>
                  <a:schemeClr val="lt2"/>
                </a:solidFill>
                <a:uFillTx/>
                <a:latin typeface="Arial"/>
                <a:ea typeface="Arial"/>
              </a:rPr>
              <a:t>Avg time of Optimised Code is approx 1.8355 sec</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r>
              <a:rPr b="0" lang="en-US" sz="1800" strike="noStrike" u="none">
                <a:solidFill>
                  <a:schemeClr val="lt2"/>
                </a:solidFill>
                <a:uFillTx/>
                <a:latin typeface="Arial"/>
                <a:ea typeface="Arial"/>
              </a:rPr>
              <a:t>Avg time of inbuilt function is approx 0.566 sec</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r>
              <a:rPr b="0" lang="en-US" sz="1800" strike="noStrike" u="none">
                <a:solidFill>
                  <a:schemeClr val="lt2"/>
                </a:solidFill>
                <a:uFillTx/>
                <a:latin typeface="Arial"/>
                <a:ea typeface="Arial"/>
              </a:rPr>
              <a:t>Avg time of without optimisation is approx 2.63 sec</a:t>
            </a:r>
            <a:endParaRPr b="0" lang="en-US" sz="1800" strike="noStrike" u="none">
              <a:solidFill>
                <a:srgbClr val="000000"/>
              </a:solidFill>
              <a:uFillTx/>
              <a:latin typeface="Arial"/>
            </a:endParaRPr>
          </a:p>
        </p:txBody>
      </p:sp>
      <p:pic>
        <p:nvPicPr>
          <p:cNvPr id="82"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83" name="Title 1"/>
          <p:cNvSpPr/>
          <p:nvPr/>
        </p:nvSpPr>
        <p:spPr>
          <a:xfrm>
            <a:off x="309960" y="-720"/>
            <a:ext cx="10491120" cy="729720"/>
          </a:xfrm>
          <a:prstGeom prst="rect">
            <a:avLst/>
          </a:prstGeom>
          <a:noFill/>
          <a:ln w="0">
            <a:noFill/>
          </a:ln>
        </p:spPr>
        <p:style>
          <a:lnRef idx="0"/>
          <a:fillRef idx="0"/>
          <a:effectRef idx="0"/>
          <a:fontRef idx="minor"/>
        </p:style>
        <p:txBody>
          <a:bodyPr anchor="b">
            <a:normAutofit/>
          </a:bodyPr>
          <a:p>
            <a:pPr>
              <a:lnSpc>
                <a:spcPct val="90000"/>
              </a:lnSpc>
            </a:pPr>
            <a:r>
              <a:rPr b="0" lang="en-US" sz="3200" strike="noStrike" u="none">
                <a:solidFill>
                  <a:schemeClr val="dk1"/>
                </a:solidFill>
                <a:uFillTx/>
                <a:latin typeface="Calibri"/>
                <a:ea typeface="Calibri"/>
              </a:rPr>
              <a:t>Optimisation Of The Affine Transformation </a:t>
            </a:r>
            <a:endParaRPr b="0" lang="en-US" sz="3200" strike="noStrike" u="none">
              <a:solidFill>
                <a:srgbClr val="ffffff"/>
              </a:solidFill>
              <a:uFillTx/>
              <a:latin typeface="Arial"/>
            </a:endParaRPr>
          </a:p>
        </p:txBody>
      </p:sp>
      <p:sp>
        <p:nvSpPr>
          <p:cNvPr id="84" name="Text Box 12"/>
          <p:cNvSpPr/>
          <p:nvPr/>
        </p:nvSpPr>
        <p:spPr>
          <a:xfrm>
            <a:off x="8039160" y="5099760"/>
            <a:ext cx="4063680" cy="8377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400" strike="noStrike" u="none">
                <a:solidFill>
                  <a:schemeClr val="dk1">
                    <a:lumMod val="85000"/>
                  </a:schemeClr>
                </a:solidFill>
                <a:uFillTx/>
                <a:latin typeface="Arial"/>
                <a:ea typeface="Arial"/>
              </a:rPr>
              <a:t>First five iterations result of pictureTree</a:t>
            </a:r>
            <a:endParaRPr b="0" lang="en-US" sz="1400" strike="noStrike" u="none">
              <a:solidFill>
                <a:srgbClr val="ffffff"/>
              </a:solidFill>
              <a:uFillTx/>
              <a:latin typeface="Arial"/>
            </a:endParaRPr>
          </a:p>
        </p:txBody>
      </p:sp>
      <p:graphicFrame>
        <p:nvGraphicFramePr>
          <p:cNvPr id="85" name="Table 6"/>
          <p:cNvGraphicFramePr/>
          <p:nvPr/>
        </p:nvGraphicFramePr>
        <p:xfrm>
          <a:off x="169560" y="2248560"/>
          <a:ext cx="7390440" cy="2898360"/>
        </p:xfrm>
        <a:graphic>
          <a:graphicData uri="http://schemas.openxmlformats.org/drawingml/2006/table">
            <a:tbl>
              <a:tblPr/>
              <a:tblGrid>
                <a:gridCol w="1230480"/>
                <a:gridCol w="1231200"/>
                <a:gridCol w="1229040"/>
                <a:gridCol w="1233720"/>
                <a:gridCol w="1233000"/>
                <a:gridCol w="1232280"/>
              </a:tblGrid>
              <a:tr h="714960">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Description</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Size</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Type</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In-Built wrapAffine Function(sec)</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ctr">
                      <a:noAutofit/>
                    </a:bodyPr>
                    <a:p>
                      <a:pPr algn="ctr">
                        <a:lnSpc>
                          <a:spcPct val="100000"/>
                        </a:lnSpc>
                        <a:tabLst>
                          <a:tab algn="l" pos="0"/>
                        </a:tabLst>
                      </a:pPr>
                      <a:r>
                        <a:rPr b="0" lang="en-US" sz="1870" strike="noStrike" u="none">
                          <a:solidFill>
                            <a:srgbClr val="000000"/>
                          </a:solidFill>
                          <a:uFillTx/>
                          <a:latin typeface="Calibri"/>
                          <a:ea typeface="Arial"/>
                        </a:rPr>
                        <a:t>Used Scheduling Technique(sec)</a:t>
                      </a:r>
                      <a:endParaRPr b="0" lang="en-US" sz="1870" strike="noStrike" u="none">
                        <a:solidFill>
                          <a:srgbClr val="ffffff"/>
                        </a:solidFill>
                        <a:uFillTx/>
                        <a:latin typeface="Arial"/>
                      </a:endParaRPr>
                    </a:p>
                  </a:txBody>
                  <a:tcPr anchor="ctr"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Without Scheduling Technique(sec)</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r>
              <a:tr h="241920">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Tree</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258 x 256</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Color</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0.593</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1.718</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2.763</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r>
              <a:tr h="241920">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House</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257 x 256</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Color</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0.527</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1.814</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2.808</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r>
              <a:tr h="243720">
                <a:tc>
                  <a:txBody>
                    <a:bodyPr lIns="68400" rIns="68400" tIns="0" bIns="0" anchor="ctr">
                      <a:noAutofit/>
                    </a:bodyPr>
                    <a:p>
                      <a:pPr algn="ctr">
                        <a:lnSpc>
                          <a:spcPct val="100000"/>
                        </a:lnSpc>
                        <a:tabLst>
                          <a:tab algn="l" pos="0"/>
                        </a:tabLst>
                      </a:pPr>
                      <a:r>
                        <a:rPr b="0" lang="en-US" sz="1870" strike="noStrike" u="none">
                          <a:solidFill>
                            <a:srgbClr val="000000"/>
                          </a:solidFill>
                          <a:uFillTx/>
                          <a:latin typeface="Calibri"/>
                          <a:ea typeface="Arial"/>
                        </a:rPr>
                        <a:t>Girl</a:t>
                      </a:r>
                      <a:endParaRPr b="0" lang="en-US" sz="1870" strike="noStrike" u="none">
                        <a:solidFill>
                          <a:srgbClr val="ffffff"/>
                        </a:solidFill>
                        <a:uFillTx/>
                        <a:latin typeface="Arial"/>
                      </a:endParaRPr>
                    </a:p>
                  </a:txBody>
                  <a:tcPr anchor="ctr"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512 x 512</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Color</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0.554</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1.919</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2.790</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r>
              <a:tr h="242280">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Sailboat</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512 x 512</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Color</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0.590</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1.891</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c>
                  <a:txBody>
                    <a:bodyPr lIns="68400" rIns="68400" tIns="0" bIns="0" anchor="t">
                      <a:noAutofit/>
                    </a:bodyPr>
                    <a:p>
                      <a:pPr algn="ctr">
                        <a:lnSpc>
                          <a:spcPct val="100000"/>
                        </a:lnSpc>
                        <a:tabLst>
                          <a:tab algn="l" pos="0"/>
                        </a:tabLst>
                      </a:pPr>
                      <a:r>
                        <a:rPr b="0" lang="en-US" sz="1870" strike="noStrike" u="none">
                          <a:solidFill>
                            <a:srgbClr val="000000"/>
                          </a:solidFill>
                          <a:uFillTx/>
                          <a:latin typeface="Calibri"/>
                          <a:ea typeface="Arial"/>
                        </a:rPr>
                        <a:t>2.159</a:t>
                      </a:r>
                      <a:endParaRPr b="0" lang="en-US" sz="1870" strike="noStrike" u="none">
                        <a:solidFill>
                          <a:srgbClr val="ffffff"/>
                        </a:solidFill>
                        <a:uFillTx/>
                        <a:latin typeface="Arial"/>
                      </a:endParaRPr>
                    </a:p>
                  </a:txBody>
                  <a:tcPr anchor="t" marL="68400" marR="68400">
                    <a:lnL w="12240">
                      <a:solidFill>
                        <a:srgbClr val="080000"/>
                      </a:solidFill>
                      <a:prstDash val="solid"/>
                    </a:lnL>
                    <a:lnR w="12240">
                      <a:solidFill>
                        <a:srgbClr val="080000"/>
                      </a:solidFill>
                      <a:prstDash val="solid"/>
                    </a:lnR>
                    <a:lnT w="12240">
                      <a:solidFill>
                        <a:srgbClr val="080000"/>
                      </a:solidFill>
                      <a:prstDash val="solid"/>
                    </a:lnT>
                    <a:lnB w="12240">
                      <a:solidFill>
                        <a:srgbClr val="08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82760" y="457200"/>
            <a:ext cx="10632600" cy="771840"/>
          </a:xfrm>
          <a:prstGeom prst="rect">
            <a:avLst/>
          </a:prstGeom>
          <a:noFill/>
          <a:ln w="0">
            <a:noFill/>
          </a:ln>
        </p:spPr>
        <p:txBody>
          <a:bodyPr lIns="91440" rIns="91440" tIns="45720" bIns="45720" anchor="b">
            <a:normAutofit fontScale="92500" lnSpcReduction="19999"/>
          </a:bodyPr>
          <a:p>
            <a:pPr indent="0">
              <a:lnSpc>
                <a:spcPct val="90000"/>
              </a:lnSpc>
              <a:buNone/>
            </a:pPr>
            <a:r>
              <a:rPr b="0" lang="en-US" sz="3200" strike="noStrike" u="none">
                <a:solidFill>
                  <a:schemeClr val="dk1"/>
                </a:solidFill>
                <a:uFillTx/>
                <a:latin typeface="Arial"/>
                <a:ea typeface="Arial"/>
              </a:rPr>
              <a:t>Algorithm: Affine </a:t>
            </a:r>
            <a:r>
              <a:rPr b="0" lang="en-US" sz="3200" strike="noStrike" u="none">
                <a:solidFill>
                  <a:schemeClr val="dk1"/>
                </a:solidFill>
                <a:uFillTx/>
                <a:latin typeface="Arial"/>
                <a:ea typeface="Arial"/>
              </a:rPr>
              <a:t>Image </a:t>
            </a:r>
            <a:r>
              <a:rPr b="0" lang="en-US" sz="3200" strike="noStrike" u="none">
                <a:solidFill>
                  <a:schemeClr val="dk1"/>
                </a:solidFill>
                <a:uFillTx/>
                <a:latin typeface="Arial"/>
                <a:ea typeface="Arial"/>
              </a:rPr>
              <a:t>Transformation </a:t>
            </a:r>
            <a:r>
              <a:rPr b="0" lang="en-US" sz="3200" strike="noStrike" u="none">
                <a:solidFill>
                  <a:schemeClr val="dk1"/>
                </a:solidFill>
                <a:uFillTx/>
                <a:latin typeface="Arial"/>
                <a:ea typeface="Arial"/>
              </a:rPr>
              <a:t>Using Bilinear </a:t>
            </a:r>
            <a:r>
              <a:rPr b="0" lang="en-US" sz="3200" strike="noStrike" u="none">
                <a:solidFill>
                  <a:schemeClr val="dk1"/>
                </a:solidFill>
                <a:uFillTx/>
                <a:latin typeface="Arial"/>
                <a:ea typeface="Arial"/>
              </a:rPr>
              <a:t>Interpolation</a:t>
            </a:r>
            <a:endParaRPr b="0" lang="en-US" sz="3200" strike="noStrike" u="none">
              <a:solidFill>
                <a:srgbClr val="000000"/>
              </a:solidFill>
              <a:uFillTx/>
              <a:latin typeface="Arial"/>
            </a:endParaRPr>
          </a:p>
        </p:txBody>
      </p:sp>
      <p:sp>
        <p:nvSpPr>
          <p:cNvPr id="87" name="PlaceHolder 2"/>
          <p:cNvSpPr>
            <a:spLocks noGrp="1"/>
          </p:cNvSpPr>
          <p:nvPr>
            <p:ph/>
          </p:nvPr>
        </p:nvSpPr>
        <p:spPr>
          <a:xfrm>
            <a:off x="482760" y="1405800"/>
            <a:ext cx="11226600" cy="4790160"/>
          </a:xfrm>
          <a:prstGeom prst="rect">
            <a:avLst/>
          </a:prstGeom>
          <a:noFill/>
          <a:ln w="0">
            <a:noFill/>
          </a:ln>
        </p:spPr>
        <p:txBody>
          <a:bodyPr lIns="91440" rIns="91440" tIns="45720" bIns="45720" anchor="t">
            <a:normAutofit fontScale="92500" lnSpcReduction="9999"/>
          </a:bodyPr>
          <a:p>
            <a:pPr marL="514440" indent="-285840">
              <a:lnSpc>
                <a:spcPct val="90000"/>
              </a:lnSpc>
              <a:spcBef>
                <a:spcPts val="1001"/>
              </a:spcBef>
              <a:buClr>
                <a:srgbClr val="ffffff"/>
              </a:buClr>
              <a:buFont typeface="Wingdings" charset="2"/>
              <a:buChar char=""/>
            </a:pPr>
            <a:r>
              <a:rPr b="1" lang="en-US" sz="2000" strike="noStrike" u="none">
                <a:solidFill>
                  <a:schemeClr val="dk1">
                    <a:lumMod val="85000"/>
                  </a:schemeClr>
                </a:solidFill>
                <a:uFillTx/>
                <a:latin typeface="Arial"/>
                <a:ea typeface="Arial"/>
              </a:rPr>
              <a:t>Initialization</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dk1">
                    <a:lumMod val="85000"/>
                  </a:schemeClr>
                </a:solidFill>
                <a:uFillTx/>
                <a:latin typeface="Arial"/>
                <a:ea typeface="Arial"/>
              </a:rPr>
              <a:t>Extract dimensions width, height, and channels from the input buffer.</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dk1">
                    <a:lumMod val="85000"/>
                  </a:schemeClr>
                </a:solidFill>
                <a:uFillTx/>
                <a:latin typeface="Arial"/>
                <a:ea typeface="Arial"/>
              </a:rPr>
              <a:t>Find the new height and width of the rotated image.</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dk1">
                    <a:lumMod val="85000"/>
                  </a:schemeClr>
                </a:solidFill>
                <a:uFillTx/>
                <a:latin typeface="Arial"/>
                <a:ea typeface="Arial"/>
              </a:rPr>
              <a:t>Declare Halide variables x, y, and c to represent the pixel coordinates and channel index.</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dk1">
                    <a:lumMod val="85000"/>
                  </a:schemeClr>
                </a:solidFill>
                <a:uFillTx/>
                <a:latin typeface="Arial"/>
                <a:ea typeface="Arial"/>
              </a:rPr>
              <a:t>Declare a Halide function transform to represent the transformation.</a:t>
            </a:r>
            <a:endParaRPr b="0" lang="en-US" sz="1800" strike="noStrike" u="none">
              <a:solidFill>
                <a:srgbClr val="000000"/>
              </a:solidFill>
              <a:uFillTx/>
              <a:latin typeface="Arial"/>
            </a:endParaRPr>
          </a:p>
          <a:p>
            <a:pPr indent="0">
              <a:lnSpc>
                <a:spcPct val="90000"/>
              </a:lnSpc>
              <a:spcBef>
                <a:spcPts val="499"/>
              </a:spcBef>
              <a:buNone/>
            </a:pPr>
            <a:endParaRPr b="0" lang="en-US" sz="16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pPr>
            <a:r>
              <a:rPr b="1" lang="en-US" sz="2000" strike="noStrike" u="none">
                <a:solidFill>
                  <a:schemeClr val="dk1">
                    <a:lumMod val="85000"/>
                  </a:schemeClr>
                </a:solidFill>
                <a:uFillTx/>
                <a:latin typeface="Arial"/>
                <a:ea typeface="Arial"/>
              </a:rPr>
              <a:t>Affine Transformation Calculation</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1800" strike="noStrike" u="none">
                <a:solidFill>
                  <a:schemeClr val="dk1">
                    <a:lumMod val="85000"/>
                  </a:schemeClr>
                </a:solidFill>
                <a:uFillTx/>
                <a:latin typeface="Arial"/>
                <a:ea typeface="Arial"/>
              </a:rPr>
              <a:t>Formation of the affine transformation matrix and compute the transformed coordinates newX and newY using the affine transformation matrix:</a:t>
            </a:r>
            <a:endParaRPr b="0" lang="en-US" sz="1800" strike="noStrike" u="none">
              <a:solidFill>
                <a:srgbClr val="000000"/>
              </a:solidFill>
              <a:uFillTx/>
              <a:latin typeface="Arial"/>
            </a:endParaRPr>
          </a:p>
          <a:p>
            <a:pPr marL="685800" indent="0">
              <a:lnSpc>
                <a:spcPct val="90000"/>
              </a:lnSpc>
              <a:spcBef>
                <a:spcPts val="499"/>
              </a:spcBef>
              <a:buNone/>
              <a:tabLst>
                <a:tab algn="l" pos="0"/>
              </a:tabLst>
            </a:pP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1" lang="en-US" sz="1800" strike="noStrike" u="none">
                <a:solidFill>
                  <a:schemeClr val="dk1">
                    <a:lumMod val="85000"/>
                  </a:schemeClr>
                </a:solidFill>
                <a:uFillTx/>
                <a:latin typeface="Arial"/>
                <a:ea typeface="Arial"/>
              </a:rPr>
              <a:t>Expr newX = matrix[0][0] * cast&lt;float&gt;(x) + matrix[0][1] * cast&lt;float&gt;(y) + matrix[0][2];</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r>
              <a:rPr b="1" lang="en-US" sz="1800" strike="noStrike" u="none">
                <a:solidFill>
                  <a:schemeClr val="dk1">
                    <a:lumMod val="85000"/>
                  </a:schemeClr>
                </a:solidFill>
                <a:uFillTx/>
                <a:latin typeface="Arial"/>
                <a:ea typeface="Arial"/>
              </a:rPr>
              <a:t> </a:t>
            </a:r>
            <a:r>
              <a:rPr b="1" lang="en-US" sz="1800" strike="noStrike" u="none">
                <a:solidFill>
                  <a:schemeClr val="dk1">
                    <a:lumMod val="85000"/>
                  </a:schemeClr>
                </a:solidFill>
                <a:uFillTx/>
                <a:latin typeface="Arial"/>
                <a:ea typeface="Arial"/>
              </a:rPr>
              <a:t>Expr newY = matrix[1][0] * cast&lt;float&gt;(x) + matrix[1][1] * cast&lt;float&gt;(y) + matrix[1][2];</a:t>
            </a:r>
            <a:endParaRPr b="0" lang="en-US" sz="1800" strike="noStrike" u="none">
              <a:solidFill>
                <a:srgbClr val="000000"/>
              </a:solidFill>
              <a:uFillTx/>
              <a:latin typeface="Arial"/>
            </a:endParaRPr>
          </a:p>
          <a:p>
            <a:pPr marL="685800" indent="457200">
              <a:lnSpc>
                <a:spcPct val="90000"/>
              </a:lnSpc>
              <a:spcBef>
                <a:spcPts val="499"/>
              </a:spcBef>
              <a:buNone/>
              <a:tabLst>
                <a:tab algn="l" pos="0"/>
              </a:tabLst>
            </a:pPr>
            <a:endParaRPr b="0" lang="en-US" sz="16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2000" strike="noStrike" u="none">
                <a:solidFill>
                  <a:schemeClr val="dk1">
                    <a:lumMod val="85000"/>
                  </a:schemeClr>
                </a:solidFill>
                <a:uFillTx/>
                <a:latin typeface="Arial"/>
                <a:ea typeface="Arial"/>
              </a:rPr>
              <a:t>Bilinear Interpolation Setup</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dk1">
                    <a:lumMod val="85000"/>
                  </a:schemeClr>
                </a:solidFill>
                <a:uFillTx/>
                <a:latin typeface="Arial"/>
                <a:ea typeface="Arial"/>
              </a:rPr>
              <a:t>Compute the integer coordinates surrounding the transformed coordinates using:</a:t>
            </a:r>
            <a:endParaRPr b="0" lang="en-US" sz="1800" strike="noStrike" u="none">
              <a:solidFill>
                <a:srgbClr val="000000"/>
              </a:solidFill>
              <a:uFillTx/>
              <a:latin typeface="Arial"/>
            </a:endParaRPr>
          </a:p>
          <a:p>
            <a:pPr marL="1143000" indent="457200">
              <a:lnSpc>
                <a:spcPct val="90000"/>
              </a:lnSpc>
              <a:spcBef>
                <a:spcPts val="499"/>
              </a:spcBef>
              <a:buNone/>
              <a:tabLst>
                <a:tab algn="l" pos="0"/>
              </a:tabLst>
            </a:pPr>
            <a:r>
              <a:rPr b="0" lang="en-US" sz="1800" strike="noStrike" u="none">
                <a:solidFill>
                  <a:schemeClr val="dk1">
                    <a:lumMod val="85000"/>
                  </a:schemeClr>
                </a:solidFill>
                <a:uFillTx/>
                <a:latin typeface="Arial"/>
                <a:ea typeface="Arial"/>
              </a:rPr>
              <a:t>X0=cast&lt;int&gt;(floor(newX))</a:t>
            </a:r>
            <a:endParaRPr b="0" lang="en-US" sz="1800" strike="noStrike" u="none">
              <a:solidFill>
                <a:srgbClr val="000000"/>
              </a:solidFill>
              <a:uFillTx/>
              <a:latin typeface="Arial"/>
            </a:endParaRPr>
          </a:p>
          <a:p>
            <a:pPr marL="1143000" indent="457200">
              <a:lnSpc>
                <a:spcPct val="90000"/>
              </a:lnSpc>
              <a:spcBef>
                <a:spcPts val="499"/>
              </a:spcBef>
              <a:buNone/>
              <a:tabLst>
                <a:tab algn="l" pos="0"/>
              </a:tabLst>
            </a:pPr>
            <a:r>
              <a:rPr b="0" lang="en-US" sz="1800" strike="noStrike" u="none">
                <a:solidFill>
                  <a:schemeClr val="dk1">
                    <a:lumMod val="85000"/>
                  </a:schemeClr>
                </a:solidFill>
                <a:uFillTx/>
                <a:latin typeface="Arial"/>
                <a:ea typeface="Arial"/>
              </a:rPr>
              <a:t>y0=cast&lt;int&gt;(floor(newY))</a:t>
            </a:r>
            <a:endParaRPr b="0" lang="en-US" sz="1800" strike="noStrike" u="none">
              <a:solidFill>
                <a:srgbClr val="000000"/>
              </a:solidFill>
              <a:uFillTx/>
              <a:latin typeface="Arial"/>
            </a:endParaRPr>
          </a:p>
          <a:p>
            <a:pPr marL="1143000" indent="457200">
              <a:lnSpc>
                <a:spcPct val="90000"/>
              </a:lnSpc>
              <a:spcBef>
                <a:spcPts val="499"/>
              </a:spcBef>
              <a:buNone/>
              <a:tabLst>
                <a:tab algn="l" pos="0"/>
              </a:tabLst>
            </a:pPr>
            <a:endParaRPr b="0" lang="en-US" sz="1800" strike="noStrike" u="none">
              <a:solidFill>
                <a:srgbClr val="000000"/>
              </a:solidFill>
              <a:uFillTx/>
              <a:latin typeface="Arial"/>
            </a:endParaRPr>
          </a:p>
        </p:txBody>
      </p:sp>
      <p:pic>
        <p:nvPicPr>
          <p:cNvPr id="88" name="Google Shape;214;p6" descr=""/>
          <p:cNvPicPr/>
          <p:nvPr/>
        </p:nvPicPr>
        <p:blipFill>
          <a:blip r:embed="rId1"/>
          <a:srcRect l="4529" t="20257" r="4160" b="26835"/>
          <a:stretch/>
        </p:blipFill>
        <p:spPr>
          <a:xfrm>
            <a:off x="10942200" y="105120"/>
            <a:ext cx="1249560" cy="4744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p:nvPr>
        </p:nvSpPr>
        <p:spPr>
          <a:xfrm>
            <a:off x="137160" y="1280160"/>
            <a:ext cx="11779560" cy="5418720"/>
          </a:xfrm>
          <a:prstGeom prst="rect">
            <a:avLst/>
          </a:prstGeom>
          <a:noFill/>
          <a:ln w="0">
            <a:noFill/>
          </a:ln>
        </p:spPr>
        <p:txBody>
          <a:bodyPr lIns="91440" rIns="91440" tIns="45720" bIns="45720" anchor="t">
            <a:normAutofit fontScale="92500" lnSpcReduction="19999"/>
          </a:bodyPr>
          <a:p>
            <a:pPr marL="514440" indent="-285840">
              <a:lnSpc>
                <a:spcPct val="90000"/>
              </a:lnSpc>
              <a:spcBef>
                <a:spcPts val="1001"/>
              </a:spcBef>
              <a:buClr>
                <a:srgbClr val="ffffff"/>
              </a:buClr>
              <a:buFont typeface="Wingdings" charset="2"/>
              <a:buChar char=""/>
            </a:pPr>
            <a:r>
              <a:rPr b="1" lang="en-US" sz="2000" strike="noStrike" u="none">
                <a:solidFill>
                  <a:schemeClr val="dk1">
                    <a:lumMod val="85000"/>
                  </a:schemeClr>
                </a:solidFill>
                <a:uFillTx/>
                <a:latin typeface="Arial"/>
                <a:ea typeface="Arial"/>
              </a:rPr>
              <a:t> </a:t>
            </a:r>
            <a:r>
              <a:rPr b="1" lang="en-US" sz="2000" strike="noStrike" u="none">
                <a:solidFill>
                  <a:schemeClr val="dk1">
                    <a:lumMod val="85000"/>
                  </a:schemeClr>
                </a:solidFill>
                <a:uFillTx/>
                <a:latin typeface="Arial"/>
                <a:ea typeface="Arial"/>
              </a:rPr>
              <a:t>Bilinear Interpolation Calculation:</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pP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Compute the bilinearly interpolated pixel value using the surrounding pixel values and the weights:</a:t>
            </a:r>
            <a:endParaRPr b="0" lang="en-US" sz="2000" strike="noStrike" u="none">
              <a:solidFill>
                <a:srgbClr val="000000"/>
              </a:solidFill>
              <a:uFillTx/>
              <a:latin typeface="Arial"/>
            </a:endParaRPr>
          </a:p>
          <a:p>
            <a:pPr marL="1143000" indent="0">
              <a:lnSpc>
                <a:spcPct val="90000"/>
              </a:lnSpc>
              <a:spcBef>
                <a:spcPts val="499"/>
              </a:spcBef>
              <a:buNone/>
              <a:tabLst>
                <a:tab algn="l" pos="0"/>
              </a:tabLst>
            </a:pPr>
            <a:r>
              <a:rPr b="1" lang="en-US" sz="2000" strike="noStrike" u="none">
                <a:solidFill>
                  <a:schemeClr val="dk1">
                    <a:lumMod val="85000"/>
                  </a:schemeClr>
                </a:solidFill>
                <a:uFillTx/>
                <a:latin typeface="Arial"/>
                <a:ea typeface="Arial"/>
              </a:rPr>
              <a:t>value =   (1 - a) * (1 - b) * input(clamp(x0, 0, input.width() - 1), clamp(y0, 0, input.height() - 1), c) +</a:t>
            </a:r>
            <a:endParaRPr b="0" lang="en-US" sz="2000" strike="noStrike" u="none">
              <a:solidFill>
                <a:srgbClr val="000000"/>
              </a:solidFill>
              <a:uFillTx/>
              <a:latin typeface="Arial"/>
            </a:endParaRPr>
          </a:p>
          <a:p>
            <a:pPr marL="1143000" indent="0">
              <a:lnSpc>
                <a:spcPct val="90000"/>
              </a:lnSpc>
              <a:spcBef>
                <a:spcPts val="499"/>
              </a:spcBef>
              <a:buNone/>
              <a:tabLst>
                <a:tab algn="l" pos="0"/>
              </a:tabLst>
            </a:pPr>
            <a:r>
              <a:rPr b="1" lang="en-US" sz="2000" strike="noStrike" u="none">
                <a:solidFill>
                  <a:schemeClr val="dk1">
                    <a:lumMod val="85000"/>
                  </a:schemeClr>
                </a:solidFill>
                <a:uFillTx/>
                <a:latin typeface="Arial"/>
                <a:ea typeface="Arial"/>
              </a:rPr>
              <a:t>                 </a:t>
            </a:r>
            <a:r>
              <a:rPr b="1" lang="en-US" sz="2000" strike="noStrike" u="none">
                <a:solidFill>
                  <a:schemeClr val="dk1">
                    <a:lumMod val="85000"/>
                  </a:schemeClr>
                </a:solidFill>
                <a:uFillTx/>
                <a:latin typeface="Arial"/>
                <a:ea typeface="Arial"/>
              </a:rPr>
              <a:t>a * (1 - b) * input(clamp(x1, 0, input.width() - 1), clamp(y0, 0, input.height() - 1), c) +</a:t>
            </a:r>
            <a:endParaRPr b="0" lang="en-US" sz="2000" strike="noStrike" u="none">
              <a:solidFill>
                <a:srgbClr val="000000"/>
              </a:solidFill>
              <a:uFillTx/>
              <a:latin typeface="Arial"/>
            </a:endParaRPr>
          </a:p>
          <a:p>
            <a:pPr marL="1143000" indent="0">
              <a:lnSpc>
                <a:spcPct val="90000"/>
              </a:lnSpc>
              <a:spcBef>
                <a:spcPts val="499"/>
              </a:spcBef>
              <a:buNone/>
              <a:tabLst>
                <a:tab algn="l" pos="0"/>
              </a:tabLst>
            </a:pPr>
            <a:r>
              <a:rPr b="1" lang="en-US" sz="2000" strike="noStrike" u="none">
                <a:solidFill>
                  <a:schemeClr val="dk1">
                    <a:lumMod val="85000"/>
                  </a:schemeClr>
                </a:solidFill>
                <a:uFillTx/>
                <a:latin typeface="Arial"/>
                <a:ea typeface="Arial"/>
              </a:rPr>
              <a:t>                 </a:t>
            </a:r>
            <a:r>
              <a:rPr b="1" lang="en-US" sz="2000" strike="noStrike" u="none">
                <a:solidFill>
                  <a:schemeClr val="dk1">
                    <a:lumMod val="85000"/>
                  </a:schemeClr>
                </a:solidFill>
                <a:uFillTx/>
                <a:latin typeface="Arial"/>
                <a:ea typeface="Arial"/>
              </a:rPr>
              <a:t>(1 - a) * b * input(clamp(x0, 0, input.width() - 1), clamp(y1, 0, input.height() - 1), c) +</a:t>
            </a:r>
            <a:endParaRPr b="0" lang="en-US" sz="2000" strike="noStrike" u="none">
              <a:solidFill>
                <a:srgbClr val="000000"/>
              </a:solidFill>
              <a:uFillTx/>
              <a:latin typeface="Arial"/>
            </a:endParaRPr>
          </a:p>
          <a:p>
            <a:pPr marL="1143000" indent="0">
              <a:lnSpc>
                <a:spcPct val="90000"/>
              </a:lnSpc>
              <a:spcBef>
                <a:spcPts val="499"/>
              </a:spcBef>
              <a:buNone/>
              <a:tabLst>
                <a:tab algn="l" pos="0"/>
              </a:tabLst>
            </a:pPr>
            <a:r>
              <a:rPr b="1" lang="en-US" sz="2000" strike="noStrike" u="none">
                <a:solidFill>
                  <a:schemeClr val="dk1">
                    <a:lumMod val="85000"/>
                  </a:schemeClr>
                </a:solidFill>
                <a:uFillTx/>
                <a:latin typeface="Arial"/>
                <a:ea typeface="Arial"/>
              </a:rPr>
              <a:t>                  </a:t>
            </a:r>
            <a:r>
              <a:rPr b="1" lang="en-US" sz="2000" strike="noStrike" u="none">
                <a:solidFill>
                  <a:schemeClr val="dk1">
                    <a:lumMod val="85000"/>
                  </a:schemeClr>
                </a:solidFill>
                <a:uFillTx/>
                <a:latin typeface="Arial"/>
                <a:ea typeface="Arial"/>
              </a:rPr>
              <a:t>a * b * input(clamp(x1, 0, input.width() - 1), clamp(y1, 0, input.height() - 1), c);</a:t>
            </a:r>
            <a:endParaRPr b="0" lang="en-US" sz="20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2000" strike="noStrike" u="none">
                <a:solidFill>
                  <a:schemeClr val="dk1">
                    <a:lumMod val="85000"/>
                  </a:schemeClr>
                </a:solidFill>
                <a:uFillTx/>
                <a:latin typeface="Arial"/>
                <a:ea typeface="Arial"/>
              </a:rPr>
              <a:t>Boundary Handling:</a:t>
            </a:r>
            <a:endParaRPr b="0" lang="en-US" sz="20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Set the pixel to black if the transformed coordinates are out of bounds and the rest pixel will be remain same    using:</a:t>
            </a:r>
            <a:endParaRPr b="0" lang="en-US" sz="2000" strike="noStrike" u="none">
              <a:solidFill>
                <a:srgbClr val="000000"/>
              </a:solidFill>
              <a:uFillTx/>
              <a:latin typeface="Arial"/>
            </a:endParaRPr>
          </a:p>
          <a:p>
            <a:pPr marL="1143000" indent="0">
              <a:lnSpc>
                <a:spcPct val="90000"/>
              </a:lnSpc>
              <a:spcBef>
                <a:spcPts val="499"/>
              </a:spcBef>
              <a:buNone/>
              <a:tabLst>
                <a:tab algn="l" pos="0"/>
              </a:tabLst>
            </a:pPr>
            <a:r>
              <a:rPr b="1" lang="en-US" sz="2000" strike="noStrike" u="none">
                <a:solidFill>
                  <a:schemeClr val="dk1">
                    <a:lumMod val="85000"/>
                  </a:schemeClr>
                </a:solidFill>
                <a:uFillTx/>
                <a:latin typeface="Arial"/>
                <a:ea typeface="Arial"/>
              </a:rPr>
              <a:t>transform(x, y, c) = select( newX &gt;= 0 &amp;&amp; newX &lt; input.width() &amp;&amp; newY &gt;= 0 &amp;&amp; newY &lt; input.height(), cast&lt;uint8_t&gt;(clamp(value, 0.0f, 255.0f)),cast&lt;uint8_t&gt;(0);</a:t>
            </a:r>
            <a:endParaRPr b="0" lang="en-US" sz="20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2000" strike="noStrike" u="none">
                <a:solidFill>
                  <a:schemeClr val="dk1">
                    <a:lumMod val="85000"/>
                  </a:schemeClr>
                </a:solidFill>
                <a:uFillTx/>
                <a:latin typeface="Arial"/>
                <a:ea typeface="Arial"/>
              </a:rPr>
              <a:t>Using Scheduling Techniques</a:t>
            </a:r>
            <a:endParaRPr b="0" lang="en-US" sz="2000" strike="noStrike" u="none">
              <a:solidFill>
                <a:srgbClr val="000000"/>
              </a:solidFill>
              <a:uFillTx/>
              <a:latin typeface="Arial"/>
            </a:endParaRPr>
          </a:p>
          <a:p>
            <a:pPr marL="457200" indent="457200">
              <a:lnSpc>
                <a:spcPct val="90000"/>
              </a:lnSpc>
              <a:spcBef>
                <a:spcPts val="1001"/>
              </a:spcBef>
              <a:buNone/>
              <a:tabLst>
                <a:tab algn="l" pos="0"/>
              </a:tabLst>
            </a:pPr>
            <a:r>
              <a:rPr b="0" lang="en-US" sz="2000" strike="noStrike" u="none">
                <a:solidFill>
                  <a:schemeClr val="dk1">
                    <a:lumMod val="85000"/>
                  </a:schemeClr>
                </a:solidFill>
                <a:uFillTx/>
                <a:latin typeface="Arial"/>
                <a:ea typeface="Arial"/>
              </a:rPr>
              <a:t>.vectorize(x, 8) : This line applies vectorization. Vectorization leverages the capabilities of modern </a:t>
            </a: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processors that </a:t>
            </a: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can perform the same operation on multiple pieces of data simultaneously.</a:t>
            </a:r>
            <a:endParaRPr b="0" lang="en-US" sz="2000" strike="noStrike" u="none">
              <a:solidFill>
                <a:srgbClr val="000000"/>
              </a:solidFill>
              <a:uFillTx/>
              <a:latin typeface="Arial"/>
            </a:endParaRPr>
          </a:p>
          <a:p>
            <a:pPr marL="457200" indent="457200">
              <a:lnSpc>
                <a:spcPct val="90000"/>
              </a:lnSpc>
              <a:spcBef>
                <a:spcPts val="1001"/>
              </a:spcBef>
              <a:buNone/>
              <a:tabLst>
                <a:tab algn="l" pos="0"/>
              </a:tabLst>
            </a:pPr>
            <a:r>
              <a:rPr b="0" lang="en-US" sz="2000" strike="noStrike" u="none">
                <a:solidFill>
                  <a:schemeClr val="dk1">
                    <a:lumMod val="85000"/>
                  </a:schemeClr>
                </a:solidFill>
                <a:uFillTx/>
                <a:latin typeface="Arial"/>
                <a:ea typeface="Arial"/>
              </a:rPr>
              <a:t>.parallel(y) : This line applies parallelization. Parallelization utilizes multiple cores or processors available in </a:t>
            </a: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your </a:t>
            </a:r>
            <a:r>
              <a:rPr b="0" lang="en-US" sz="2000" strike="noStrike" u="none">
                <a:solidFill>
                  <a:schemeClr val="dk1">
                    <a:lumMod val="85000"/>
                  </a:schemeClr>
                </a:solidFill>
                <a:uFillTx/>
                <a:latin typeface="Arial"/>
                <a:ea typeface="Arial"/>
              </a:rPr>
              <a:t>	</a:t>
            </a:r>
            <a:r>
              <a:rPr b="0" lang="en-US" sz="2000" strike="noStrike" u="none">
                <a:solidFill>
                  <a:schemeClr val="dk1">
                    <a:lumMod val="85000"/>
                  </a:schemeClr>
                </a:solidFill>
                <a:uFillTx/>
                <a:latin typeface="Arial"/>
                <a:ea typeface="Arial"/>
              </a:rPr>
              <a:t>computer to execute different parts of the computation concurrently.</a:t>
            </a:r>
            <a:endParaRPr b="0" lang="en-US" sz="2000" strike="noStrike" u="none">
              <a:solidFill>
                <a:srgbClr val="000000"/>
              </a:solidFill>
              <a:uFillTx/>
              <a:latin typeface="Arial"/>
            </a:endParaRPr>
          </a:p>
          <a:p>
            <a:pPr marL="457200" indent="457200">
              <a:lnSpc>
                <a:spcPct val="90000"/>
              </a:lnSpc>
              <a:spcBef>
                <a:spcPts val="1001"/>
              </a:spcBef>
              <a:buNone/>
              <a:tabLst>
                <a:tab algn="l" pos="0"/>
              </a:tabLst>
            </a:pPr>
            <a:r>
              <a:rPr b="0" lang="en-US" sz="2000" strike="noStrike" u="none">
                <a:solidFill>
                  <a:schemeClr val="dk1">
                    <a:lumMod val="85000"/>
                  </a:schemeClr>
                </a:solidFill>
                <a:uFillTx/>
                <a:latin typeface="Arial"/>
                <a:ea typeface="Arial"/>
              </a:rPr>
              <a:t>.compute_root() : This  likely refers to the concept of a computation to reduce un-necessary computation.</a:t>
            </a:r>
            <a:endParaRPr b="0" lang="en-US" sz="2000" strike="noStrike" u="none">
              <a:solidFill>
                <a:srgbClr val="000000"/>
              </a:solidFill>
              <a:uFillTx/>
              <a:latin typeface="Arial"/>
            </a:endParaRPr>
          </a:p>
        </p:txBody>
      </p:sp>
      <p:sp>
        <p:nvSpPr>
          <p:cNvPr id="90" name="Title 1"/>
          <p:cNvSpPr/>
          <p:nvPr/>
        </p:nvSpPr>
        <p:spPr>
          <a:xfrm>
            <a:off x="338400" y="214920"/>
            <a:ext cx="10491120" cy="729720"/>
          </a:xfrm>
          <a:prstGeom prst="rect">
            <a:avLst/>
          </a:prstGeom>
          <a:noFill/>
          <a:ln w="0">
            <a:noFill/>
          </a:ln>
        </p:spPr>
        <p:style>
          <a:lnRef idx="0"/>
          <a:fillRef idx="0"/>
          <a:effectRef idx="0"/>
          <a:fontRef idx="minor"/>
        </p:style>
        <p:txBody>
          <a:bodyPr anchor="b">
            <a:normAutofit fontScale="85000" lnSpcReduction="19999"/>
          </a:bodyPr>
          <a:p>
            <a:pPr>
              <a:lnSpc>
                <a:spcPct val="90000"/>
              </a:lnSpc>
            </a:pPr>
            <a:r>
              <a:rPr b="0" lang="en-US" sz="3200" strike="noStrike" u="none">
                <a:solidFill>
                  <a:schemeClr val="dk1"/>
                </a:solidFill>
                <a:uFillTx/>
                <a:latin typeface="Calibri"/>
                <a:ea typeface="Calibri"/>
              </a:rPr>
              <a:t>Algorithm: Affine Image Transformation Using Bilinear Interpolation</a:t>
            </a:r>
            <a:endParaRPr b="0" lang="en-US" sz="3200" strike="noStrike" u="none">
              <a:solidFill>
                <a:srgbClr val="ffffff"/>
              </a:solidFill>
              <a:uFillTx/>
              <a:latin typeface="Arial"/>
            </a:endParaRPr>
          </a:p>
        </p:txBody>
      </p:sp>
      <p:pic>
        <p:nvPicPr>
          <p:cNvPr id="91" name="Google Shape;214;p6" descr=""/>
          <p:cNvPicPr/>
          <p:nvPr/>
        </p:nvPicPr>
        <p:blipFill>
          <a:blip r:embed="rId1"/>
          <a:srcRect l="4529" t="20257" r="4160" b="26835"/>
          <a:stretch/>
        </p:blipFill>
        <p:spPr>
          <a:xfrm>
            <a:off x="10942200" y="105120"/>
            <a:ext cx="1249560" cy="4744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840240" y="1205280"/>
            <a:ext cx="11140560" cy="3841920"/>
          </a:xfrm>
          <a:prstGeom prst="rect">
            <a:avLst/>
          </a:prstGeom>
          <a:noFill/>
          <a:ln w="0">
            <a:noFill/>
          </a:ln>
        </p:spPr>
        <p:txBody>
          <a:bodyPr lIns="91440" rIns="91440" tIns="45720" bIns="45720" anchor="t">
            <a:normAutofit lnSpcReduction="9999"/>
          </a:bodyPr>
          <a:p>
            <a:pPr marL="228600" indent="0">
              <a:lnSpc>
                <a:spcPct val="90000"/>
              </a:lnSpc>
              <a:spcBef>
                <a:spcPts val="1001"/>
              </a:spcBef>
              <a:buNone/>
              <a:tabLst>
                <a:tab algn="l" pos="0"/>
              </a:tabLst>
            </a:pPr>
            <a:br>
              <a:rPr sz="1800"/>
            </a:b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tabLst>
                <a:tab algn="l" pos="0"/>
              </a:tabLst>
            </a:pPr>
            <a:r>
              <a:rPr b="1" lang="en-US" sz="1800" strike="noStrike" u="none">
                <a:solidFill>
                  <a:schemeClr val="dk1">
                    <a:lumMod val="85000"/>
                  </a:schemeClr>
                </a:solidFill>
                <a:uFillTx/>
                <a:latin typeface="Arial"/>
                <a:ea typeface="Arial"/>
              </a:rPr>
              <a:t>Realize Output:</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dk1">
                    <a:lumMod val="85000"/>
                  </a:schemeClr>
                </a:solidFill>
                <a:uFillTx/>
                <a:latin typeface="Arial"/>
                <a:ea typeface="Arial"/>
              </a:rPr>
              <a:t> </a:t>
            </a:r>
            <a:r>
              <a:rPr b="0" lang="en-US" sz="1800" strike="noStrike" u="none">
                <a:solidFill>
                  <a:schemeClr val="dk1">
                    <a:lumMod val="85000"/>
                  </a:schemeClr>
                </a:solidFill>
                <a:uFillTx/>
                <a:latin typeface="Arial"/>
                <a:ea typeface="Arial"/>
              </a:rPr>
              <a:t>Initialize the output buffer with the same dimensions and channels as the input:</a:t>
            </a:r>
            <a:endParaRPr b="0" lang="en-US" sz="1800" strike="noStrike" u="none">
              <a:solidFill>
                <a:srgbClr val="000000"/>
              </a:solidFill>
              <a:uFillTx/>
              <a:latin typeface="Arial"/>
            </a:endParaRPr>
          </a:p>
          <a:p>
            <a:pPr lvl="1" marL="971640" indent="-285840">
              <a:lnSpc>
                <a:spcPct val="90000"/>
              </a:lnSpc>
              <a:spcBef>
                <a:spcPts val="499"/>
              </a:spcBef>
              <a:buClr>
                <a:srgbClr val="ffffff"/>
              </a:buClr>
              <a:buFont typeface="Arial"/>
              <a:buChar char="•"/>
              <a:tabLst>
                <a:tab algn="l" pos="0"/>
              </a:tabLst>
            </a:pPr>
            <a:r>
              <a:rPr b="0" lang="en-US" sz="1800" strike="noStrike" u="none">
                <a:solidFill>
                  <a:schemeClr val="dk1">
                    <a:lumMod val="85000"/>
                  </a:schemeClr>
                </a:solidFill>
                <a:uFillTx/>
                <a:latin typeface="Arial"/>
                <a:ea typeface="Arial"/>
              </a:rPr>
              <a:t>excute the transformation and store the result in the output buffer made with the newHeight and </a:t>
            </a:r>
            <a:endParaRPr b="0" lang="en-US" sz="1800" strike="noStrike" u="none">
              <a:solidFill>
                <a:srgbClr val="000000"/>
              </a:solidFill>
              <a:uFillTx/>
              <a:latin typeface="Arial"/>
            </a:endParaRPr>
          </a:p>
          <a:p>
            <a:pPr marL="685800" indent="0">
              <a:lnSpc>
                <a:spcPct val="90000"/>
              </a:lnSpc>
              <a:spcBef>
                <a:spcPts val="499"/>
              </a:spcBef>
              <a:buNone/>
              <a:tabLst>
                <a:tab algn="l" pos="0"/>
              </a:tabLst>
            </a:pPr>
            <a:r>
              <a:rPr b="0" lang="en-US" sz="1800" strike="noStrike" u="none">
                <a:solidFill>
                  <a:schemeClr val="dk1">
                    <a:lumMod val="85000"/>
                  </a:schemeClr>
                </a:solidFill>
                <a:uFillTx/>
                <a:latin typeface="Arial"/>
                <a:ea typeface="Arial"/>
              </a:rPr>
              <a:t>     </a:t>
            </a:r>
            <a:r>
              <a:rPr b="0" lang="en-US" sz="1800" strike="noStrike" u="none">
                <a:solidFill>
                  <a:schemeClr val="dk1">
                    <a:lumMod val="85000"/>
                  </a:schemeClr>
                </a:solidFill>
                <a:uFillTx/>
                <a:latin typeface="Arial"/>
                <a:ea typeface="Arial"/>
              </a:rPr>
              <a:t>newWidth.</a:t>
            </a:r>
            <a:endParaRPr b="0" lang="en-US" sz="1800" strike="noStrike" u="none">
              <a:solidFill>
                <a:srgbClr val="000000"/>
              </a:solidFill>
              <a:uFillTx/>
              <a:latin typeface="Arial"/>
            </a:endParaRPr>
          </a:p>
          <a:p>
            <a:pPr marL="685800" indent="0">
              <a:lnSpc>
                <a:spcPct val="90000"/>
              </a:lnSpc>
              <a:spcBef>
                <a:spcPts val="499"/>
              </a:spcBef>
              <a:buNone/>
              <a:tabLst>
                <a:tab algn="l" pos="0"/>
              </a:tabLst>
            </a:pPr>
            <a:r>
              <a:rPr b="1" lang="en-US" sz="1800" strike="noStrike" u="none">
                <a:solidFill>
                  <a:schemeClr val="dk1">
                    <a:lumMod val="85000"/>
                  </a:schemeClr>
                </a:solidFill>
                <a:uFillTx/>
                <a:latin typeface="Arial"/>
                <a:ea typeface="Arial"/>
              </a:rPr>
              <a:t>   </a:t>
            </a:r>
            <a:r>
              <a:rPr b="1" lang="en-US" sz="1800" strike="noStrike" u="none">
                <a:solidFill>
                  <a:schemeClr val="dk1">
                    <a:lumMod val="85000"/>
                  </a:schemeClr>
                </a:solidFill>
                <a:uFillTx/>
                <a:latin typeface="Arial"/>
                <a:ea typeface="Arial"/>
              </a:rPr>
              <a:t>	</a:t>
            </a:r>
            <a:r>
              <a:rPr b="1" lang="en-US" sz="1800" strike="noStrike" u="none">
                <a:solidFill>
                  <a:schemeClr val="dk1">
                    <a:lumMod val="85000"/>
                  </a:schemeClr>
                </a:solidFill>
                <a:uFillTx/>
                <a:latin typeface="Arial"/>
                <a:ea typeface="Arial"/>
              </a:rPr>
              <a:t>transform.realize(output).</a:t>
            </a:r>
            <a:endParaRPr b="0" lang="en-US" sz="1800" strike="noStrike" u="none">
              <a:solidFill>
                <a:srgbClr val="000000"/>
              </a:solidFill>
              <a:uFillTx/>
              <a:latin typeface="Arial"/>
            </a:endParaRPr>
          </a:p>
          <a:p>
            <a:pPr marL="685800" indent="0">
              <a:lnSpc>
                <a:spcPct val="90000"/>
              </a:lnSpc>
              <a:spcBef>
                <a:spcPts val="499"/>
              </a:spcBef>
              <a:buNone/>
              <a:tabLst>
                <a:tab algn="l" pos="0"/>
              </a:tabLst>
            </a:pPr>
            <a:endParaRPr b="0" lang="en-US" sz="1800" strike="noStrike" u="none">
              <a:solidFill>
                <a:srgbClr val="000000"/>
              </a:solidFill>
              <a:uFillTx/>
              <a:latin typeface="Arial"/>
            </a:endParaRPr>
          </a:p>
          <a:p>
            <a:pPr marL="685800" indent="0">
              <a:lnSpc>
                <a:spcPct val="90000"/>
              </a:lnSpc>
              <a:spcBef>
                <a:spcPts val="499"/>
              </a:spcBef>
              <a:buNone/>
              <a:tabLst>
                <a:tab algn="l" pos="0"/>
              </a:tabLst>
            </a:pPr>
            <a:endParaRPr b="0" lang="en-US" sz="1800" strike="noStrike" u="none">
              <a:solidFill>
                <a:srgbClr val="000000"/>
              </a:solidFill>
              <a:uFillTx/>
              <a:latin typeface="Arial"/>
            </a:endParaRPr>
          </a:p>
          <a:p>
            <a:pPr marL="685800" indent="0">
              <a:lnSpc>
                <a:spcPct val="90000"/>
              </a:lnSpc>
              <a:spcBef>
                <a:spcPts val="499"/>
              </a:spcBef>
              <a:buNone/>
              <a:tabLst>
                <a:tab algn="l" pos="0"/>
              </a:tabLst>
            </a:pPr>
            <a:r>
              <a:rPr b="0" lang="en-US" sz="1200" strike="noStrike" u="none">
                <a:solidFill>
                  <a:schemeClr val="dk1">
                    <a:lumMod val="85000"/>
                  </a:schemeClr>
                </a:solidFill>
                <a:uFillTx/>
                <a:latin typeface="Arial"/>
                <a:ea typeface="Arial"/>
              </a:rPr>
              <a:t>References:</a:t>
            </a:r>
            <a:endParaRPr b="0" lang="en-US" sz="1200" strike="noStrike" u="none">
              <a:solidFill>
                <a:srgbClr val="000000"/>
              </a:solidFill>
              <a:uFillTx/>
              <a:latin typeface="Arial"/>
            </a:endParaRPr>
          </a:p>
          <a:p>
            <a:pPr marL="685800" indent="0">
              <a:lnSpc>
                <a:spcPct val="90000"/>
              </a:lnSpc>
              <a:spcBef>
                <a:spcPts val="499"/>
              </a:spcBef>
              <a:buNone/>
              <a:tabLst>
                <a:tab algn="l" pos="0"/>
              </a:tabLst>
            </a:pPr>
            <a:r>
              <a:rPr b="0" lang="en-US" sz="1200" strike="noStrike" u="none">
                <a:solidFill>
                  <a:schemeClr val="dk1">
                    <a:lumMod val="85000"/>
                  </a:schemeClr>
                </a:solidFill>
                <a:uFillTx/>
                <a:latin typeface="Arial"/>
                <a:ea typeface="Arial"/>
              </a:rPr>
              <a:t>1. https://halide-lang.org/</a:t>
            </a:r>
            <a:endParaRPr b="0" lang="en-US" sz="1200" strike="noStrike" u="none">
              <a:solidFill>
                <a:srgbClr val="000000"/>
              </a:solidFill>
              <a:uFillTx/>
              <a:latin typeface="Arial"/>
            </a:endParaRPr>
          </a:p>
          <a:p>
            <a:pPr marL="685800" indent="0">
              <a:lnSpc>
                <a:spcPct val="90000"/>
              </a:lnSpc>
              <a:spcBef>
                <a:spcPts val="499"/>
              </a:spcBef>
              <a:buNone/>
              <a:tabLst>
                <a:tab algn="l" pos="0"/>
              </a:tabLst>
            </a:pPr>
            <a:r>
              <a:rPr b="0" lang="en-US" sz="1200" strike="noStrike" u="none">
                <a:solidFill>
                  <a:schemeClr val="dk1">
                    <a:lumMod val="85000"/>
                  </a:schemeClr>
                </a:solidFill>
                <a:uFillTx/>
                <a:latin typeface="Arial"/>
                <a:ea typeface="Arial"/>
              </a:rPr>
              <a:t>2. Image source link :  https://web.archive.org/web/20110526212755/http://sipi.usc.edu/database/database.php?volume=misc</a:t>
            </a:r>
            <a:endParaRPr b="0" lang="en-US" sz="1200" strike="noStrike" u="none">
              <a:solidFill>
                <a:srgbClr val="000000"/>
              </a:solidFill>
              <a:uFillTx/>
              <a:latin typeface="Arial"/>
            </a:endParaRPr>
          </a:p>
          <a:p>
            <a:pPr marL="685800" indent="0">
              <a:lnSpc>
                <a:spcPct val="90000"/>
              </a:lnSpc>
              <a:spcBef>
                <a:spcPts val="499"/>
              </a:spcBef>
              <a:buNone/>
              <a:tabLst>
                <a:tab algn="l" pos="0"/>
              </a:tabLst>
            </a:pPr>
            <a:r>
              <a:rPr b="0" lang="en-US" sz="1200" strike="noStrike" u="none">
                <a:solidFill>
                  <a:schemeClr val="dk1">
                    <a:lumMod val="85000"/>
                  </a:schemeClr>
                </a:solidFill>
                <a:uFillTx/>
                <a:latin typeface="Arial"/>
                <a:ea typeface="Arial"/>
              </a:rPr>
              <a:t>2. Halide: A Language and Compiler for Optimizing Parallelism</a:t>
            </a:r>
            <a:endParaRPr b="0" lang="en-US" sz="1200" strike="noStrike" u="none">
              <a:solidFill>
                <a:srgbClr val="000000"/>
              </a:solidFill>
              <a:uFillTx/>
              <a:latin typeface="Arial"/>
            </a:endParaRPr>
          </a:p>
          <a:p>
            <a:pPr marL="685800" indent="0">
              <a:lnSpc>
                <a:spcPct val="90000"/>
              </a:lnSpc>
              <a:spcBef>
                <a:spcPts val="499"/>
              </a:spcBef>
              <a:buNone/>
              <a:tabLst>
                <a:tab algn="l" pos="0"/>
              </a:tabLst>
            </a:pPr>
            <a:r>
              <a:rPr b="0" lang="en-US" sz="1200" strike="noStrike" u="none">
                <a:solidFill>
                  <a:schemeClr val="dk1">
                    <a:lumMod val="85000"/>
                  </a:schemeClr>
                </a:solidFill>
                <a:uFillTx/>
                <a:latin typeface="Arial"/>
                <a:ea typeface="Arial"/>
              </a:rPr>
              <a:t>3. Introduction to algorithms, by Cormen</a:t>
            </a:r>
            <a:endParaRPr b="0" lang="en-US" sz="1200" strike="noStrike" u="none">
              <a:solidFill>
                <a:srgbClr val="000000"/>
              </a:solidFill>
              <a:uFillTx/>
              <a:latin typeface="Arial"/>
            </a:endParaRPr>
          </a:p>
          <a:p>
            <a:pPr marL="457200" indent="457200">
              <a:lnSpc>
                <a:spcPct val="90000"/>
              </a:lnSpc>
              <a:spcBef>
                <a:spcPts val="1001"/>
              </a:spcBef>
              <a:buNone/>
              <a:tabLst>
                <a:tab algn="l" pos="0"/>
              </a:tabLst>
            </a:pPr>
            <a:endParaRPr b="0" lang="en-US" sz="1800" strike="noStrike" u="none">
              <a:solidFill>
                <a:srgbClr val="000000"/>
              </a:solidFill>
              <a:uFillTx/>
              <a:latin typeface="Arial"/>
            </a:endParaRPr>
          </a:p>
          <a:p>
            <a:pPr marL="457200" indent="457200">
              <a:lnSpc>
                <a:spcPct val="90000"/>
              </a:lnSpc>
              <a:spcBef>
                <a:spcPts val="1001"/>
              </a:spcBef>
              <a:buNone/>
              <a:tabLst>
                <a:tab algn="l" pos="0"/>
              </a:tabLst>
            </a:pPr>
            <a:endParaRPr b="0" lang="en-US" sz="1800" strike="noStrike" u="none">
              <a:solidFill>
                <a:srgbClr val="000000"/>
              </a:solidFill>
              <a:uFillTx/>
              <a:latin typeface="Arial"/>
            </a:endParaRPr>
          </a:p>
          <a:p>
            <a:pPr marL="457200" indent="457200">
              <a:lnSpc>
                <a:spcPct val="90000"/>
              </a:lnSpc>
              <a:spcBef>
                <a:spcPts val="1001"/>
              </a:spcBef>
              <a:buNone/>
              <a:tabLst>
                <a:tab algn="l" pos="0"/>
              </a:tabLst>
            </a:pPr>
            <a:endParaRPr b="0" lang="en-US" sz="1800" strike="noStrike" u="none">
              <a:solidFill>
                <a:srgbClr val="000000"/>
              </a:solidFill>
              <a:uFillTx/>
              <a:latin typeface="Arial"/>
            </a:endParaRPr>
          </a:p>
          <a:p>
            <a:pPr marL="457200" indent="457200">
              <a:lnSpc>
                <a:spcPct val="90000"/>
              </a:lnSpc>
              <a:spcBef>
                <a:spcPts val="1001"/>
              </a:spcBef>
              <a:buNone/>
              <a:tabLst>
                <a:tab algn="l" pos="0"/>
              </a:tabLst>
            </a:pPr>
            <a:endParaRPr b="0" lang="en-US" sz="1800" strike="noStrike" u="none">
              <a:solidFill>
                <a:srgbClr val="000000"/>
              </a:solidFill>
              <a:uFillTx/>
              <a:latin typeface="Arial"/>
            </a:endParaRPr>
          </a:p>
        </p:txBody>
      </p:sp>
      <p:pic>
        <p:nvPicPr>
          <p:cNvPr id="93"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94" name="Title 1"/>
          <p:cNvSpPr/>
          <p:nvPr/>
        </p:nvSpPr>
        <p:spPr>
          <a:xfrm>
            <a:off x="507960" y="-92160"/>
            <a:ext cx="7700400" cy="770040"/>
          </a:xfrm>
          <a:prstGeom prst="rect">
            <a:avLst/>
          </a:prstGeom>
          <a:noFill/>
          <a:ln w="0">
            <a:noFill/>
          </a:ln>
        </p:spPr>
        <p:style>
          <a:lnRef idx="0"/>
          <a:fillRef idx="0"/>
          <a:effectRef idx="0"/>
          <a:fontRef idx="minor"/>
        </p:style>
        <p:txBody>
          <a:bodyPr anchor="b">
            <a:normAutofit fontScale="92500" lnSpcReduction="19999"/>
          </a:bodyPr>
          <a:p>
            <a:pPr>
              <a:lnSpc>
                <a:spcPct val="90000"/>
              </a:lnSpc>
            </a:pPr>
            <a:r>
              <a:rPr b="0" lang="en-US" sz="3200" strike="noStrike" u="none">
                <a:solidFill>
                  <a:schemeClr val="dk1"/>
                </a:solidFill>
                <a:uFillTx/>
                <a:latin typeface="Calibri"/>
                <a:ea typeface="Calibri"/>
              </a:rPr>
              <a:t>Affine Transformation With User defined Function</a:t>
            </a:r>
            <a:endParaRPr b="0" lang="en-US" sz="3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Google Shape;216;p6"/>
          <p:cNvSpPr/>
          <p:nvPr/>
        </p:nvSpPr>
        <p:spPr>
          <a:xfrm>
            <a:off x="429480" y="1593000"/>
            <a:ext cx="11137320" cy="1401120"/>
          </a:xfrm>
          <a:prstGeom prst="rect">
            <a:avLst/>
          </a:prstGeom>
          <a:noFill/>
          <a:ln w="0">
            <a:noFill/>
          </a:ln>
        </p:spPr>
        <p:style>
          <a:lnRef idx="0"/>
          <a:fillRef idx="0"/>
          <a:effectRef idx="0"/>
          <a:fontRef idx="minor"/>
        </p:style>
        <p:txBody>
          <a:bodyPr tIns="91440" bIns="91440" anchor="t">
            <a:spAutoFit/>
          </a:bodyPr>
          <a:p>
            <a:pPr>
              <a:lnSpc>
                <a:spcPct val="100000"/>
              </a:lnSpc>
            </a:pPr>
            <a:r>
              <a:rPr b="0" lang="en-US" sz="1600" strike="noStrike" u="none">
                <a:solidFill>
                  <a:schemeClr val="dk1"/>
                </a:solidFill>
                <a:uFillTx/>
                <a:latin typeface="Arial"/>
                <a:ea typeface="Arial"/>
              </a:rPr>
              <a:t>• </a:t>
            </a:r>
            <a:r>
              <a:rPr b="1" lang="en-US" sz="1600" strike="noStrike" u="none">
                <a:solidFill>
                  <a:schemeClr val="dk1"/>
                </a:solidFill>
                <a:uFillTx/>
                <a:latin typeface="Arial"/>
                <a:ea typeface="Arial"/>
              </a:rPr>
              <a:t>Tile: </a:t>
            </a:r>
            <a:r>
              <a:rPr b="0" lang="en-US" sz="1600" strike="noStrike" u="none">
                <a:solidFill>
                  <a:schemeClr val="dk1"/>
                </a:solidFill>
                <a:uFillTx/>
                <a:latin typeface="Arial"/>
                <a:ea typeface="Arial"/>
              </a:rPr>
              <a:t>Tiling, in the context of image processing, refers to dividing a large image into smaller, manageable sections called tiles or blocks. Each tile represents a portion of the original image, typically of equal size.</a:t>
            </a: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 </a:t>
            </a:r>
            <a:r>
              <a:rPr b="1" lang="en-US" sz="1600" strike="noStrike" u="none">
                <a:solidFill>
                  <a:schemeClr val="dk1"/>
                </a:solidFill>
                <a:uFillTx/>
                <a:latin typeface="Arial"/>
                <a:ea typeface="Arial"/>
              </a:rPr>
              <a:t>vectorize</a:t>
            </a:r>
            <a:r>
              <a:rPr b="0" lang="en-US" sz="1600" strike="noStrike" u="none">
                <a:solidFill>
                  <a:schemeClr val="dk1"/>
                </a:solidFill>
                <a:uFillTx/>
                <a:latin typeface="Arial"/>
                <a:ea typeface="Arial"/>
              </a:rPr>
              <a:t>: vectorized scheduling enhances computational throughput by processing multiple data elements in parallel, thereby accelerating the overall execution time.</a:t>
            </a: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 </a:t>
            </a:r>
            <a:r>
              <a:rPr b="1" lang="en-US" sz="1600" strike="noStrike" u="none">
                <a:solidFill>
                  <a:schemeClr val="dk1"/>
                </a:solidFill>
                <a:uFillTx/>
                <a:latin typeface="Arial"/>
                <a:ea typeface="Arial"/>
              </a:rPr>
              <a:t>parallel</a:t>
            </a:r>
            <a:r>
              <a:rPr b="0" lang="en-US" sz="1600" strike="noStrike" u="none">
                <a:solidFill>
                  <a:schemeClr val="dk1"/>
                </a:solidFill>
                <a:uFillTx/>
                <a:latin typeface="Arial"/>
                <a:ea typeface="Arial"/>
              </a:rPr>
              <a:t>: parallelizes computation along the dimension given by the variable.</a:t>
            </a:r>
            <a:endParaRPr b="0" lang="en-US" sz="1600" strike="noStrike" u="none">
              <a:solidFill>
                <a:srgbClr val="ffffff"/>
              </a:solidFill>
              <a:uFillTx/>
              <a:latin typeface="Arial"/>
            </a:endParaRPr>
          </a:p>
        </p:txBody>
      </p:sp>
      <p:pic>
        <p:nvPicPr>
          <p:cNvPr id="96" name="Google Shape;214;p6" descr=""/>
          <p:cNvPicPr/>
          <p:nvPr/>
        </p:nvPicPr>
        <p:blipFill>
          <a:blip r:embed="rId1"/>
          <a:srcRect l="4529" t="20257" r="4160" b="26835"/>
          <a:stretch/>
        </p:blipFill>
        <p:spPr>
          <a:xfrm>
            <a:off x="10942200" y="105120"/>
            <a:ext cx="1249560" cy="474480"/>
          </a:xfrm>
          <a:prstGeom prst="rect">
            <a:avLst/>
          </a:prstGeom>
          <a:ln w="0">
            <a:noFill/>
          </a:ln>
        </p:spPr>
      </p:pic>
      <p:pic>
        <p:nvPicPr>
          <p:cNvPr id="97" name="Picture 5" descr=""/>
          <p:cNvPicPr/>
          <p:nvPr/>
        </p:nvPicPr>
        <p:blipFill>
          <a:blip r:embed="rId2"/>
          <a:stretch/>
        </p:blipFill>
        <p:spPr>
          <a:xfrm>
            <a:off x="1302840" y="3040920"/>
            <a:ext cx="9097200" cy="2990880"/>
          </a:xfrm>
          <a:prstGeom prst="rect">
            <a:avLst/>
          </a:prstGeom>
          <a:ln w="0">
            <a:noFill/>
          </a:ln>
        </p:spPr>
      </p:pic>
      <p:sp>
        <p:nvSpPr>
          <p:cNvPr id="98" name="Google Shape;212;p6"/>
          <p:cNvSpPr/>
          <p:nvPr/>
        </p:nvSpPr>
        <p:spPr>
          <a:xfrm>
            <a:off x="381960" y="-4716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Comparison between Parallel ,vectorized and parallel tiled </a:t>
            </a:r>
            <a:endParaRPr b="0" lang="en-US" sz="3200" strike="noStrike" u="none">
              <a:solidFill>
                <a:srgbClr val="ffffff"/>
              </a:solidFill>
              <a:uFillTx/>
              <a:latin typeface="Arial"/>
            </a:endParaRPr>
          </a:p>
        </p:txBody>
      </p:sp>
      <p:sp>
        <p:nvSpPr>
          <p:cNvPr id="99"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4, 2024</a:t>
            </a:r>
            <a:endParaRPr b="0" lang="en-US" sz="2660" strike="noStrike" u="none">
              <a:solidFill>
                <a:srgbClr val="ffffff"/>
              </a:solidFill>
              <a:uFillTx/>
              <a:latin typeface="Arial"/>
            </a:endParaRPr>
          </a:p>
        </p:txBody>
      </p:sp>
      <p:sp>
        <p:nvSpPr>
          <p:cNvPr id="100"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Google Shape;216;p6"/>
          <p:cNvSpPr/>
          <p:nvPr/>
        </p:nvSpPr>
        <p:spPr>
          <a:xfrm>
            <a:off x="429480" y="1593000"/>
            <a:ext cx="11137320" cy="5056920"/>
          </a:xfrm>
          <a:prstGeom prst="rect">
            <a:avLst/>
          </a:prstGeom>
          <a:noFill/>
          <a:ln w="0">
            <a:noFill/>
          </a:ln>
        </p:spPr>
        <p:style>
          <a:lnRef idx="0"/>
          <a:fillRef idx="0"/>
          <a:effectRef idx="0"/>
          <a:fontRef idx="minor"/>
        </p:style>
        <p:txBody>
          <a:bodyPr tIns="91440" bIns="91440" anchor="t">
            <a:spAutoFit/>
          </a:bodyPr>
          <a:p>
            <a:pPr>
              <a:lnSpc>
                <a:spcPct val="100000"/>
              </a:lnSpc>
            </a:pPr>
            <a:r>
              <a:rPr b="0" lang="en-US" sz="1600" strike="noStrike" u="none">
                <a:solidFill>
                  <a:schemeClr val="dk1"/>
                </a:solidFill>
                <a:uFillTx/>
                <a:latin typeface="Arial"/>
                <a:ea typeface="Arial"/>
              </a:rPr>
              <a:t>Implemented the affine transformation using three methods: tiling, parallel processing, and vectorization. To evaluate their performance, I compared the following approaches:</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solidFill>
                <a:uFillTx/>
                <a:latin typeface="Arial"/>
                <a:ea typeface="Arial"/>
              </a:rPr>
              <a:t>Combining all three methods: tiling, parallel processing, and vectorization.</a:t>
            </a: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solidFill>
                <a:uFillTx/>
                <a:latin typeface="Arial"/>
                <a:ea typeface="Arial"/>
              </a:rPr>
              <a:t>Using only parallel processing.</a:t>
            </a:r>
            <a:endParaRPr b="0" lang="en-US" sz="1600" strike="noStrike" u="none">
              <a:solidFill>
                <a:srgbClr val="ffffff"/>
              </a:solidFill>
              <a:uFillTx/>
              <a:latin typeface="Arial"/>
            </a:endParaRPr>
          </a:p>
          <a:p>
            <a:pPr marL="285840" indent="-285840">
              <a:lnSpc>
                <a:spcPct val="100000"/>
              </a:lnSpc>
              <a:buClr>
                <a:srgbClr val="000000"/>
              </a:buClr>
              <a:buFont typeface="Arial"/>
              <a:buChar char="•"/>
            </a:pPr>
            <a:r>
              <a:rPr b="0" lang="en-US" sz="1600" strike="noStrike" u="none">
                <a:solidFill>
                  <a:schemeClr val="dk1"/>
                </a:solidFill>
                <a:uFillTx/>
                <a:latin typeface="Arial"/>
                <a:ea typeface="Arial"/>
              </a:rPr>
              <a:t>Using only vectorization.</a:t>
            </a:r>
            <a:endParaRPr b="0" lang="en-US" sz="1600" strike="noStrike" u="none">
              <a:solidFill>
                <a:srgbClr val="ffffff"/>
              </a:solidFill>
              <a:uFillTx/>
              <a:latin typeface="Arial"/>
            </a:endParaRPr>
          </a:p>
          <a:p>
            <a:pPr>
              <a:lnSpc>
                <a:spcPct val="100000"/>
              </a:lnSpc>
            </a:pPr>
            <a:r>
              <a:rPr b="0" lang="en-US" sz="1600" strike="noStrike" u="none">
                <a:solidFill>
                  <a:schemeClr val="dk1"/>
                </a:solidFill>
                <a:uFillTx/>
                <a:latin typeface="Arial"/>
                <a:ea typeface="Arial"/>
              </a:rPr>
              <a:t>The results of these comparisons demonstrate the efficiency and effectiveness of each approach.</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IN" sz="1600" strike="noStrike" u="none">
                <a:solidFill>
                  <a:schemeClr val="dk1"/>
                </a:solidFill>
                <a:uFillTx/>
                <a:latin typeface="Arial"/>
                <a:ea typeface="Arial"/>
              </a:rPr>
              <a:t>Reference: </a:t>
            </a:r>
            <a:r>
              <a:rPr b="0" lang="en-IN" sz="1600" strike="noStrike" u="none">
                <a:solidFill>
                  <a:schemeClr val="dk1"/>
                </a:solidFill>
                <a:uFillTx/>
                <a:latin typeface="Arial"/>
                <a:ea typeface="Arial"/>
              </a:rPr>
              <a:t>https://digitalassets.lib.berkeley.edu/techreports/ucb/incoming/EECS-2023-228.pdf</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pic>
        <p:nvPicPr>
          <p:cNvPr id="102"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03" name="Google Shape;212;p6"/>
          <p:cNvSpPr/>
          <p:nvPr/>
        </p:nvSpPr>
        <p:spPr>
          <a:xfrm>
            <a:off x="381960" y="-4716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Comparison between Parallel ,vectorized and parallel tiled </a:t>
            </a:r>
            <a:endParaRPr b="0" lang="en-US" sz="3200" strike="noStrike" u="none">
              <a:solidFill>
                <a:srgbClr val="ffffff"/>
              </a:solidFill>
              <a:uFillTx/>
              <a:latin typeface="Arial"/>
            </a:endParaRPr>
          </a:p>
        </p:txBody>
      </p:sp>
      <p:graphicFrame>
        <p:nvGraphicFramePr>
          <p:cNvPr id="104" name="Table 1"/>
          <p:cNvGraphicFramePr/>
          <p:nvPr/>
        </p:nvGraphicFramePr>
        <p:xfrm>
          <a:off x="2022120" y="3523680"/>
          <a:ext cx="7951680" cy="2373480"/>
        </p:xfrm>
        <a:graphic>
          <a:graphicData uri="http://schemas.openxmlformats.org/drawingml/2006/table">
            <a:tbl>
              <a:tblPr/>
              <a:tblGrid>
                <a:gridCol w="824760"/>
                <a:gridCol w="853560"/>
                <a:gridCol w="757800"/>
                <a:gridCol w="604080"/>
                <a:gridCol w="306720"/>
                <a:gridCol w="920880"/>
                <a:gridCol w="920880"/>
                <a:gridCol w="920880"/>
                <a:gridCol w="920880"/>
                <a:gridCol w="920880"/>
              </a:tblGrid>
              <a:tr h="154440">
                <a:tc gridSpan="4">
                  <a:txBody>
                    <a:bodyPr lIns="6120" rIns="6120" tIns="6120" bIns="0" anchor="ctr">
                      <a:noAutofit/>
                    </a:bodyPr>
                    <a:p>
                      <a:pPr algn="ctr">
                        <a:lnSpc>
                          <a:spcPct val="100000"/>
                        </a:lnSpc>
                      </a:pPr>
                      <a:r>
                        <a:rPr b="0" lang="en-IN" sz="1100" strike="noStrike" u="none">
                          <a:solidFill>
                            <a:schemeClr val="dk1"/>
                          </a:solidFill>
                          <a:uFillTx/>
                          <a:latin typeface="Arial"/>
                          <a:ea typeface="Arial"/>
                        </a:rPr>
                        <a:t>Image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rowSpan="7">
                  <a:txBody>
                    <a:bodyPr lIns="6120" rIns="6120" tIns="6120" bIns="0" anchor="ctr">
                      <a:noAutofit/>
                    </a:bodyPr>
                    <a:p>
                      <a:pPr algn="ctr">
                        <a:lnSpc>
                          <a:spcPct val="100000"/>
                        </a:lnSpc>
                      </a:pPr>
                      <a:r>
                        <a:rPr b="0" lang="en-IN" sz="1100" strike="noStrike" u="none">
                          <a:solidFill>
                            <a:schemeClr val="dk1"/>
                          </a:solidFill>
                          <a:uFillTx/>
                          <a:latin typeface="Arial"/>
                          <a:ea typeface="Arial"/>
                        </a:rPr>
                        <a:t> </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gridSpan="5">
                  <a:txBody>
                    <a:bodyPr lIns="6120" rIns="6120" tIns="6120" bIns="0" anchor="ctr">
                      <a:noAutofit/>
                    </a:bodyPr>
                    <a:p>
                      <a:pPr algn="ctr">
                        <a:lnSpc>
                          <a:spcPct val="100000"/>
                        </a:lnSpc>
                      </a:pPr>
                      <a:r>
                        <a:rPr b="0" lang="en-IN" sz="1100" strike="noStrike" u="none">
                          <a:solidFill>
                            <a:schemeClr val="dk1"/>
                          </a:solidFill>
                          <a:uFillTx/>
                          <a:latin typeface="Arial"/>
                          <a:ea typeface="Arial"/>
                        </a:rPr>
                        <a:t>Time (sec)</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r>
              <a:tr h="50760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Filename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Description</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Size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Type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In User Defined</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Inbuild (Warp-Affine)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tile &amp; parallel &amp; vectorize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parallel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vectorize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30348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test_img_01</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Girl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256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2.797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0.554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2.573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3.265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2.298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30348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House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257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2.808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0.627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2.543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3.342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2.396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30348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Tree</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258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2.763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0.593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2.418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3.025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2.313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30348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Jelly_beans</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259 X 256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3.323</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0.564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3.348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3.167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2.856</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303480">
                <a:tc>
                  <a:txBody>
                    <a:bodyPr lIns="6120" rIns="6120" tIns="6120" bIns="0" anchor="ctr">
                      <a:noAutofit/>
                    </a:bodyPr>
                    <a:p>
                      <a:pPr algn="ctr">
                        <a:lnSpc>
                          <a:spcPct val="100000"/>
                        </a:lnSpc>
                      </a:pPr>
                      <a:r>
                        <a:rPr b="0" lang="en-IN" sz="1100" strike="noStrike" u="none">
                          <a:solidFill>
                            <a:schemeClr val="dk1"/>
                          </a:solidFill>
                          <a:uFillTx/>
                          <a:latin typeface="Arial"/>
                          <a:ea typeface="Arial"/>
                        </a:rPr>
                        <a:t>test_img_05</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Mandrill</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512 X 512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v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3.07</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0.664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3.592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3.058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2.704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154440">
                <a:tc gridSpan="3">
                  <a:txBody>
                    <a:bodyPr lIns="6120" rIns="6120" tIns="6120" bIns="0" anchor="ctr">
                      <a:noAutofit/>
                    </a:bodyPr>
                    <a:p>
                      <a:pPr algn="ctr">
                        <a:lnSpc>
                          <a:spcPct val="100000"/>
                        </a:lnSpc>
                      </a:pPr>
                      <a:r>
                        <a:rPr b="0" lang="en-IN" sz="1100" strike="noStrike" u="none">
                          <a:solidFill>
                            <a:schemeClr val="dk1"/>
                          </a:solidFill>
                          <a:uFillTx/>
                          <a:latin typeface="Arial"/>
                          <a:ea typeface="Arial"/>
                        </a:rPr>
                        <a:t> </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gridSpan="2">
                  <a:txBody>
                    <a:bodyPr lIns="6120" rIns="6120" tIns="6120" bIns="0" anchor="ctr">
                      <a:noAutofit/>
                    </a:bodyPr>
                    <a:p>
                      <a:pPr algn="ctr">
                        <a:lnSpc>
                          <a:spcPct val="100000"/>
                        </a:lnSpc>
                      </a:pPr>
                      <a:r>
                        <a:rPr b="0" lang="en-IN" sz="1100" strike="noStrike" u="none">
                          <a:solidFill>
                            <a:schemeClr val="dk1"/>
                          </a:solidFill>
                          <a:uFillTx/>
                          <a:latin typeface="Arial"/>
                          <a:ea typeface="Arial"/>
                        </a:rPr>
                        <a:t>Avg:</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2.9522</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0.6004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2.8948</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3.1714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120" rIns="6120" tIns="6120" bIns="0" anchor="ctr">
                      <a:noAutofit/>
                    </a:bodyPr>
                    <a:p>
                      <a:pPr algn="ctr">
                        <a:lnSpc>
                          <a:spcPct val="100000"/>
                        </a:lnSpc>
                      </a:pPr>
                      <a:r>
                        <a:rPr b="0" lang="en-IN" sz="1100" strike="noStrike" u="none">
                          <a:solidFill>
                            <a:schemeClr val="dk1"/>
                          </a:solidFill>
                          <a:uFillTx/>
                          <a:latin typeface="Arial"/>
                          <a:ea typeface="Arial"/>
                        </a:rPr>
                        <a:t>2.5134</a:t>
                      </a:r>
                      <a:endParaRPr b="0" lang="en-US" sz="1100" strike="noStrike" u="none">
                        <a:solidFill>
                          <a:srgbClr val="ffffff"/>
                        </a:solidFill>
                        <a:uFillTx/>
                        <a:latin typeface="Arial"/>
                      </a:endParaRPr>
                    </a:p>
                  </a:txBody>
                  <a:tcPr anchor="ctr" marL="6120" marR="612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p:nvPr>
        </p:nvSpPr>
        <p:spPr>
          <a:xfrm>
            <a:off x="2196720" y="526680"/>
            <a:ext cx="9156960" cy="56498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IN" sz="6000" strike="noStrike" u="none">
                <a:solidFill>
                  <a:schemeClr val="accent1"/>
                </a:solidFill>
                <a:uFillTx/>
                <a:latin typeface="Cambria"/>
                <a:ea typeface="Cambria"/>
              </a:rPr>
              <a:t>Hermite Expansion</a:t>
            </a:r>
            <a:endParaRPr b="0" lang="en-US" sz="6000" strike="noStrike" u="none">
              <a:solidFill>
                <a:srgbClr val="000000"/>
              </a:solidFill>
              <a:uFillTx/>
              <a:latin typeface="Arial"/>
            </a:endParaRPr>
          </a:p>
        </p:txBody>
      </p:sp>
      <p:sp>
        <p:nvSpPr>
          <p:cNvPr id="106" name="Google Shape;222;p7"/>
          <p:cNvSpPr/>
          <p:nvPr/>
        </p:nvSpPr>
        <p:spPr>
          <a:xfrm>
            <a:off x="764640" y="-24480"/>
            <a:ext cx="984240" cy="688212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07" name="Google Shape;223;p7"/>
          <p:cNvSpPr/>
          <p:nvPr/>
        </p:nvSpPr>
        <p:spPr>
          <a:xfrm>
            <a:off x="0" y="0"/>
            <a:ext cx="615960" cy="68576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40240" y="1168560"/>
            <a:ext cx="7248240" cy="726840"/>
          </a:xfrm>
          <a:prstGeom prst="rect">
            <a:avLst/>
          </a:prstGeom>
          <a:noFill/>
          <a:ln w="0">
            <a:noFill/>
          </a:ln>
        </p:spPr>
        <p:txBody>
          <a:bodyPr lIns="91440" rIns="91440" tIns="45720" bIns="45720" anchor="b">
            <a:noAutofit/>
          </a:bodyPr>
          <a:p>
            <a:pPr indent="0">
              <a:lnSpc>
                <a:spcPct val="90000"/>
              </a:lnSpc>
              <a:buNone/>
            </a:pPr>
            <a:r>
              <a:rPr b="0" lang="en-US" sz="3200" strike="noStrike" u="none">
                <a:solidFill>
                  <a:schemeClr val="dk1"/>
                </a:solidFill>
                <a:uFillTx/>
                <a:latin typeface="Arial"/>
                <a:ea typeface="Arial"/>
              </a:rPr>
              <a:t> </a:t>
            </a:r>
            <a:r>
              <a:rPr b="0" lang="en-US" sz="3200" strike="noStrike" u="none">
                <a:solidFill>
                  <a:schemeClr val="dk1"/>
                </a:solidFill>
                <a:uFillTx/>
                <a:latin typeface="Arial"/>
                <a:ea typeface="Arial"/>
              </a:rPr>
              <a:t>Define Hermite Polynomials</a:t>
            </a:r>
            <a:endParaRPr b="0" lang="en-US" sz="3200" strike="noStrike" u="none">
              <a:solidFill>
                <a:srgbClr val="000000"/>
              </a:solidFill>
              <a:uFillTx/>
              <a:latin typeface="Arial"/>
            </a:endParaRPr>
          </a:p>
        </p:txBody>
      </p:sp>
      <p:pic>
        <p:nvPicPr>
          <p:cNvPr id="109" name="Picture Placeholder 10" descr="h1"/>
          <p:cNvPicPr/>
          <p:nvPr/>
        </p:nvPicPr>
        <p:blipFill>
          <a:blip r:embed="rId1"/>
          <a:stretch/>
        </p:blipFill>
        <p:spPr>
          <a:xfrm>
            <a:off x="982440" y="2439000"/>
            <a:ext cx="7225920" cy="1310400"/>
          </a:xfrm>
          <a:prstGeom prst="rect">
            <a:avLst/>
          </a:prstGeom>
          <a:ln w="0">
            <a:noFill/>
          </a:ln>
        </p:spPr>
      </p:pic>
      <p:sp>
        <p:nvSpPr>
          <p:cNvPr id="110" name="PlaceHolder 2"/>
          <p:cNvSpPr>
            <a:spLocks noGrp="1"/>
          </p:cNvSpPr>
          <p:nvPr>
            <p:ph/>
          </p:nvPr>
        </p:nvSpPr>
        <p:spPr>
          <a:xfrm>
            <a:off x="840240" y="3509640"/>
            <a:ext cx="10432080" cy="2719440"/>
          </a:xfrm>
          <a:prstGeom prst="rect">
            <a:avLst/>
          </a:prstGeom>
          <a:noFill/>
          <a:ln w="0">
            <a:noFill/>
          </a:ln>
        </p:spPr>
        <p:txBody>
          <a:bodyPr lIns="91440" rIns="91440" tIns="45720" bIns="45720" anchor="t">
            <a:noAutofit/>
          </a:bodyPr>
          <a:p>
            <a:pPr marL="457200" indent="-228600">
              <a:lnSpc>
                <a:spcPct val="90000"/>
              </a:lnSpc>
              <a:spcBef>
                <a:spcPts val="1001"/>
              </a:spcBef>
              <a:buNone/>
              <a:tabLst>
                <a:tab algn="l" pos="0"/>
              </a:tabLst>
            </a:pP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r>
              <a:rPr b="0" lang="en-US" sz="1800" strike="noStrike" u="none">
                <a:solidFill>
                  <a:schemeClr val="dk1"/>
                </a:solidFill>
                <a:uFillTx/>
                <a:latin typeface="Arial"/>
                <a:ea typeface="Arial"/>
              </a:rPr>
              <a:t>This is the "Hermite polynomials" where n &gt;= 0 and some of the hermite polynomial for n=0 , n=1, n=2  and n=3 so on...</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r>
              <a:rPr b="0" lang="en-US" sz="1800" strike="noStrike" u="none">
                <a:solidFill>
                  <a:schemeClr val="dk1"/>
                </a:solidFill>
                <a:uFillTx/>
                <a:latin typeface="Arial"/>
                <a:ea typeface="Arial"/>
              </a:rPr>
              <a:t>Recurrance Relation is given by. </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111" name="Title 1"/>
          <p:cNvSpPr/>
          <p:nvPr/>
        </p:nvSpPr>
        <p:spPr>
          <a:xfrm>
            <a:off x="507960" y="-92160"/>
            <a:ext cx="7700400" cy="770040"/>
          </a:xfrm>
          <a:prstGeom prst="rect">
            <a:avLst/>
          </a:prstGeom>
          <a:noFill/>
          <a:ln w="0">
            <a:noFill/>
          </a:ln>
        </p:spPr>
        <p:style>
          <a:lnRef idx="0"/>
          <a:fillRef idx="0"/>
          <a:effectRef idx="0"/>
          <a:fontRef idx="minor"/>
        </p:style>
        <p:txBody>
          <a:bodyPr anchor="b">
            <a:normAutofit/>
          </a:bodyPr>
          <a:p>
            <a:pPr>
              <a:lnSpc>
                <a:spcPct val="90000"/>
              </a:lnSpc>
            </a:pPr>
            <a:endParaRPr b="0" lang="en-US" sz="3200" strike="noStrike" u="none">
              <a:solidFill>
                <a:schemeClr val="dk1"/>
              </a:solidFill>
              <a:uFillTx/>
              <a:latin typeface="Calibri"/>
              <a:ea typeface="Calibri"/>
            </a:endParaRPr>
          </a:p>
        </p:txBody>
      </p:sp>
      <p:pic>
        <p:nvPicPr>
          <p:cNvPr id="112"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113" name="Text Box 6"/>
          <p:cNvSpPr/>
          <p:nvPr/>
        </p:nvSpPr>
        <p:spPr>
          <a:xfrm>
            <a:off x="4024800" y="269280"/>
            <a:ext cx="4063680" cy="306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trike="noStrike" u="none">
              <a:solidFill>
                <a:srgbClr val="000000"/>
              </a:solidFill>
              <a:uFillTx/>
              <a:latin typeface="Arial"/>
              <a:ea typeface="Arial"/>
            </a:endParaRPr>
          </a:p>
        </p:txBody>
      </p:sp>
      <p:sp>
        <p:nvSpPr>
          <p:cNvPr id="114" name="Title 1"/>
          <p:cNvSpPr/>
          <p:nvPr/>
        </p:nvSpPr>
        <p:spPr>
          <a:xfrm>
            <a:off x="635040" y="34920"/>
            <a:ext cx="7700400" cy="770040"/>
          </a:xfrm>
          <a:prstGeom prst="rect">
            <a:avLst/>
          </a:prstGeom>
          <a:noFill/>
          <a:ln w="0">
            <a:noFill/>
          </a:ln>
        </p:spPr>
        <p:style>
          <a:lnRef idx="0"/>
          <a:fillRef idx="0"/>
          <a:effectRef idx="0"/>
          <a:fontRef idx="minor"/>
        </p:style>
        <p:txBody>
          <a:bodyPr anchor="b">
            <a:normAutofit fontScale="92500" lnSpcReduction="9999"/>
          </a:bodyPr>
          <a:p>
            <a:pPr>
              <a:lnSpc>
                <a:spcPct val="90000"/>
              </a:lnSpc>
            </a:pPr>
            <a:r>
              <a:rPr b="0" lang="en-US" sz="3200" strike="noStrike" u="none">
                <a:solidFill>
                  <a:schemeClr val="dk1"/>
                </a:solidFill>
                <a:uFillTx/>
                <a:latin typeface="Calibri"/>
                <a:ea typeface="Calibri"/>
              </a:rPr>
              <a:t>Image rotation with Hermite Expansion</a:t>
            </a:r>
            <a:endParaRPr b="0" lang="en-US" sz="3200" strike="noStrike" u="none">
              <a:solidFill>
                <a:srgbClr val="ffffff"/>
              </a:solidFill>
              <a:uFillTx/>
              <a:latin typeface="Arial"/>
            </a:endParaRPr>
          </a:p>
        </p:txBody>
      </p:sp>
      <p:sp>
        <p:nvSpPr>
          <p:cNvPr id="115" name="Title 1"/>
          <p:cNvSpPr/>
          <p:nvPr/>
        </p:nvSpPr>
        <p:spPr>
          <a:xfrm>
            <a:off x="762120" y="162000"/>
            <a:ext cx="7700400" cy="770040"/>
          </a:xfrm>
          <a:prstGeom prst="rect">
            <a:avLst/>
          </a:prstGeom>
          <a:noFill/>
          <a:ln w="0">
            <a:noFill/>
          </a:ln>
        </p:spPr>
        <p:style>
          <a:lnRef idx="0"/>
          <a:fillRef idx="0"/>
          <a:effectRef idx="0"/>
          <a:fontRef idx="minor"/>
        </p:style>
        <p:txBody>
          <a:bodyPr anchor="b">
            <a:normAutofit/>
          </a:bodyPr>
          <a:p>
            <a:pPr>
              <a:lnSpc>
                <a:spcPct val="90000"/>
              </a:lnSpc>
            </a:pPr>
            <a:endParaRPr b="0" lang="en-US" sz="3200" strike="noStrike" u="none">
              <a:solidFill>
                <a:schemeClr val="dk1"/>
              </a:solidFill>
              <a:uFillTx/>
              <a:latin typeface="Calibri"/>
              <a:ea typeface="Calibri"/>
            </a:endParaRPr>
          </a:p>
        </p:txBody>
      </p:sp>
      <p:pic>
        <p:nvPicPr>
          <p:cNvPr id="116" name="Picture 13" descr="Screenshot 2024-06-06 213913"/>
          <p:cNvPicPr/>
          <p:nvPr/>
        </p:nvPicPr>
        <p:blipFill>
          <a:blip r:embed="rId3"/>
          <a:stretch/>
        </p:blipFill>
        <p:spPr>
          <a:xfrm>
            <a:off x="8335800" y="1394640"/>
            <a:ext cx="3200040" cy="2285640"/>
          </a:xfrm>
          <a:prstGeom prst="rect">
            <a:avLst/>
          </a:prstGeom>
          <a:ln w="0">
            <a:noFill/>
          </a:ln>
        </p:spPr>
      </p:pic>
      <p:pic>
        <p:nvPicPr>
          <p:cNvPr id="117" name="Picture 15" descr="h2"/>
          <p:cNvPicPr/>
          <p:nvPr/>
        </p:nvPicPr>
        <p:blipFill>
          <a:blip r:embed="rId4"/>
          <a:stretch/>
        </p:blipFill>
        <p:spPr>
          <a:xfrm>
            <a:off x="2974320" y="5020920"/>
            <a:ext cx="4857480" cy="776880"/>
          </a:xfrm>
          <a:prstGeom prst="rect">
            <a:avLst/>
          </a:prstGeom>
          <a:ln w="0">
            <a:noFill/>
          </a:ln>
        </p:spPr>
      </p:pic>
      <p:sp>
        <p:nvSpPr>
          <p:cNvPr id="118" name="Title 1"/>
          <p:cNvSpPr/>
          <p:nvPr/>
        </p:nvSpPr>
        <p:spPr>
          <a:xfrm>
            <a:off x="960120" y="1857960"/>
            <a:ext cx="2222280" cy="599040"/>
          </a:xfrm>
          <a:prstGeom prst="rect">
            <a:avLst/>
          </a:prstGeom>
          <a:noFill/>
          <a:ln w="0">
            <a:noFill/>
          </a:ln>
        </p:spPr>
        <p:style>
          <a:lnRef idx="0"/>
          <a:fillRef idx="0"/>
          <a:effectRef idx="0"/>
          <a:fontRef idx="minor"/>
        </p:style>
        <p:txBody>
          <a:bodyPr anchor="b">
            <a:normAutofit/>
          </a:bodyPr>
          <a:p>
            <a:pPr>
              <a:lnSpc>
                <a:spcPct val="90000"/>
              </a:lnSpc>
            </a:pPr>
            <a:r>
              <a:rPr b="0" lang="en-US" sz="1800" strike="noStrike" u="none">
                <a:solidFill>
                  <a:schemeClr val="dk1"/>
                </a:solidFill>
                <a:uFillTx/>
                <a:latin typeface="Calibri"/>
                <a:ea typeface="Calibri"/>
              </a:rPr>
              <a:t>  </a:t>
            </a:r>
            <a:r>
              <a:rPr b="0" lang="en-US" sz="1800" strike="noStrike" u="none">
                <a:solidFill>
                  <a:schemeClr val="dk1"/>
                </a:solidFill>
                <a:uFillTx/>
                <a:latin typeface="Calibri"/>
                <a:ea typeface="Calibri"/>
              </a:rPr>
              <a:t>Rodrigues' formula:</a:t>
            </a:r>
            <a:endParaRPr b="0" lang="en-US" sz="1800" strike="noStrike" u="none">
              <a:solidFill>
                <a:srgbClr val="ffffff"/>
              </a:solidFill>
              <a:uFillTx/>
              <a:latin typeface="Arial"/>
            </a:endParaRPr>
          </a:p>
        </p:txBody>
      </p:sp>
      <p:sp>
        <p:nvSpPr>
          <p:cNvPr id="119" name="Google Shape;127;p20"/>
          <p:cNvSpPr/>
          <p:nvPr/>
        </p:nvSpPr>
        <p:spPr>
          <a:xfrm>
            <a:off x="8837640" y="600228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07, 2024</a:t>
            </a:r>
            <a:endParaRPr b="0" lang="en-US" sz="2660" strike="noStrike" u="none">
              <a:solidFill>
                <a:srgbClr val="ffffff"/>
              </a:solidFill>
              <a:uFillTx/>
              <a:latin typeface="Arial"/>
            </a:endParaRPr>
          </a:p>
        </p:txBody>
      </p:sp>
      <p:sp>
        <p:nvSpPr>
          <p:cNvPr id="120"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40240" y="1370880"/>
            <a:ext cx="3931560" cy="686160"/>
          </a:xfrm>
          <a:prstGeom prst="rect">
            <a:avLst/>
          </a:prstGeom>
          <a:noFill/>
          <a:ln w="0">
            <a:noFill/>
          </a:ln>
        </p:spPr>
        <p:txBody>
          <a:bodyPr lIns="91440" rIns="91440" tIns="45720" bIns="45720" anchor="b">
            <a:normAutofit fontScale="92500" lnSpcReduction="9999"/>
          </a:bodyPr>
          <a:p>
            <a:pPr indent="0">
              <a:lnSpc>
                <a:spcPct val="90000"/>
              </a:lnSpc>
              <a:buNone/>
            </a:pPr>
            <a:r>
              <a:rPr b="0" lang="en-US" sz="3200" strike="noStrike" u="none">
                <a:solidFill>
                  <a:schemeClr val="dk1"/>
                </a:solidFill>
                <a:uFillTx/>
                <a:latin typeface="Arial"/>
                <a:ea typeface="Arial"/>
              </a:rPr>
              <a:t> </a:t>
            </a:r>
            <a:r>
              <a:rPr b="0" lang="en-US" sz="3200" strike="noStrike" u="none">
                <a:solidFill>
                  <a:schemeClr val="dk1"/>
                </a:solidFill>
                <a:uFillTx/>
                <a:latin typeface="Arial"/>
                <a:ea typeface="Arial"/>
              </a:rPr>
              <a:t>Discretize the Image</a:t>
            </a:r>
            <a:endParaRPr b="0" lang="en-US" sz="3200" strike="noStrike" u="none">
              <a:solidFill>
                <a:srgbClr val="000000"/>
              </a:solidFill>
              <a:uFillTx/>
              <a:latin typeface="Arial"/>
            </a:endParaRPr>
          </a:p>
        </p:txBody>
      </p:sp>
      <p:pic>
        <p:nvPicPr>
          <p:cNvPr id="122" name="Picture Placeholder 11" descr="Screenshot 2024-06-06 205937"/>
          <p:cNvPicPr/>
          <p:nvPr/>
        </p:nvPicPr>
        <p:blipFill>
          <a:blip r:embed="rId1"/>
          <a:stretch/>
        </p:blipFill>
        <p:spPr>
          <a:xfrm>
            <a:off x="2802960" y="2822040"/>
            <a:ext cx="4819320" cy="504360"/>
          </a:xfrm>
          <a:prstGeom prst="rect">
            <a:avLst/>
          </a:prstGeom>
          <a:ln w="0">
            <a:noFill/>
          </a:ln>
        </p:spPr>
      </p:pic>
      <p:sp>
        <p:nvSpPr>
          <p:cNvPr id="123" name="PlaceHolder 2"/>
          <p:cNvSpPr>
            <a:spLocks noGrp="1"/>
          </p:cNvSpPr>
          <p:nvPr>
            <p:ph/>
          </p:nvPr>
        </p:nvSpPr>
        <p:spPr>
          <a:xfrm>
            <a:off x="840240" y="2142000"/>
            <a:ext cx="10395360" cy="3811680"/>
          </a:xfrm>
          <a:prstGeom prst="rect">
            <a:avLst/>
          </a:prstGeom>
          <a:noFill/>
          <a:ln w="0">
            <a:noFill/>
          </a:ln>
        </p:spPr>
        <p:txBody>
          <a:bodyPr lIns="91440" rIns="91440" tIns="45720" bIns="45720" anchor="t">
            <a:noAutofit/>
          </a:bodyPr>
          <a:p>
            <a:pPr marL="457200" indent="-228600">
              <a:lnSpc>
                <a:spcPct val="90000"/>
              </a:lnSpc>
              <a:spcBef>
                <a:spcPts val="1001"/>
              </a:spcBef>
              <a:buNone/>
              <a:tabLst>
                <a:tab algn="l" pos="0"/>
              </a:tabLst>
            </a:pPr>
            <a:r>
              <a:rPr b="0" lang="en-US" sz="1800" strike="noStrike" u="none">
                <a:solidFill>
                  <a:schemeClr val="dk1"/>
                </a:solidFill>
                <a:uFillTx/>
                <a:latin typeface="Arial"/>
                <a:ea typeface="Arial"/>
              </a:rPr>
              <a:t>Here the image is represented as a function 𝑓(𝑥,𝑦) defined on a grid. This can be expanded as a series of Hermite polynomials, where cmn is the expansion function:</a:t>
            </a:r>
            <a:endParaRPr b="0" lang="en-US" sz="1800" strike="noStrike" u="none">
              <a:solidFill>
                <a:srgbClr val="000000"/>
              </a:solidFill>
              <a:uFillTx/>
              <a:latin typeface="Arial"/>
            </a:endParaRPr>
          </a:p>
        </p:txBody>
      </p:sp>
      <p:sp>
        <p:nvSpPr>
          <p:cNvPr id="124" name="Title 1"/>
          <p:cNvSpPr/>
          <p:nvPr/>
        </p:nvSpPr>
        <p:spPr>
          <a:xfrm>
            <a:off x="762120" y="162000"/>
            <a:ext cx="7700400" cy="441000"/>
          </a:xfrm>
          <a:prstGeom prst="rect">
            <a:avLst/>
          </a:prstGeom>
          <a:noFill/>
          <a:ln w="0">
            <a:noFill/>
          </a:ln>
        </p:spPr>
        <p:style>
          <a:lnRef idx="0"/>
          <a:fillRef idx="0"/>
          <a:effectRef idx="0"/>
          <a:fontRef idx="minor"/>
        </p:style>
        <p:txBody>
          <a:bodyPr anchor="b">
            <a:normAutofit fontScale="92500" lnSpcReduction="9999"/>
          </a:bodyPr>
          <a:p>
            <a:pPr>
              <a:lnSpc>
                <a:spcPct val="90000"/>
              </a:lnSpc>
            </a:pPr>
            <a:endParaRPr b="0" lang="en-US" sz="3200" strike="noStrike" u="none">
              <a:solidFill>
                <a:schemeClr val="dk1"/>
              </a:solidFill>
              <a:uFillTx/>
              <a:latin typeface="Calibri"/>
              <a:ea typeface="Calibri"/>
            </a:endParaRPr>
          </a:p>
        </p:txBody>
      </p:sp>
      <p:sp>
        <p:nvSpPr>
          <p:cNvPr id="125" name="Title 1"/>
          <p:cNvSpPr/>
          <p:nvPr/>
        </p:nvSpPr>
        <p:spPr>
          <a:xfrm>
            <a:off x="635040" y="34920"/>
            <a:ext cx="7700400" cy="770040"/>
          </a:xfrm>
          <a:prstGeom prst="rect">
            <a:avLst/>
          </a:prstGeom>
          <a:noFill/>
          <a:ln w="0">
            <a:noFill/>
          </a:ln>
        </p:spPr>
        <p:style>
          <a:lnRef idx="0"/>
          <a:fillRef idx="0"/>
          <a:effectRef idx="0"/>
          <a:fontRef idx="minor"/>
        </p:style>
        <p:txBody>
          <a:bodyPr anchor="b">
            <a:normAutofit fontScale="92500" lnSpcReduction="9999"/>
          </a:bodyPr>
          <a:p>
            <a:pPr>
              <a:lnSpc>
                <a:spcPct val="90000"/>
              </a:lnSpc>
            </a:pPr>
            <a:r>
              <a:rPr b="0" lang="en-US" sz="3200" strike="noStrike" u="none">
                <a:solidFill>
                  <a:schemeClr val="dk1"/>
                </a:solidFill>
                <a:uFillTx/>
                <a:latin typeface="Calibri"/>
                <a:ea typeface="Calibri"/>
              </a:rPr>
              <a:t>Image rotation with Hermite Expansion</a:t>
            </a:r>
            <a:endParaRPr b="0" lang="en-US" sz="3200" strike="noStrike" u="none">
              <a:solidFill>
                <a:srgbClr val="ffffff"/>
              </a:solidFill>
              <a:uFillTx/>
              <a:latin typeface="Arial"/>
            </a:endParaRPr>
          </a:p>
        </p:txBody>
      </p:sp>
      <p:pic>
        <p:nvPicPr>
          <p:cNvPr id="126"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127" name="Title 1"/>
          <p:cNvSpPr/>
          <p:nvPr/>
        </p:nvSpPr>
        <p:spPr>
          <a:xfrm>
            <a:off x="966960" y="3620160"/>
            <a:ext cx="5634720" cy="686160"/>
          </a:xfrm>
          <a:prstGeom prst="rect">
            <a:avLst/>
          </a:prstGeom>
          <a:noFill/>
          <a:ln w="0">
            <a:noFill/>
          </a:ln>
        </p:spPr>
        <p:style>
          <a:lnRef idx="0"/>
          <a:fillRef idx="0"/>
          <a:effectRef idx="0"/>
          <a:fontRef idx="minor"/>
        </p:style>
        <p:txBody>
          <a:bodyPr anchor="b">
            <a:normAutofit fontScale="85000" lnSpcReduction="19999"/>
          </a:bodyPr>
          <a:p>
            <a:pPr>
              <a:lnSpc>
                <a:spcPct val="90000"/>
              </a:lnSpc>
            </a:pPr>
            <a:r>
              <a:rPr b="1" lang="en-US" sz="3200" strike="noStrike" u="none">
                <a:solidFill>
                  <a:schemeClr val="dk1"/>
                </a:solidFill>
                <a:uFillTx/>
                <a:latin typeface="Calibri"/>
                <a:ea typeface="Calibri"/>
              </a:rPr>
              <a:t> </a:t>
            </a:r>
            <a:r>
              <a:rPr b="1" lang="en-US" sz="3200" strike="noStrike" u="none">
                <a:solidFill>
                  <a:schemeClr val="dk1"/>
                </a:solidFill>
                <a:uFillTx/>
                <a:latin typeface="Calibri"/>
                <a:ea typeface="Calibri"/>
              </a:rPr>
              <a:t>Finding the expansion coefficients with this formula</a:t>
            </a:r>
            <a:endParaRPr b="0" lang="en-US" sz="3200" strike="noStrike" u="none">
              <a:solidFill>
                <a:srgbClr val="ffffff"/>
              </a:solidFill>
              <a:uFillTx/>
              <a:latin typeface="Arial"/>
            </a:endParaRPr>
          </a:p>
        </p:txBody>
      </p:sp>
      <p:sp>
        <p:nvSpPr>
          <p:cNvPr id="128" name="Title 1"/>
          <p:cNvSpPr/>
          <p:nvPr/>
        </p:nvSpPr>
        <p:spPr>
          <a:xfrm>
            <a:off x="2066400" y="4191120"/>
            <a:ext cx="7700400" cy="770040"/>
          </a:xfrm>
          <a:prstGeom prst="rect">
            <a:avLst/>
          </a:prstGeom>
          <a:noFill/>
          <a:ln w="0">
            <a:noFill/>
          </a:ln>
        </p:spPr>
        <p:style>
          <a:lnRef idx="0"/>
          <a:fillRef idx="0"/>
          <a:effectRef idx="0"/>
          <a:fontRef idx="minor"/>
        </p:style>
        <p:txBody>
          <a:bodyPr anchor="b">
            <a:normAutofit/>
          </a:bodyPr>
          <a:p>
            <a:pPr>
              <a:lnSpc>
                <a:spcPct val="90000"/>
              </a:lnSpc>
            </a:pPr>
            <a:endParaRPr b="0" lang="en-US" sz="3200" strike="noStrike" u="none">
              <a:solidFill>
                <a:schemeClr val="dk1"/>
              </a:solidFill>
              <a:uFillTx/>
              <a:latin typeface="Calibri"/>
              <a:ea typeface="Calibri"/>
            </a:endParaRPr>
          </a:p>
        </p:txBody>
      </p:sp>
      <p:sp>
        <p:nvSpPr>
          <p:cNvPr id="129" name="Text Box 16"/>
          <p:cNvSpPr/>
          <p:nvPr/>
        </p:nvSpPr>
        <p:spPr>
          <a:xfrm>
            <a:off x="1373400" y="4306680"/>
            <a:ext cx="79923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chemeClr val="dk1"/>
                </a:solidFill>
                <a:uFillTx/>
                <a:latin typeface="Arial"/>
                <a:ea typeface="Arial"/>
              </a:rPr>
              <a:t>The Hermite expansion coefficients are computed by summing over the product of the image pixel values and the Hermite polynomial values</a:t>
            </a:r>
            <a:r>
              <a:rPr b="0" lang="en-US" sz="1400" strike="noStrike" u="none">
                <a:solidFill>
                  <a:schemeClr val="dk1"/>
                </a:solidFill>
                <a:uFillTx/>
                <a:latin typeface="Arial"/>
                <a:ea typeface="Arial"/>
              </a:rPr>
              <a:t>. </a:t>
            </a:r>
            <a:endParaRPr b="0" lang="en-US" sz="1400" strike="noStrike" u="none">
              <a:solidFill>
                <a:srgbClr val="ffffff"/>
              </a:solidFill>
              <a:uFillTx/>
              <a:latin typeface="Arial"/>
            </a:endParaRPr>
          </a:p>
        </p:txBody>
      </p:sp>
      <p:pic>
        <p:nvPicPr>
          <p:cNvPr id="130" name="Picture 17" descr="Screenshot 2024-06-06 234510"/>
          <p:cNvPicPr/>
          <p:nvPr/>
        </p:nvPicPr>
        <p:blipFill>
          <a:blip r:embed="rId3"/>
          <a:stretch/>
        </p:blipFill>
        <p:spPr>
          <a:xfrm>
            <a:off x="6062400" y="3352680"/>
            <a:ext cx="66240" cy="151920"/>
          </a:xfrm>
          <a:prstGeom prst="rect">
            <a:avLst/>
          </a:prstGeom>
          <a:ln w="0">
            <a:noFill/>
          </a:ln>
        </p:spPr>
      </p:pic>
      <p:pic>
        <p:nvPicPr>
          <p:cNvPr id="131" name="Picture 18" descr="h5"/>
          <p:cNvPicPr/>
          <p:nvPr/>
        </p:nvPicPr>
        <p:blipFill>
          <a:blip r:embed="rId4"/>
          <a:stretch/>
        </p:blipFill>
        <p:spPr>
          <a:xfrm>
            <a:off x="1373400" y="5121360"/>
            <a:ext cx="8865360" cy="13057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a:lnSpc>
                <a:spcPct val="90000"/>
              </a:lnSpc>
              <a:buNone/>
            </a:pPr>
            <a:r>
              <a:rPr b="0" lang="en-US" sz="3200" strike="noStrike" u="none">
                <a:solidFill>
                  <a:schemeClr val="dk1"/>
                </a:solidFill>
                <a:uFillTx/>
                <a:latin typeface="Arial"/>
                <a:ea typeface="Arial"/>
              </a:rPr>
              <a:t>Rotate Image</a:t>
            </a:r>
            <a:endParaRPr b="0" lang="en-US" sz="3200" strike="noStrike" u="none">
              <a:solidFill>
                <a:srgbClr val="000000"/>
              </a:solidFill>
              <a:uFillTx/>
              <a:latin typeface="Arial"/>
            </a:endParaRPr>
          </a:p>
        </p:txBody>
      </p:sp>
      <p:pic>
        <p:nvPicPr>
          <p:cNvPr id="133" name="Picture Placeholder 7" descr="h6"/>
          <p:cNvPicPr/>
          <p:nvPr/>
        </p:nvPicPr>
        <p:blipFill>
          <a:blip r:embed="rId1"/>
          <a:stretch/>
        </p:blipFill>
        <p:spPr>
          <a:xfrm>
            <a:off x="2432520" y="4683240"/>
            <a:ext cx="8257680" cy="791640"/>
          </a:xfrm>
          <a:prstGeom prst="rect">
            <a:avLst/>
          </a:prstGeom>
          <a:ln w="0">
            <a:noFill/>
          </a:ln>
        </p:spPr>
      </p:pic>
      <p:sp>
        <p:nvSpPr>
          <p:cNvPr id="134" name="PlaceHolder 2"/>
          <p:cNvSpPr>
            <a:spLocks noGrp="1"/>
          </p:cNvSpPr>
          <p:nvPr>
            <p:ph/>
          </p:nvPr>
        </p:nvSpPr>
        <p:spPr>
          <a:xfrm>
            <a:off x="839880" y="1983240"/>
            <a:ext cx="3931920" cy="3811320"/>
          </a:xfrm>
          <a:prstGeom prst="rect">
            <a:avLst/>
          </a:prstGeom>
          <a:noFill/>
          <a:ln w="0">
            <a:noFill/>
          </a:ln>
        </p:spPr>
        <p:txBody>
          <a:bodyPr lIns="91440" rIns="91440" tIns="45720" bIns="45720" anchor="t">
            <a:noAutofit/>
          </a:bodyPr>
          <a:p>
            <a:pPr marL="457200" indent="-228600">
              <a:lnSpc>
                <a:spcPct val="90000"/>
              </a:lnSpc>
              <a:spcBef>
                <a:spcPts val="1001"/>
              </a:spcBef>
              <a:buNone/>
              <a:tabLst>
                <a:tab algn="l" pos="0"/>
              </a:tabLst>
            </a:pPr>
            <a:r>
              <a:rPr b="1" lang="en-US" sz="1800" strike="noStrike" u="none">
                <a:solidFill>
                  <a:schemeClr val="dk1"/>
                </a:solidFill>
                <a:uFillTx/>
                <a:latin typeface="Arial"/>
                <a:ea typeface="Arial"/>
              </a:rPr>
              <a:t> </a:t>
            </a:r>
            <a:r>
              <a:rPr b="1" lang="en-US" sz="1800" strike="noStrike" u="none">
                <a:solidFill>
                  <a:schemeClr val="dk1"/>
                </a:solidFill>
                <a:uFillTx/>
                <a:latin typeface="Arial"/>
                <a:ea typeface="Arial"/>
              </a:rPr>
              <a:t>Define the Rotation Transformation</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135" name="Title 1"/>
          <p:cNvSpPr/>
          <p:nvPr/>
        </p:nvSpPr>
        <p:spPr>
          <a:xfrm>
            <a:off x="635040" y="34920"/>
            <a:ext cx="7700400" cy="770040"/>
          </a:xfrm>
          <a:prstGeom prst="rect">
            <a:avLst/>
          </a:prstGeom>
          <a:noFill/>
          <a:ln w="0">
            <a:noFill/>
          </a:ln>
        </p:spPr>
        <p:style>
          <a:lnRef idx="0"/>
          <a:fillRef idx="0"/>
          <a:effectRef idx="0"/>
          <a:fontRef idx="minor"/>
        </p:style>
        <p:txBody>
          <a:bodyPr anchor="b">
            <a:normAutofit fontScale="92500" lnSpcReduction="9999"/>
          </a:bodyPr>
          <a:p>
            <a:pPr>
              <a:lnSpc>
                <a:spcPct val="90000"/>
              </a:lnSpc>
            </a:pPr>
            <a:r>
              <a:rPr b="0" lang="en-US" sz="3200" strike="noStrike" u="none">
                <a:solidFill>
                  <a:schemeClr val="dk1"/>
                </a:solidFill>
                <a:uFillTx/>
                <a:latin typeface="Calibri"/>
                <a:ea typeface="Calibri"/>
              </a:rPr>
              <a:t>Image rotation with Hermite Expansion</a:t>
            </a:r>
            <a:endParaRPr b="0" lang="en-US" sz="3200" strike="noStrike" u="none">
              <a:solidFill>
                <a:srgbClr val="ffffff"/>
              </a:solidFill>
              <a:uFillTx/>
              <a:latin typeface="Arial"/>
            </a:endParaRPr>
          </a:p>
        </p:txBody>
      </p:sp>
      <p:pic>
        <p:nvPicPr>
          <p:cNvPr id="136"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137" name="Title 1"/>
          <p:cNvSpPr/>
          <p:nvPr/>
        </p:nvSpPr>
        <p:spPr>
          <a:xfrm>
            <a:off x="890280" y="3846600"/>
            <a:ext cx="7445160" cy="686160"/>
          </a:xfrm>
          <a:prstGeom prst="rect">
            <a:avLst/>
          </a:prstGeom>
          <a:noFill/>
          <a:ln w="0">
            <a:noFill/>
          </a:ln>
        </p:spPr>
        <p:style>
          <a:lnRef idx="0"/>
          <a:fillRef idx="0"/>
          <a:effectRef idx="0"/>
          <a:fontRef idx="minor"/>
        </p:style>
        <p:txBody>
          <a:bodyPr anchor="b">
            <a:normAutofit fontScale="85000" lnSpcReduction="19999"/>
          </a:bodyPr>
          <a:p>
            <a:pPr>
              <a:lnSpc>
                <a:spcPct val="90000"/>
              </a:lnSpc>
            </a:pPr>
            <a:r>
              <a:rPr b="1" lang="en-US" sz="3200" strike="noStrike" u="none">
                <a:solidFill>
                  <a:schemeClr val="dk1"/>
                </a:solidFill>
                <a:uFillTx/>
                <a:latin typeface="Calibri"/>
                <a:ea typeface="Calibri"/>
              </a:rPr>
              <a:t>  </a:t>
            </a:r>
            <a:r>
              <a:rPr b="1" lang="en-US" sz="3200" strike="noStrike" u="none">
                <a:solidFill>
                  <a:schemeClr val="dk1"/>
                </a:solidFill>
                <a:uFillTx/>
                <a:latin typeface="Calibri"/>
                <a:ea typeface="Calibri"/>
              </a:rPr>
              <a:t>Apply the Transformation to the Hermite Polynomials</a:t>
            </a:r>
            <a:endParaRPr b="0" lang="en-US" sz="3200" strike="noStrike" u="none">
              <a:solidFill>
                <a:srgbClr val="ffffff"/>
              </a:solidFill>
              <a:uFillTx/>
              <a:latin typeface="Arial"/>
            </a:endParaRPr>
          </a:p>
          <a:p>
            <a:pPr>
              <a:lnSpc>
                <a:spcPct val="90000"/>
              </a:lnSpc>
            </a:pPr>
            <a:endParaRPr b="0" lang="en-US" sz="3200" strike="noStrike" u="none">
              <a:solidFill>
                <a:srgbClr val="ffffff"/>
              </a:solidFill>
              <a:uFillTx/>
              <a:latin typeface="Arial"/>
            </a:endParaRPr>
          </a:p>
        </p:txBody>
      </p:sp>
      <p:sp>
        <p:nvSpPr>
          <p:cNvPr id="138" name="Text Box 9"/>
          <p:cNvSpPr/>
          <p:nvPr/>
        </p:nvSpPr>
        <p:spPr>
          <a:xfrm>
            <a:off x="1409760" y="4237560"/>
            <a:ext cx="9162720" cy="740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trike="noStrike" u="none">
                <a:solidFill>
                  <a:schemeClr val="dk1"/>
                </a:solidFill>
                <a:uFillTx/>
                <a:latin typeface="Arial"/>
                <a:ea typeface="Arial"/>
              </a:rPr>
              <a:t>Transform the Hermite polynomial expansion to the rotated coordinates (𝑥′,𝑦′) (x′,y′):</a:t>
            </a:r>
            <a:endParaRPr b="0" lang="en-US" sz="1800" strike="noStrike" u="none">
              <a:solidFill>
                <a:srgbClr val="ffffff"/>
              </a:solidFill>
              <a:uFillTx/>
              <a:latin typeface="Arial"/>
            </a:endParaRPr>
          </a:p>
        </p:txBody>
      </p:sp>
      <p:pic>
        <p:nvPicPr>
          <p:cNvPr id="139" name="Picture 11" descr="Screenshot 2024-06-07 001413"/>
          <p:cNvPicPr/>
          <p:nvPr/>
        </p:nvPicPr>
        <p:blipFill>
          <a:blip r:embed="rId3"/>
          <a:stretch/>
        </p:blipFill>
        <p:spPr>
          <a:xfrm>
            <a:off x="4990320" y="2216520"/>
            <a:ext cx="3981240" cy="933120"/>
          </a:xfrm>
          <a:prstGeom prst="rect">
            <a:avLst/>
          </a:prstGeom>
          <a:ln w="0">
            <a:noFill/>
          </a:ln>
        </p:spPr>
      </p:pic>
      <p:sp>
        <p:nvSpPr>
          <p:cNvPr id="140" name="Text Box 2"/>
          <p:cNvSpPr/>
          <p:nvPr/>
        </p:nvSpPr>
        <p:spPr>
          <a:xfrm>
            <a:off x="1409760" y="5675040"/>
            <a:ext cx="9162720" cy="740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trike="noStrike" u="none">
                <a:solidFill>
                  <a:schemeClr val="dk1"/>
                </a:solidFill>
                <a:uFillTx/>
                <a:latin typeface="Arial"/>
                <a:ea typeface="Arial"/>
              </a:rPr>
              <a:t>Reference:</a:t>
            </a:r>
            <a:endParaRPr b="0" lang="en-US" sz="1800" strike="noStrike" u="none">
              <a:solidFill>
                <a:srgbClr val="ffffff"/>
              </a:solidFill>
              <a:uFillTx/>
              <a:latin typeface="Arial"/>
            </a:endParaRPr>
          </a:p>
          <a:p>
            <a:pPr>
              <a:lnSpc>
                <a:spcPct val="100000"/>
              </a:lnSpc>
            </a:pPr>
            <a:r>
              <a:rPr b="0" lang="en-US" sz="1200" strike="noStrike" u="none">
                <a:solidFill>
                  <a:schemeClr val="dk1"/>
                </a:solidFill>
                <a:uFillTx/>
                <a:latin typeface="Arial"/>
                <a:ea typeface="Arial"/>
              </a:rPr>
              <a:t>Accurate Image Rotation Using Hermite Expansions Wooram Park, Student Member, IEEE, Gregory Leibon, Daniel N. Rockmore, and Gregory S. Chirikjian, Senior Member, IEEE</a:t>
            </a:r>
            <a:endParaRPr b="0" lang="en-US" sz="1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Picture Placeholder 6" descr="Screenshot 2024-06-11 003701"/>
          <p:cNvPicPr/>
          <p:nvPr/>
        </p:nvPicPr>
        <p:blipFill>
          <a:blip r:embed="rId1"/>
          <a:stretch/>
        </p:blipFill>
        <p:spPr>
          <a:xfrm>
            <a:off x="2001240" y="3001320"/>
            <a:ext cx="8401320" cy="2876760"/>
          </a:xfrm>
          <a:prstGeom prst="rect">
            <a:avLst/>
          </a:prstGeom>
          <a:ln w="0">
            <a:noFill/>
          </a:ln>
        </p:spPr>
      </p:pic>
      <p:pic>
        <p:nvPicPr>
          <p:cNvPr id="142" name="Google Shape;214;p6" descr=""/>
          <p:cNvPicPr/>
          <p:nvPr/>
        </p:nvPicPr>
        <p:blipFill>
          <a:blip r:embed="rId2"/>
          <a:srcRect l="4529" t="20257" r="4160" b="26835"/>
          <a:stretch/>
        </p:blipFill>
        <p:spPr>
          <a:xfrm>
            <a:off x="10942200" y="105120"/>
            <a:ext cx="1249560" cy="474480"/>
          </a:xfrm>
          <a:prstGeom prst="rect">
            <a:avLst/>
          </a:prstGeom>
          <a:ln w="0">
            <a:noFill/>
          </a:ln>
        </p:spPr>
      </p:pic>
      <p:pic>
        <p:nvPicPr>
          <p:cNvPr id="143" name="Picture 9" descr="Screenshot 2024-06-11 003633"/>
          <p:cNvPicPr/>
          <p:nvPr/>
        </p:nvPicPr>
        <p:blipFill>
          <a:blip r:embed="rId3"/>
          <a:stretch/>
        </p:blipFill>
        <p:spPr>
          <a:xfrm>
            <a:off x="1675080" y="1496880"/>
            <a:ext cx="8499240" cy="13521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Google Shape;216;p6"/>
          <p:cNvSpPr/>
          <p:nvPr/>
        </p:nvSpPr>
        <p:spPr>
          <a:xfrm>
            <a:off x="429480" y="1850040"/>
            <a:ext cx="11137320" cy="4082040"/>
          </a:xfrm>
          <a:prstGeom prst="rect">
            <a:avLst/>
          </a:prstGeom>
          <a:noFill/>
          <a:ln w="0">
            <a:noFill/>
          </a:ln>
        </p:spPr>
        <p:style>
          <a:lnRef idx="0"/>
          <a:fillRef idx="0"/>
          <a:effectRef idx="0"/>
          <a:fontRef idx="minor"/>
        </p:style>
        <p:txBody>
          <a:bodyPr tIns="91440" bIns="91440" anchor="t">
            <a:spAutoFit/>
          </a:bodyPr>
          <a:p>
            <a:pPr marL="343080" indent="-343080">
              <a:lnSpc>
                <a:spcPct val="100000"/>
              </a:lnSpc>
              <a:buClr>
                <a:srgbClr val="ffffff"/>
              </a:buClr>
              <a:buFont typeface="Arial"/>
              <a:buAutoNum type="arabicPeriod"/>
            </a:pPr>
            <a:r>
              <a:rPr b="1" lang="en-IN" sz="1600" strike="noStrike" u="none">
                <a:solidFill>
                  <a:schemeClr val="dk1">
                    <a:lumMod val="85000"/>
                  </a:schemeClr>
                </a:solidFill>
                <a:uFillTx/>
                <a:latin typeface="Arial"/>
                <a:ea typeface="Arial"/>
              </a:rPr>
              <a:t>Hermite Polynomial Function:</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Base cases</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if (n == 0) return Expr(1.0f);</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if (n == 1) return 2.0f * x;</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 Iterative calculation</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Expr h0 = Expr(1.0f);</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Expr h1 = 2.0f * x;</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Expr h;</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for (int i = 2; i &lt;= n; ++i) {</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h = 2.0f * x * h1 - 2.0f * (i - 1) * h0;</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h0 = h1;</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h1 = h;</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a:t>
            </a:r>
            <a:endParaRPr b="0" lang="en-US" sz="1600" strike="noStrike" u="none">
              <a:solidFill>
                <a:srgbClr val="ffffff"/>
              </a:solidFill>
              <a:uFillTx/>
              <a:latin typeface="Arial"/>
            </a:endParaRPr>
          </a:p>
          <a:p>
            <a:pPr>
              <a:lnSpc>
                <a:spcPct val="100000"/>
              </a:lnSpc>
            </a:pPr>
            <a:r>
              <a:rPr b="0" lang="pt-BR" sz="1600" strike="noStrike" u="none">
                <a:solidFill>
                  <a:schemeClr val="dk1">
                    <a:lumMod val="85000"/>
                  </a:schemeClr>
                </a:solidFill>
                <a:uFillTx/>
                <a:latin typeface="Arial"/>
                <a:ea typeface="Arial"/>
              </a:rPr>
              <a:t>    </a:t>
            </a:r>
            <a:r>
              <a:rPr b="0" lang="pt-BR" sz="1600" strike="noStrike" u="none">
                <a:solidFill>
                  <a:schemeClr val="dk1">
                    <a:lumMod val="85000"/>
                  </a:schemeClr>
                </a:solidFill>
                <a:uFillTx/>
                <a:latin typeface="Arial"/>
                <a:ea typeface="Arial"/>
              </a:rPr>
              <a:t>return h1;</a:t>
            </a:r>
            <a:endParaRPr b="0" lang="en-US" sz="1600" strike="noStrike" u="none">
              <a:solidFill>
                <a:srgbClr val="ffffff"/>
              </a:solidFill>
              <a:uFillTx/>
              <a:latin typeface="Arial"/>
            </a:endParaRPr>
          </a:p>
          <a:p>
            <a:pPr>
              <a:lnSpc>
                <a:spcPct val="100000"/>
              </a:lnSpc>
            </a:pPr>
            <a:r>
              <a:rPr b="0" lang="en-IN" sz="1600" strike="noStrike" u="none">
                <a:solidFill>
                  <a:schemeClr val="dk1">
                    <a:lumMod val="85000"/>
                  </a:schemeClr>
                </a:solidFill>
                <a:uFillTx/>
                <a:latin typeface="Arial"/>
                <a:ea typeface="Arial"/>
              </a:rPr>
              <a:t>	</a:t>
            </a:r>
            <a:r>
              <a:rPr b="0" lang="en-IN" sz="1600" strike="noStrike" u="none">
                <a:solidFill>
                  <a:schemeClr val="dk1">
                    <a:lumMod val="85000"/>
                  </a:schemeClr>
                </a:solidFill>
                <a:uFillTx/>
                <a:latin typeface="Arial"/>
                <a:ea typeface="Arial"/>
              </a:rPr>
              <a:t>	</a:t>
            </a:r>
            <a:r>
              <a:rPr b="0" lang="en-IN" sz="1600" strike="noStrike" u="none">
                <a:solidFill>
                  <a:schemeClr val="dk1">
                    <a:lumMod val="85000"/>
                  </a:schemeClr>
                </a:solidFill>
                <a:uFillTx/>
                <a:latin typeface="Arial"/>
                <a:ea typeface="Arial"/>
              </a:rPr>
              <a:t>	</a:t>
            </a:r>
            <a:r>
              <a:rPr b="1" lang="en-IN" sz="1600" strike="noStrike" u="none">
                <a:solidFill>
                  <a:schemeClr val="dk1">
                    <a:lumMod val="85000"/>
                  </a:schemeClr>
                </a:solidFill>
                <a:uFillTx/>
                <a:latin typeface="Arial"/>
                <a:ea typeface="Arial"/>
              </a:rPr>
              <a:t>	</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p:txBody>
      </p:sp>
      <p:sp>
        <p:nvSpPr>
          <p:cNvPr id="145"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46"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147"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48" name="Google Shape;215;p6"/>
          <p:cNvSpPr/>
          <p:nvPr/>
        </p:nvSpPr>
        <p:spPr>
          <a:xfrm>
            <a:off x="0" y="1118520"/>
            <a:ext cx="12191760" cy="5176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1" lang="en-IN" sz="1600" strike="noStrike" u="sng">
                <a:solidFill>
                  <a:srgbClr val="0e4094"/>
                </a:solidFill>
                <a:uFillTx/>
                <a:latin typeface="Calibri"/>
                <a:ea typeface="Calibri"/>
              </a:rPr>
              <a:t> </a:t>
            </a:r>
            <a:r>
              <a:rPr b="0" lang="en-IN" sz="1600" strike="noStrike" u="none">
                <a:solidFill>
                  <a:srgbClr val="0e4094"/>
                </a:solidFill>
                <a:uFillTx/>
                <a:latin typeface="Calibri"/>
                <a:ea typeface="Calibri"/>
              </a:rPr>
              <a:t> </a:t>
            </a:r>
            <a:r>
              <a:rPr b="0" lang="en-IN" sz="1600" strike="noStrike" u="none">
                <a:solidFill>
                  <a:srgbClr val="0e4094"/>
                </a:solidFill>
                <a:uFillTx/>
                <a:latin typeface="Calibri"/>
                <a:ea typeface="Calibri"/>
              </a:rPr>
              <a:t>1st code</a:t>
            </a:r>
            <a:endParaRPr b="0" lang="en-US" sz="1600" strike="noStrike" u="none">
              <a:solidFill>
                <a:srgbClr val="000000"/>
              </a:solidFill>
              <a:uFillTx/>
              <a:latin typeface="Arial"/>
            </a:endParaRPr>
          </a:p>
          <a:p>
            <a:pPr algn="just">
              <a:lnSpc>
                <a:spcPct val="100000"/>
              </a:lnSpc>
              <a:tabLst>
                <a:tab algn="l" pos="0"/>
              </a:tabLst>
            </a:pPr>
            <a:r>
              <a:rPr b="0" lang="en-IN" sz="1200" strike="noStrike" u="none">
                <a:solidFill>
                  <a:srgbClr val="0e4094"/>
                </a:solidFill>
                <a:uFillTx/>
                <a:latin typeface="Calibri"/>
                <a:ea typeface="Calibri"/>
              </a:rPr>
              <a:t>    </a:t>
            </a:r>
            <a:endParaRPr b="0" lang="en-US" sz="1200" strike="noStrike" u="none">
              <a:solidFill>
                <a:srgbClr val="000000"/>
              </a:solidFill>
              <a:uFillTx/>
              <a:latin typeface="Arial"/>
            </a:endParaRPr>
          </a:p>
        </p:txBody>
      </p:sp>
      <p:sp>
        <p:nvSpPr>
          <p:cNvPr id="149"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pic>
        <p:nvPicPr>
          <p:cNvPr id="150" name="Picture 9" descr=""/>
          <p:cNvPicPr/>
          <p:nvPr/>
        </p:nvPicPr>
        <p:blipFill>
          <a:blip r:embed="rId2"/>
          <a:stretch/>
        </p:blipFill>
        <p:spPr>
          <a:xfrm>
            <a:off x="5998320" y="3540600"/>
            <a:ext cx="5429520" cy="876240"/>
          </a:xfrm>
          <a:prstGeom prst="rect">
            <a:avLst/>
          </a:prstGeom>
          <a:ln w="0">
            <a:noFill/>
          </a:ln>
        </p:spPr>
      </p:pic>
      <p:pic>
        <p:nvPicPr>
          <p:cNvPr id="151" name="Picture 12" descr=""/>
          <p:cNvPicPr/>
          <p:nvPr/>
        </p:nvPicPr>
        <p:blipFill>
          <a:blip r:embed="rId3"/>
          <a:srcRect l="0" t="0" r="0" b="51340"/>
          <a:stretch/>
        </p:blipFill>
        <p:spPr>
          <a:xfrm>
            <a:off x="5998320" y="2403000"/>
            <a:ext cx="2230920" cy="928800"/>
          </a:xfrm>
          <a:prstGeom prst="rect">
            <a:avLst/>
          </a:prstGeom>
          <a:ln w="0">
            <a:noFill/>
          </a:ln>
        </p:spPr>
      </p:pic>
      <p:sp>
        <p:nvSpPr>
          <p:cNvPr id="152"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
        <p:nvSpPr>
          <p:cNvPr id="153"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07, 2024</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Google Shape;216;p6"/>
          <p:cNvSpPr/>
          <p:nvPr/>
        </p:nvSpPr>
        <p:spPr>
          <a:xfrm>
            <a:off x="429480" y="1907280"/>
            <a:ext cx="11137320" cy="438804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1600" strike="noStrike" u="none">
                <a:solidFill>
                  <a:schemeClr val="dk1">
                    <a:lumMod val="85000"/>
                  </a:schemeClr>
                </a:solidFill>
                <a:uFillTx/>
                <a:latin typeface="Arial"/>
                <a:ea typeface="Arial"/>
              </a:rPr>
              <a:t>2. Hermite Expansion of an Image</a:t>
            </a:r>
            <a:r>
              <a:rPr b="1" lang="en-IN" sz="1600" strike="noStrike" u="none">
                <a:solidFill>
                  <a:schemeClr val="dk1">
                    <a:lumMod val="85000"/>
                  </a:schemeClr>
                </a:solidFill>
                <a:uFillTx/>
                <a:latin typeface="Arial"/>
                <a:ea typeface="Arial"/>
              </a:rPr>
              <a:t>: </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US" sz="1600" strike="noStrike" u="none">
                <a:solidFill>
                  <a:schemeClr val="dk1">
                    <a:lumMod val="85000"/>
                  </a:schemeClr>
                </a:solidFill>
                <a:uFillTx/>
                <a:latin typeface="Arial"/>
                <a:ea typeface="Arial"/>
              </a:rPr>
              <a:t>RDom r(0, width, 0, height): </a:t>
            </a:r>
            <a:r>
              <a:rPr b="0" lang="en-US" sz="1400" strike="noStrike" u="none">
                <a:solidFill>
                  <a:schemeClr val="dk1">
                    <a:lumMod val="85000"/>
                  </a:schemeClr>
                </a:solidFill>
                <a:uFillTx/>
                <a:latin typeface="Arial"/>
                <a:ea typeface="Arial"/>
              </a:rPr>
              <a:t>Define a reduction domain r that spans the entire image. This will be used to iterate over all pixel values in the image.</a:t>
            </a:r>
            <a:endParaRPr b="0" lang="en-US" sz="14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IN" sz="1600" strike="noStrike" u="none">
                <a:solidFill>
                  <a:schemeClr val="dk1">
                    <a:lumMod val="85000"/>
                  </a:schemeClr>
                </a:solidFill>
                <a:uFillTx/>
                <a:latin typeface="Arial"/>
                <a:ea typeface="Arial"/>
              </a:rPr>
              <a:t>Sum the Hermite Polynomial Terms:</a:t>
            </a: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0" lang="en-IN" sz="1600" strike="noStrike" u="none">
                <a:solidFill>
                  <a:schemeClr val="dk1">
                    <a:lumMod val="85000"/>
                  </a:schemeClr>
                </a:solidFill>
                <a:uFillTx/>
                <a:latin typeface="Arial"/>
                <a:ea typeface="Arial"/>
              </a:rPr>
              <a:t>ex</a:t>
            </a:r>
            <a:r>
              <a:rPr b="0" lang="en-IN" sz="1400" strike="noStrike" u="none">
                <a:solidFill>
                  <a:schemeClr val="dk1">
                    <a:lumMod val="85000"/>
                  </a:schemeClr>
                </a:solidFill>
                <a:uFillTx/>
                <a:latin typeface="Arial"/>
                <a:ea typeface="Arial"/>
              </a:rPr>
              <a:t>pansion(n, m) = sum(input(r.x, r.y) * hermite(n, cast&lt;float&gt;(r.x) - cast&lt;float&gt;(width) / 2.0f) * hermite(m, cast&lt;float&gt;(r.y) - cast&lt;float&gt;(height) / 2.0f));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This line computes the Hermite expansion coefficients c_{mn} for each pair (n, m) by summing the product of the input image pixel values input(r.x, r.y) and the Hermite polynomials evaluated at the centered coordinates (r.x - width/2) and (r.y - height/2).</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The formula for computing the Hermite expansion coefficients Cmn​  in a discrete image is:</a:t>
            </a:r>
            <a:endParaRPr b="0" lang="en-US" sz="14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endParaRPr b="0" lang="en-US" sz="1600" strike="noStrike" u="none">
              <a:solidFill>
                <a:srgbClr val="ffffff"/>
              </a:solidFill>
              <a:uFillTx/>
              <a:latin typeface="Arial"/>
            </a:endParaRPr>
          </a:p>
          <a:p>
            <a:pPr>
              <a:lnSpc>
                <a:spcPct val="100000"/>
              </a:lnSpc>
            </a:pPr>
            <a:r>
              <a:rPr b="1" lang="en-IN" sz="1600" strike="noStrike" u="none">
                <a:solidFill>
                  <a:schemeClr val="dk1">
                    <a:lumMod val="85000"/>
                  </a:schemeClr>
                </a:solidFill>
                <a:uFillTx/>
                <a:latin typeface="Arial"/>
                <a:ea typeface="Arial"/>
              </a:rPr>
              <a:t>Note: Here typecasting error arises in n,m in this equation.</a:t>
            </a:r>
            <a:endParaRPr b="0" lang="en-US" sz="1600" strike="noStrike" u="none">
              <a:solidFill>
                <a:srgbClr val="ffffff"/>
              </a:solidFill>
              <a:uFillTx/>
              <a:latin typeface="Arial"/>
            </a:endParaRPr>
          </a:p>
        </p:txBody>
      </p:sp>
      <p:sp>
        <p:nvSpPr>
          <p:cNvPr id="155"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56"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157"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58"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1st code</a:t>
            </a:r>
            <a:r>
              <a:rPr b="1" lang="en-IN" sz="1600" strike="noStrike" u="sng">
                <a:solidFill>
                  <a:srgbClr val="0e4094"/>
                </a:solidFill>
                <a:uFillTx/>
                <a:latin typeface="Calibri"/>
                <a:ea typeface="Calibri"/>
              </a:rPr>
              <a:t> </a:t>
            </a:r>
            <a:r>
              <a:rPr b="0" lang="en-IN" sz="1600" strike="noStrike" u="none">
                <a:solidFill>
                  <a:srgbClr val="0e4094"/>
                </a:solidFill>
                <a:uFillTx/>
                <a:latin typeface="Calibri"/>
                <a:ea typeface="Calibri"/>
              </a:rPr>
              <a:t> </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159"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pic>
        <p:nvPicPr>
          <p:cNvPr id="160" name="Picture 2" descr=""/>
          <p:cNvPicPr/>
          <p:nvPr/>
        </p:nvPicPr>
        <p:blipFill>
          <a:blip r:embed="rId2"/>
          <a:stretch/>
        </p:blipFill>
        <p:spPr>
          <a:xfrm>
            <a:off x="2173320" y="5091480"/>
            <a:ext cx="7649280" cy="8190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Google Shape;216;p6"/>
          <p:cNvSpPr/>
          <p:nvPr/>
        </p:nvSpPr>
        <p:spPr>
          <a:xfrm>
            <a:off x="429480" y="1807200"/>
            <a:ext cx="4942440" cy="405540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1600" strike="noStrike" u="none">
                <a:solidFill>
                  <a:schemeClr val="dk1">
                    <a:lumMod val="85000"/>
                  </a:schemeClr>
                </a:solidFill>
                <a:uFillTx/>
                <a:latin typeface="Arial"/>
                <a:ea typeface="Arial"/>
              </a:rPr>
              <a:t>3. Rotate hermite</a:t>
            </a:r>
            <a:r>
              <a:rPr b="1" lang="en-IN" sz="1600" strike="noStrike" u="none">
                <a:solidFill>
                  <a:schemeClr val="dk1">
                    <a:lumMod val="85000"/>
                  </a:schemeClr>
                </a:solidFill>
                <a:uFillTx/>
                <a:latin typeface="Arial"/>
                <a:ea typeface="Arial"/>
              </a:rPr>
              <a:t>: </a:t>
            </a:r>
            <a:endParaRPr b="0" lang="en-US" sz="1600" strike="noStrike" u="none">
              <a:solidFill>
                <a:srgbClr val="ffffff"/>
              </a:solidFill>
              <a:uFillTx/>
              <a:latin typeface="Arial"/>
            </a:endParaRPr>
          </a:p>
          <a:p>
            <a:pPr>
              <a:lnSpc>
                <a:spcPct val="100000"/>
              </a:lnSpc>
            </a:pPr>
            <a:r>
              <a:rPr b="1"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n, m;</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Func rotated("rotated");</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float angle_radians = angle * (float)M_PI / 180.0f;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float cos_theta = cos(angle_radians);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float sin_theta = sin(angle_radians);</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rotated(n, m) = 0.0f;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k = 0; k &lt;= order; ++k)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l = 0; l &lt;= order; ++l)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rotated(n, m) += coeffs(k, l)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cos_theta * hermite(n, k)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sin_theta * hermite(m, l);</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return rotated;</a:t>
            </a:r>
            <a:endParaRPr b="0" lang="en-US" sz="1400" strike="noStrike" u="none">
              <a:solidFill>
                <a:srgbClr val="ffffff"/>
              </a:solidFill>
              <a:uFillTx/>
              <a:latin typeface="Arial"/>
            </a:endParaRPr>
          </a:p>
        </p:txBody>
      </p:sp>
      <p:sp>
        <p:nvSpPr>
          <p:cNvPr id="162"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63"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164"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65" name="Google Shape;215;p6"/>
          <p:cNvSpPr/>
          <p:nvPr/>
        </p:nvSpPr>
        <p:spPr>
          <a:xfrm>
            <a:off x="0" y="107856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1st code</a:t>
            </a:r>
            <a:r>
              <a:rPr b="1" lang="en-IN" sz="1600" strike="noStrike" u="sng">
                <a:solidFill>
                  <a:srgbClr val="0e4094"/>
                </a:solidFill>
                <a:uFillTx/>
                <a:latin typeface="Calibri"/>
                <a:ea typeface="Calibri"/>
              </a:rPr>
              <a:t> </a:t>
            </a:r>
            <a:r>
              <a:rPr b="0" lang="en-IN" sz="1600" strike="noStrike" u="none">
                <a:solidFill>
                  <a:srgbClr val="0e4094"/>
                </a:solidFill>
                <a:uFillTx/>
                <a:latin typeface="Calibri"/>
                <a:ea typeface="Calibri"/>
              </a:rPr>
              <a:t> </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166"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167" name="Google Shape;216;p6"/>
          <p:cNvSpPr/>
          <p:nvPr/>
        </p:nvSpPr>
        <p:spPr>
          <a:xfrm>
            <a:off x="5999400" y="1807200"/>
            <a:ext cx="5762880" cy="426888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1600" strike="noStrike" u="none">
                <a:solidFill>
                  <a:schemeClr val="dk1">
                    <a:lumMod val="85000"/>
                  </a:schemeClr>
                </a:solidFill>
                <a:uFillTx/>
                <a:latin typeface="Arial"/>
                <a:ea typeface="Arial"/>
              </a:rPr>
              <a:t>4. </a:t>
            </a:r>
            <a:r>
              <a:rPr b="1" lang="en-IN" sz="1600" strike="noStrike" u="none">
                <a:solidFill>
                  <a:schemeClr val="dk1">
                    <a:lumMod val="85000"/>
                  </a:schemeClr>
                </a:solidFill>
                <a:uFillTx/>
                <a:latin typeface="Arial"/>
                <a:ea typeface="Arial"/>
              </a:rPr>
              <a:t>R</a:t>
            </a:r>
            <a:r>
              <a:rPr b="1" lang="en-IN" sz="1400" strike="noStrike" u="none">
                <a:solidFill>
                  <a:schemeClr val="dk1">
                    <a:lumMod val="85000"/>
                  </a:schemeClr>
                </a:solidFill>
                <a:uFillTx/>
                <a:latin typeface="Arial"/>
                <a:ea typeface="Arial"/>
              </a:rPr>
              <a:t>econstruct image</a:t>
            </a:r>
            <a:r>
              <a:rPr b="1" lang="en-IN" sz="1600" strike="noStrike" u="none">
                <a:solidFill>
                  <a:schemeClr val="dk1">
                    <a:lumMod val="85000"/>
                  </a:schemeClr>
                </a:solidFill>
                <a:uFillTx/>
                <a:latin typeface="Arial"/>
                <a:ea typeface="Arial"/>
              </a:rPr>
              <a:t>: </a:t>
            </a:r>
            <a:endParaRPr b="0" lang="en-US" sz="16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Var x("x"), y("y"), c("c");</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Func reconstructed("reconstructed");</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Expr xc = cast&lt;float&gt;(x) - cast&lt;float&gt;(width) / 2.0f;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Expr yc = cast&lt;float&gt;(y) - cast&lt;float&gt;(height) / 2.0f;</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RDom r(0, order + 1, 0, order + 1); // Iterate from 0 to order</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reconstructed(x, y, c) = 0.0f;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n = 0; n &lt;= order; ++n)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m = 0; m &lt;= order; ++m)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reconstructed(x, y, c) += coeffs(n, m, c)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hermite(n, xc)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hermite(m, yc);</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return reconstructed;</a:t>
            </a: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69"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170"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71"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 </a:t>
            </a:r>
            <a:r>
              <a:rPr b="0" lang="en-IN" sz="1600" strike="noStrike" u="none">
                <a:solidFill>
                  <a:srgbClr val="0e4094"/>
                </a:solidFill>
                <a:uFillTx/>
                <a:latin typeface="Calibri"/>
                <a:ea typeface="Calibri"/>
              </a:rPr>
              <a:t>2</a:t>
            </a:r>
            <a:r>
              <a:rPr b="0" lang="en-IN" sz="1600" strike="noStrike" u="none" baseline="30000">
                <a:solidFill>
                  <a:srgbClr val="0e4094"/>
                </a:solidFill>
                <a:uFillTx/>
                <a:latin typeface="Calibri"/>
                <a:ea typeface="Calibri"/>
              </a:rPr>
              <a:t>nd</a:t>
            </a:r>
            <a:r>
              <a:rPr b="0" lang="en-IN" sz="1600" strike="noStrike" u="none">
                <a:solidFill>
                  <a:srgbClr val="0e4094"/>
                </a:solidFill>
                <a:uFillTx/>
                <a:latin typeface="Calibri"/>
                <a:ea typeface="Calibri"/>
              </a:rPr>
              <a:t> Code</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172"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173" name="Rectangle 1"/>
          <p:cNvSpPr/>
          <p:nvPr/>
        </p:nvSpPr>
        <p:spPr>
          <a:xfrm>
            <a:off x="429480" y="1984680"/>
            <a:ext cx="4671000" cy="41457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Clr>
                <a:srgbClr val="ffffff"/>
              </a:buClr>
              <a:buFont typeface="Arial"/>
              <a:buAutoNum type="arabicPeriod"/>
            </a:pPr>
            <a:r>
              <a:rPr b="1" lang="en-IN" sz="1400" strike="noStrike" u="none">
                <a:solidFill>
                  <a:schemeClr val="dk1">
                    <a:lumMod val="85000"/>
                  </a:schemeClr>
                </a:solidFill>
                <a:uFillTx/>
                <a:latin typeface="Arial"/>
                <a:ea typeface="Arial"/>
              </a:rPr>
              <a:t>Hermite Polynomial Function:</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Expr hermite(Expr n, Expr x)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Base cases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h0 = Expr(1.0f);</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h1 = 2.0f * x;</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h = select(n == 0, h0,</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n == 1, h1,</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Iterative calculation</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for (int i = 2; i &lt;= 10; ++i) { // Limit the loop to a maximum of 10 to prevent infinite loops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 = select(n == i, 2.0f * x * h1 - 2.0f * (i - 1) * h0, h);</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h0 = select(n == i, h1, h0);</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h1 = select(n == i, h, h1);</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return h;</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174" name="Rectangle 7"/>
          <p:cNvSpPr/>
          <p:nvPr/>
        </p:nvSpPr>
        <p:spPr>
          <a:xfrm>
            <a:off x="5385600" y="1984680"/>
            <a:ext cx="6390000" cy="3932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lumMod val="85000"/>
                  </a:schemeClr>
                </a:solidFill>
                <a:uFillTx/>
                <a:latin typeface="Arial"/>
                <a:ea typeface="Arial"/>
              </a:rPr>
              <a:t>2.</a:t>
            </a:r>
            <a:r>
              <a:rPr b="1" lang="en-US" sz="1400" strike="noStrike" u="none">
                <a:solidFill>
                  <a:schemeClr val="dk1">
                    <a:lumMod val="85000"/>
                  </a:schemeClr>
                </a:solidFill>
                <a:uFillTx/>
                <a:latin typeface="Arial"/>
                <a:ea typeface="Arial"/>
              </a:rPr>
              <a:t> Hermite Expansion of an Image</a:t>
            </a:r>
            <a:r>
              <a:rPr b="1"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1" lang="en-IN" sz="1400" strike="noStrike" u="none">
                <a:solidFill>
                  <a:schemeClr val="dk1">
                    <a:lumMod val="85000"/>
                  </a:schemeClr>
                </a:solidFill>
                <a:uFillTx/>
                <a:latin typeface="Arial"/>
                <a:ea typeface="Arial"/>
              </a:rPr>
              <a:t>	</a:t>
            </a:r>
            <a:r>
              <a:rPr b="1" lang="en-IN"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No change from 1st code. </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1" lang="pt-BR" sz="1400" strike="noStrike" u="none">
                <a:solidFill>
                  <a:schemeClr val="dk1">
                    <a:lumMod val="85000"/>
                  </a:schemeClr>
                </a:solidFill>
                <a:uFillTx/>
                <a:latin typeface="Arial"/>
                <a:ea typeface="Arial"/>
              </a:rPr>
              <a:t>3. Rotate hermite:</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changed these variables from int to Var.</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Var n("n"), m("m"), c("c");</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4. Re</a:t>
            </a:r>
            <a:r>
              <a:rPr b="1" lang="en-IN" sz="1400" strike="noStrike" u="none">
                <a:solidFill>
                  <a:schemeClr val="dk1">
                    <a:lumMod val="85000"/>
                  </a:schemeClr>
                </a:solidFill>
                <a:uFillTx/>
                <a:latin typeface="Arial"/>
                <a:ea typeface="Arial"/>
              </a:rPr>
              <a:t>construct image:</a:t>
            </a:r>
            <a:endParaRPr b="0" lang="en-US" sz="1400" strike="noStrike" u="none">
              <a:solidFill>
                <a:srgbClr val="ffffff"/>
              </a:solidFill>
              <a:uFillTx/>
              <a:latin typeface="Arial"/>
            </a:endParaRPr>
          </a:p>
          <a:p>
            <a:pPr>
              <a:lnSpc>
                <a:spcPct val="100000"/>
              </a:lnSpc>
            </a:pPr>
            <a:r>
              <a:rPr b="1" lang="pt-BR" sz="1400" strike="noStrike" u="none">
                <a:solidFill>
                  <a:schemeClr val="dk1">
                    <a:lumMod val="85000"/>
                  </a:schemeClr>
                </a:solidFill>
                <a:uFillTx/>
                <a:latin typeface="Arial"/>
                <a:ea typeface="Arial"/>
              </a:rPr>
              <a:t> </a:t>
            </a:r>
            <a:r>
              <a:rPr b="1" lang="pt-BR" sz="1400" strike="noStrike" u="none">
                <a:solidFill>
                  <a:schemeClr val="dk1">
                    <a:lumMod val="85000"/>
                  </a:schemeClr>
                </a:solidFill>
                <a:uFillTx/>
                <a:latin typeface="Arial"/>
                <a:ea typeface="Arial"/>
              </a:rPr>
              <a:t>	</a:t>
            </a:r>
            <a:r>
              <a:rPr b="1"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No change from 1st code. </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1" lang="pt-BR" sz="1400" strike="noStrike" u="none">
                <a:solidFill>
                  <a:schemeClr val="dk1">
                    <a:lumMod val="85000"/>
                  </a:schemeClr>
                </a:solidFill>
                <a:uFillTx/>
                <a:latin typeface="Arial"/>
                <a:ea typeface="Arial"/>
              </a:rPr>
              <a:t>Error: </a:t>
            </a:r>
            <a:r>
              <a:rPr b="0" lang="pt-BR" sz="1400" strike="noStrike" u="none">
                <a:solidFill>
                  <a:schemeClr val="dk1">
                    <a:lumMod val="85000"/>
                  </a:schemeClr>
                </a:solidFill>
                <a:uFillTx/>
                <a:latin typeface="Arial"/>
                <a:ea typeface="Arial"/>
              </a:rPr>
              <a:t>Segmentation fault.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Possible reason :- </a:t>
            </a:r>
            <a:r>
              <a:rPr b="0" lang="en-IN" sz="1400" strike="noStrike" u="none">
                <a:solidFill>
                  <a:schemeClr val="dk1">
                    <a:lumMod val="85000"/>
                  </a:schemeClr>
                </a:solidFill>
                <a:uFillTx/>
                <a:latin typeface="Arial"/>
                <a:ea typeface="Arial"/>
              </a:rPr>
              <a:t>Accessing out-of-bounds memory. As no </a:t>
            </a:r>
            <a:r>
              <a:rPr b="1" lang="en-IN" sz="1400" strike="noStrike" u="none">
                <a:solidFill>
                  <a:schemeClr val="dk1">
                    <a:lumMod val="85000"/>
                  </a:schemeClr>
                </a:solidFill>
                <a:uFillTx/>
                <a:latin typeface="Arial"/>
                <a:ea typeface="Arial"/>
              </a:rPr>
              <a:t>clamp</a:t>
            </a:r>
            <a:r>
              <a:rPr b="0" lang="en-IN" sz="1400" strike="noStrike" u="none">
                <a:solidFill>
                  <a:schemeClr val="dk1">
                    <a:lumMod val="85000"/>
                  </a:schemeClr>
                </a:solidFill>
                <a:uFillTx/>
                <a:latin typeface="Arial"/>
                <a:ea typeface="Arial"/>
              </a:rPr>
              <a:t> is used. </a:t>
            </a:r>
            <a:endParaRPr b="0" lang="en-US" sz="1400" strike="noStrike" u="none">
              <a:solidFill>
                <a:srgbClr val="ffffff"/>
              </a:solidFill>
              <a:uFillTx/>
              <a:latin typeface="Arial"/>
            </a:endParaRPr>
          </a:p>
        </p:txBody>
      </p:sp>
      <p:pic>
        <p:nvPicPr>
          <p:cNvPr id="175" name="Picture 3" descr=""/>
          <p:cNvPicPr/>
          <p:nvPr/>
        </p:nvPicPr>
        <p:blipFill>
          <a:blip r:embed="rId2"/>
          <a:stretch/>
        </p:blipFill>
        <p:spPr>
          <a:xfrm>
            <a:off x="5471280" y="4610520"/>
            <a:ext cx="6191640" cy="742680"/>
          </a:xfrm>
          <a:prstGeom prst="rect">
            <a:avLst/>
          </a:prstGeom>
          <a:ln w="0">
            <a:noFill/>
          </a:ln>
        </p:spPr>
      </p:pic>
      <p:sp>
        <p:nvSpPr>
          <p:cNvPr id="176"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
        <p:nvSpPr>
          <p:cNvPr id="177"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14, 2024</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40240" y="1366560"/>
            <a:ext cx="8530920" cy="690480"/>
          </a:xfrm>
          <a:prstGeom prst="rect">
            <a:avLst/>
          </a:prstGeom>
          <a:noFill/>
          <a:ln w="0">
            <a:noFill/>
          </a:ln>
        </p:spPr>
        <p:txBody>
          <a:bodyPr lIns="91440" rIns="91440" tIns="45720" bIns="45720" anchor="b">
            <a:normAutofit fontScale="85000" lnSpcReduction="9999"/>
          </a:bodyPr>
          <a:p>
            <a:pPr indent="0">
              <a:lnSpc>
                <a:spcPct val="90000"/>
              </a:lnSpc>
              <a:buNone/>
            </a:pPr>
            <a:r>
              <a:rPr b="0" lang="en-US" sz="3200" strike="noStrike" u="none">
                <a:solidFill>
                  <a:schemeClr val="dk1"/>
                </a:solidFill>
                <a:uFillTx/>
                <a:latin typeface="Arial"/>
                <a:ea typeface="Arial"/>
              </a:rPr>
              <a:t>Using recursion implemented the hermite function</a:t>
            </a:r>
            <a:endParaRPr b="0" lang="en-US" sz="3200" strike="noStrike" u="none">
              <a:solidFill>
                <a:srgbClr val="000000"/>
              </a:solidFill>
              <a:uFillTx/>
              <a:latin typeface="Arial"/>
            </a:endParaRPr>
          </a:p>
        </p:txBody>
      </p:sp>
      <p:pic>
        <p:nvPicPr>
          <p:cNvPr id="179" name="Picture Placeholder 6" descr="Screenshot 2024-06-14 011846"/>
          <p:cNvPicPr/>
          <p:nvPr/>
        </p:nvPicPr>
        <p:blipFill>
          <a:blip r:embed="rId1"/>
          <a:stretch/>
        </p:blipFill>
        <p:spPr>
          <a:xfrm>
            <a:off x="2595240" y="2373480"/>
            <a:ext cx="6171840" cy="3047760"/>
          </a:xfrm>
          <a:prstGeom prst="rect">
            <a:avLst/>
          </a:prstGeom>
          <a:ln w="0">
            <a:noFill/>
          </a:ln>
        </p:spPr>
      </p:pic>
      <p:sp>
        <p:nvSpPr>
          <p:cNvPr id="180" name="PlaceHolder 2"/>
          <p:cNvSpPr>
            <a:spLocks noGrp="1"/>
          </p:cNvSpPr>
          <p:nvPr>
            <p:ph/>
          </p:nvPr>
        </p:nvSpPr>
        <p:spPr>
          <a:xfrm>
            <a:off x="839880" y="2057400"/>
            <a:ext cx="3931920" cy="3811320"/>
          </a:xfrm>
          <a:prstGeom prst="rect">
            <a:avLst/>
          </a:prstGeom>
          <a:noFill/>
          <a:ln w="0">
            <a:noFill/>
          </a:ln>
        </p:spPr>
        <p:txBody>
          <a:bodyPr lIns="91440" rIns="91440" tIns="45720" bIns="45720" anchor="t">
            <a:noAutofit/>
          </a:bodyPr>
          <a:p>
            <a:pPr indent="0">
              <a:spcBef>
                <a:spcPts val="1417"/>
              </a:spcBef>
              <a:buNone/>
            </a:pPr>
            <a:endParaRPr b="0" lang="en-US" sz="1600" strike="noStrike" u="none">
              <a:solidFill>
                <a:schemeClr val="lt2"/>
              </a:solidFill>
              <a:uFillTx/>
              <a:latin typeface="Arial"/>
              <a:ea typeface="Arial"/>
            </a:endParaRPr>
          </a:p>
        </p:txBody>
      </p:sp>
      <p:pic>
        <p:nvPicPr>
          <p:cNvPr id="181"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182" name="Google Shape;215;p6"/>
          <p:cNvSpPr/>
          <p:nvPr/>
        </p:nvSpPr>
        <p:spPr>
          <a:xfrm>
            <a:off x="106200" y="732240"/>
            <a:ext cx="12191760" cy="48744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127080" algn="just">
              <a:lnSpc>
                <a:spcPct val="100000"/>
              </a:lnSpc>
              <a:tabLst>
                <a:tab algn="l" pos="0"/>
              </a:tabLst>
            </a:pPr>
            <a:endParaRPr b="0" lang="en-US" sz="1400" strike="noStrike" u="none">
              <a:solidFill>
                <a:srgbClr val="000000"/>
              </a:solidFill>
              <a:uFillTx/>
              <a:latin typeface="Arial"/>
            </a:endParaRPr>
          </a:p>
          <a:p>
            <a:pPr algn="just">
              <a:lnSpc>
                <a:spcPct val="100000"/>
              </a:lnSpc>
              <a:tabLst>
                <a:tab algn="l" pos="0"/>
              </a:tabLst>
            </a:pPr>
            <a:r>
              <a:rPr b="0" lang="en-IN" sz="1200" strike="noStrike" u="none">
                <a:solidFill>
                  <a:srgbClr val="0e4094"/>
                </a:solidFill>
                <a:uFillTx/>
                <a:latin typeface="Calibri"/>
                <a:ea typeface="Calibri"/>
              </a:rPr>
              <a:t>    </a:t>
            </a:r>
            <a:endParaRPr b="0" lang="en-US" sz="1200" strike="noStrike" u="none">
              <a:solidFill>
                <a:srgbClr val="000000"/>
              </a:solidFill>
              <a:uFillTx/>
              <a:latin typeface="Arial"/>
            </a:endParaRPr>
          </a:p>
        </p:txBody>
      </p:sp>
      <p:sp>
        <p:nvSpPr>
          <p:cNvPr id="183"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84"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85"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14, 2024</a:t>
            </a:r>
            <a:endParaRPr b="0" lang="en-US" sz="2660" strike="noStrike" u="none">
              <a:solidFill>
                <a:srgbClr val="ffffff"/>
              </a:solidFill>
              <a:uFillTx/>
              <a:latin typeface="Arial"/>
            </a:endParaRPr>
          </a:p>
        </p:txBody>
      </p:sp>
      <p:sp>
        <p:nvSpPr>
          <p:cNvPr id="186"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840240" y="1235880"/>
            <a:ext cx="3931560" cy="821160"/>
          </a:xfrm>
          <a:prstGeom prst="rect">
            <a:avLst/>
          </a:prstGeom>
          <a:noFill/>
          <a:ln w="0">
            <a:noFill/>
          </a:ln>
        </p:spPr>
        <p:txBody>
          <a:bodyPr lIns="91440" rIns="91440" tIns="45720" bIns="45720" anchor="b">
            <a:normAutofit/>
          </a:bodyPr>
          <a:p>
            <a:pPr indent="0">
              <a:lnSpc>
                <a:spcPct val="90000"/>
              </a:lnSpc>
              <a:buNone/>
            </a:pPr>
            <a:r>
              <a:rPr b="0" lang="en-US" sz="3200" strike="noStrike" u="none">
                <a:solidFill>
                  <a:schemeClr val="dk1"/>
                </a:solidFill>
                <a:uFillTx/>
                <a:latin typeface="Arial"/>
                <a:ea typeface="Arial"/>
              </a:rPr>
              <a:t>Rotate hermite</a:t>
            </a:r>
            <a:endParaRPr b="0" lang="en-US" sz="3200" strike="noStrike" u="none">
              <a:solidFill>
                <a:srgbClr val="000000"/>
              </a:solidFill>
              <a:uFillTx/>
              <a:latin typeface="Arial"/>
            </a:endParaRPr>
          </a:p>
        </p:txBody>
      </p:sp>
      <p:sp>
        <p:nvSpPr>
          <p:cNvPr id="188" name="PlaceHolder 2"/>
          <p:cNvSpPr>
            <a:spLocks noGrp="1"/>
          </p:cNvSpPr>
          <p:nvPr>
            <p:ph/>
          </p:nvPr>
        </p:nvSpPr>
        <p:spPr>
          <a:xfrm>
            <a:off x="839880" y="2057400"/>
            <a:ext cx="3931920" cy="3811320"/>
          </a:xfrm>
          <a:prstGeom prst="rect">
            <a:avLst/>
          </a:prstGeom>
          <a:noFill/>
          <a:ln w="0">
            <a:noFill/>
          </a:ln>
        </p:spPr>
        <p:txBody>
          <a:bodyPr lIns="91440" rIns="91440" tIns="45720" bIns="45720" anchor="t">
            <a:noAutofit/>
          </a:bodyPr>
          <a:p>
            <a:pPr indent="0">
              <a:spcBef>
                <a:spcPts val="1417"/>
              </a:spcBef>
              <a:buNone/>
            </a:pPr>
            <a:endParaRPr b="0" lang="en-US" sz="1600" strike="noStrike" u="none">
              <a:solidFill>
                <a:schemeClr val="lt2"/>
              </a:solidFill>
              <a:uFillTx/>
              <a:latin typeface="Arial"/>
              <a:ea typeface="Arial"/>
            </a:endParaRPr>
          </a:p>
        </p:txBody>
      </p:sp>
      <p:sp>
        <p:nvSpPr>
          <p:cNvPr id="189" name="Google Shape;215;p6"/>
          <p:cNvSpPr/>
          <p:nvPr/>
        </p:nvSpPr>
        <p:spPr>
          <a:xfrm>
            <a:off x="106200" y="732240"/>
            <a:ext cx="12191760" cy="48744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127080" algn="just">
              <a:lnSpc>
                <a:spcPct val="100000"/>
              </a:lnSpc>
              <a:tabLst>
                <a:tab algn="l" pos="0"/>
              </a:tabLst>
            </a:pPr>
            <a:endParaRPr b="0" lang="en-US" sz="1400" strike="noStrike" u="none">
              <a:solidFill>
                <a:srgbClr val="000000"/>
              </a:solidFill>
              <a:uFillTx/>
              <a:latin typeface="Arial"/>
            </a:endParaRPr>
          </a:p>
          <a:p>
            <a:pPr algn="just">
              <a:lnSpc>
                <a:spcPct val="100000"/>
              </a:lnSpc>
              <a:tabLst>
                <a:tab algn="l" pos="0"/>
              </a:tabLst>
            </a:pPr>
            <a:r>
              <a:rPr b="0" lang="en-IN" sz="1200" strike="noStrike" u="none">
                <a:solidFill>
                  <a:srgbClr val="0e4094"/>
                </a:solidFill>
                <a:uFillTx/>
                <a:latin typeface="Calibri"/>
                <a:ea typeface="Calibri"/>
              </a:rPr>
              <a:t>    </a:t>
            </a:r>
            <a:endParaRPr b="0" lang="en-US" sz="1200" strike="noStrike" u="none">
              <a:solidFill>
                <a:srgbClr val="000000"/>
              </a:solidFill>
              <a:uFillTx/>
              <a:latin typeface="Arial"/>
            </a:endParaRPr>
          </a:p>
        </p:txBody>
      </p:sp>
      <p:pic>
        <p:nvPicPr>
          <p:cNvPr id="190"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191"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92"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93" name="Title 1"/>
          <p:cNvSpPr/>
          <p:nvPr/>
        </p:nvSpPr>
        <p:spPr>
          <a:xfrm>
            <a:off x="840240" y="1366560"/>
            <a:ext cx="8530920" cy="690480"/>
          </a:xfrm>
          <a:prstGeom prst="rect">
            <a:avLst/>
          </a:prstGeom>
          <a:noFill/>
          <a:ln w="0">
            <a:noFill/>
          </a:ln>
        </p:spPr>
        <p:style>
          <a:lnRef idx="0"/>
          <a:fillRef idx="0"/>
          <a:effectRef idx="0"/>
          <a:fontRef idx="minor"/>
        </p:style>
        <p:txBody>
          <a:bodyPr anchor="b">
            <a:normAutofit/>
          </a:bodyPr>
          <a:p>
            <a:pPr>
              <a:lnSpc>
                <a:spcPct val="90000"/>
              </a:lnSpc>
            </a:pPr>
            <a:endParaRPr b="0" lang="en-US" sz="3200" strike="noStrike" u="none">
              <a:solidFill>
                <a:schemeClr val="dk1"/>
              </a:solidFill>
              <a:uFillTx/>
              <a:latin typeface="Calibri"/>
              <a:ea typeface="Calibri"/>
            </a:endParaRPr>
          </a:p>
        </p:txBody>
      </p:sp>
      <p:pic>
        <p:nvPicPr>
          <p:cNvPr id="194" name="Picture 13" descr="Screenshot 2024-06-18 104210"/>
          <p:cNvPicPr/>
          <p:nvPr/>
        </p:nvPicPr>
        <p:blipFill>
          <a:blip r:embed="rId2"/>
          <a:stretch/>
        </p:blipFill>
        <p:spPr>
          <a:xfrm>
            <a:off x="1700640" y="2070720"/>
            <a:ext cx="5981400" cy="3522600"/>
          </a:xfrm>
          <a:prstGeom prst="rect">
            <a:avLst/>
          </a:prstGeom>
          <a:ln w="0">
            <a:noFill/>
          </a:ln>
        </p:spPr>
      </p:pic>
      <p:pic>
        <p:nvPicPr>
          <p:cNvPr id="195" name="Picture Placeholder 14" descr=""/>
          <p:cNvPicPr/>
          <p:nvPr/>
        </p:nvPicPr>
        <p:blipFill>
          <a:blip r:embed="rId3"/>
          <a:stretch/>
        </p:blipFill>
        <p:spPr>
          <a:xfrm>
            <a:off x="6019560" y="1367280"/>
            <a:ext cx="6171840" cy="4873320"/>
          </a:xfrm>
          <a:prstGeom prst="rect">
            <a:avLst/>
          </a:prstGeom>
          <a:ln w="0">
            <a:noFill/>
          </a:ln>
        </p:spPr>
      </p:pic>
      <p:sp>
        <p:nvSpPr>
          <p:cNvPr id="196"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17, 2024</a:t>
            </a:r>
            <a:endParaRPr b="0" lang="en-US" sz="2660" strike="noStrike" u="none">
              <a:solidFill>
                <a:srgbClr val="ffffff"/>
              </a:solidFill>
              <a:uFillTx/>
              <a:latin typeface="Arial"/>
            </a:endParaRPr>
          </a:p>
        </p:txBody>
      </p:sp>
      <p:sp>
        <p:nvSpPr>
          <p:cNvPr id="197"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199"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200"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01"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 </a:t>
            </a:r>
            <a:r>
              <a:rPr b="0" lang="en-IN" sz="1600" strike="noStrike" u="none">
                <a:solidFill>
                  <a:srgbClr val="0e4094"/>
                </a:solidFill>
                <a:uFillTx/>
                <a:latin typeface="Calibri"/>
                <a:ea typeface="Calibri"/>
              </a:rPr>
              <a:t>3</a:t>
            </a:r>
            <a:r>
              <a:rPr b="0" lang="en-IN" sz="1600" strike="noStrike" u="none" baseline="30000">
                <a:solidFill>
                  <a:srgbClr val="0e4094"/>
                </a:solidFill>
                <a:uFillTx/>
                <a:latin typeface="Calibri"/>
                <a:ea typeface="Calibri"/>
              </a:rPr>
              <a:t>rd</a:t>
            </a:r>
            <a:r>
              <a:rPr b="0" lang="en-IN" sz="1600" strike="noStrike" u="none">
                <a:solidFill>
                  <a:srgbClr val="0e4094"/>
                </a:solidFill>
                <a:uFillTx/>
                <a:latin typeface="Calibri"/>
                <a:ea typeface="Calibri"/>
              </a:rPr>
              <a:t> Code</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202"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203" name="Rectangle 1"/>
          <p:cNvSpPr/>
          <p:nvPr/>
        </p:nvSpPr>
        <p:spPr>
          <a:xfrm>
            <a:off x="313200" y="1984680"/>
            <a:ext cx="6701400" cy="32918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Clr>
                <a:srgbClr val="ffffff"/>
              </a:buClr>
              <a:buFont typeface="Arial"/>
              <a:buAutoNum type="arabicPeriod"/>
            </a:pPr>
            <a:r>
              <a:rPr b="1" lang="en-IN" sz="1400" strike="noStrike" u="none">
                <a:solidFill>
                  <a:schemeClr val="dk1">
                    <a:lumMod val="85000"/>
                  </a:schemeClr>
                </a:solidFill>
                <a:uFillTx/>
                <a:latin typeface="Arial"/>
                <a:ea typeface="Arial"/>
              </a:rPr>
              <a:t>Hermite Polynomial Function:</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Func hermite_function(int n, Expr x)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Func H("H" + std::to_string(n)); Var t("t");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if (n == 0)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H(t) = 1.0f;</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else if (n == 1)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H(t) = 2.0f * 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else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Func Hn_1 = hermite_function(n - 1, x);</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Func Hn_2 = hermite_function(n - 2, x);</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H(t) = 2.0f * t * Hn_1(t) - 2.0f * (n - 1) * Hn_2(t);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H.compute_root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return H;</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p:txBody>
      </p:sp>
      <p:sp>
        <p:nvSpPr>
          <p:cNvPr id="204" name="Rectangle 10"/>
          <p:cNvSpPr/>
          <p:nvPr/>
        </p:nvSpPr>
        <p:spPr>
          <a:xfrm>
            <a:off x="6095880" y="1984680"/>
            <a:ext cx="5099400" cy="4572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lumMod val="85000"/>
                  </a:schemeClr>
                </a:solidFill>
                <a:uFillTx/>
                <a:latin typeface="Arial"/>
                <a:ea typeface="Arial"/>
              </a:rPr>
              <a:t>2.</a:t>
            </a:r>
            <a:r>
              <a:rPr b="1" lang="en-US" sz="1400" strike="noStrike" u="none">
                <a:solidFill>
                  <a:schemeClr val="dk1">
                    <a:lumMod val="85000"/>
                  </a:schemeClr>
                </a:solidFill>
                <a:uFillTx/>
                <a:latin typeface="Arial"/>
                <a:ea typeface="Arial"/>
              </a:rPr>
              <a:t> Hermite Expansion of an Image</a:t>
            </a:r>
            <a:r>
              <a:rPr b="1"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Func hermite_expansion(Func image, int max_order, Expr rows, Expr cols, Expr channels)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Var n("n"), m("m"), c("c");</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Func coeffs("coeffs");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coeffs(n, m, c) = 0.0f;</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RDom r(0, rows, 0, cols, 0, channels);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n = 0; n &lt; max_order; n++)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m = 0; m &lt; max_order; m++)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Func Hn = hermite_function(n, cast&lt;float&gt;(r.x) / (rows / 2.0f) - 1.0f);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Func Hm = hermite_function(m, cast&lt;float&gt;(r.y) / (cols / 2.0f) - 1.0f);</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coeffs(n, m, r.z) += image(r.x, r.y, r.z) * Hn(r.x) * Hm(r.y);</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return coeffs;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05"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
        <p:nvSpPr>
          <p:cNvPr id="206"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17, 2024</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208"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209"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10"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 </a:t>
            </a:r>
            <a:r>
              <a:rPr b="0" lang="en-IN" sz="1600" strike="noStrike" u="none">
                <a:solidFill>
                  <a:srgbClr val="0e4094"/>
                </a:solidFill>
                <a:uFillTx/>
                <a:latin typeface="Calibri"/>
                <a:ea typeface="Calibri"/>
              </a:rPr>
              <a:t>3</a:t>
            </a:r>
            <a:r>
              <a:rPr b="0" lang="en-IN" sz="1600" strike="noStrike" u="none" baseline="30000">
                <a:solidFill>
                  <a:srgbClr val="0e4094"/>
                </a:solidFill>
                <a:uFillTx/>
                <a:latin typeface="Calibri"/>
                <a:ea typeface="Calibri"/>
              </a:rPr>
              <a:t>rd</a:t>
            </a:r>
            <a:r>
              <a:rPr b="0" lang="en-IN" sz="1600" strike="noStrike" u="none">
                <a:solidFill>
                  <a:srgbClr val="0e4094"/>
                </a:solidFill>
                <a:uFillTx/>
                <a:latin typeface="Calibri"/>
                <a:ea typeface="Calibri"/>
              </a:rPr>
              <a:t> Code</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211"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212" name="Rectangle 1"/>
          <p:cNvSpPr/>
          <p:nvPr/>
        </p:nvSpPr>
        <p:spPr>
          <a:xfrm>
            <a:off x="429480" y="1984680"/>
            <a:ext cx="5528160" cy="4572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trike="noStrike" u="none">
                <a:solidFill>
                  <a:schemeClr val="dk1">
                    <a:lumMod val="85000"/>
                  </a:schemeClr>
                </a:solidFill>
                <a:uFillTx/>
                <a:latin typeface="Arial"/>
                <a:ea typeface="Arial"/>
              </a:rPr>
              <a:t>3. Rotate hermite:</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Func rotate_image(Func coeffs, float angle, int max_order, Expr channels) {</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Var n("n"), m("m"), c("c");</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Func rotated_coeffs("rotated_coeffs");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Calculate the rotation matrix elements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float angle_radians = angle * static_cast&lt;float&gt;(M_PI) / 180.0f;</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cos_angle = cos(angle_radians);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sin_angle = sin(angle_radians);</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 Initialize rotated_coeffs to zero</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rotated_coeffs(n, m, c) = 0.0f;</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RDom r(0, max_order, 0, max_order, 0, channels);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new_n = cast&lt;int&gt;(round(cos_angle * r.x - sin_angle * r.y));</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Expr new_m = cast&lt;int&gt;(round(sin_angle * r.x + cos_angle * r.y));</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rotated_coeffs(clamp(new_n, 0, max_order - 1), clamp(new_m, 0, max_order - 1), r.z) += coeffs(r.x, r.y, r.z);</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return rotated_coeffs;</a:t>
            </a:r>
            <a:endParaRPr b="0" lang="en-US" sz="1400" strike="noStrike" u="none">
              <a:solidFill>
                <a:srgbClr val="ffffff"/>
              </a:solidFill>
              <a:uFillTx/>
              <a:latin typeface="Arial"/>
            </a:endParaRPr>
          </a:p>
        </p:txBody>
      </p:sp>
      <p:sp>
        <p:nvSpPr>
          <p:cNvPr id="213" name="Rectangle 12"/>
          <p:cNvSpPr/>
          <p:nvPr/>
        </p:nvSpPr>
        <p:spPr>
          <a:xfrm>
            <a:off x="6248520" y="1824840"/>
            <a:ext cx="567972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4. Re</a:t>
            </a:r>
            <a:r>
              <a:rPr b="1" lang="en-IN" sz="1400" strike="noStrike" u="none">
                <a:solidFill>
                  <a:schemeClr val="dk1">
                    <a:lumMod val="85000"/>
                  </a:schemeClr>
                </a:solidFill>
                <a:uFillTx/>
                <a:latin typeface="Arial"/>
                <a:ea typeface="Arial"/>
              </a:rPr>
              <a:t>construct image: No changes from previous code.</a:t>
            </a:r>
            <a:endParaRPr b="0" lang="en-US" sz="1400" strike="noStrike" u="none">
              <a:solidFill>
                <a:srgbClr val="ffffff"/>
              </a:solidFill>
              <a:uFillTx/>
              <a:latin typeface="Arial"/>
            </a:endParaRPr>
          </a:p>
        </p:txBody>
      </p:sp>
      <p:sp>
        <p:nvSpPr>
          <p:cNvPr id="214" name="Rectangle 13"/>
          <p:cNvSpPr/>
          <p:nvPr/>
        </p:nvSpPr>
        <p:spPr>
          <a:xfrm>
            <a:off x="6248520" y="2934000"/>
            <a:ext cx="5200200" cy="2010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trike="noStrike" u="none">
              <a:solidFill>
                <a:srgbClr val="ffffff"/>
              </a:solidFill>
              <a:uFillTx/>
              <a:latin typeface="Arial"/>
            </a:endParaRPr>
          </a:p>
          <a:p>
            <a:pPr>
              <a:lnSpc>
                <a:spcPct val="100000"/>
              </a:lnSpc>
            </a:pPr>
            <a:r>
              <a:rPr b="1" lang="pt-BR" sz="1400" strike="noStrike" u="none">
                <a:solidFill>
                  <a:schemeClr val="dk1">
                    <a:lumMod val="85000"/>
                  </a:schemeClr>
                </a:solidFill>
                <a:uFillTx/>
                <a:latin typeface="Arial"/>
                <a:ea typeface="Arial"/>
              </a:rPr>
              <a:t>Problem: </a:t>
            </a:r>
            <a:r>
              <a:rPr b="0" lang="pt-BR" sz="1400" strike="noStrike" u="none">
                <a:solidFill>
                  <a:schemeClr val="dk1">
                    <a:lumMod val="85000"/>
                  </a:schemeClr>
                </a:solidFill>
                <a:uFillTx/>
                <a:latin typeface="Arial"/>
                <a:ea typeface="Arial"/>
              </a:rPr>
              <a:t>The Execution of code is stuck in the </a:t>
            </a:r>
            <a:r>
              <a:rPr b="0" lang="en-IN" sz="1400" strike="noStrike" u="none">
                <a:solidFill>
                  <a:schemeClr val="dk1">
                    <a:lumMod val="85000"/>
                  </a:schemeClr>
                </a:solidFill>
                <a:uFillTx/>
                <a:latin typeface="Arial"/>
                <a:ea typeface="Arial"/>
              </a:rPr>
              <a:t>realize function of the halide.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pic>
        <p:nvPicPr>
          <p:cNvPr id="215" name="Picture 14" descr=""/>
          <p:cNvPicPr/>
          <p:nvPr/>
        </p:nvPicPr>
        <p:blipFill>
          <a:blip r:embed="rId2"/>
          <a:srcRect l="0" t="0" r="33300" b="0"/>
          <a:stretch/>
        </p:blipFill>
        <p:spPr>
          <a:xfrm>
            <a:off x="6350760" y="3735360"/>
            <a:ext cx="5097600" cy="141048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217"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218"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19"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rgbClr val="0e4094"/>
                </a:solidFill>
                <a:uFillTx/>
                <a:latin typeface="Calibri"/>
                <a:ea typeface="Calibri"/>
              </a:rPr>
              <a:t> </a:t>
            </a:r>
            <a:r>
              <a:rPr b="0" lang="en-IN" sz="1600" strike="noStrike" u="none">
                <a:solidFill>
                  <a:srgbClr val="0e4094"/>
                </a:solidFill>
                <a:uFillTx/>
                <a:latin typeface="Calibri"/>
                <a:ea typeface="Calibri"/>
              </a:rPr>
              <a:t>4</a:t>
            </a:r>
            <a:r>
              <a:rPr b="0" lang="en-IN" sz="1600" strike="noStrike" u="none" baseline="30000">
                <a:solidFill>
                  <a:srgbClr val="0e4094"/>
                </a:solidFill>
                <a:uFillTx/>
                <a:latin typeface="Calibri"/>
                <a:ea typeface="Calibri"/>
              </a:rPr>
              <a:t>th</a:t>
            </a:r>
            <a:r>
              <a:rPr b="0" lang="en-IN" sz="1600" strike="noStrike" u="none">
                <a:solidFill>
                  <a:srgbClr val="0e4094"/>
                </a:solidFill>
                <a:uFillTx/>
                <a:latin typeface="Calibri"/>
                <a:ea typeface="Calibri"/>
              </a:rPr>
              <a:t>  Code  using cpp and OpenCV.</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
        <p:nvSpPr>
          <p:cNvPr id="220"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221" name="Rectangle 1"/>
          <p:cNvSpPr/>
          <p:nvPr/>
        </p:nvSpPr>
        <p:spPr>
          <a:xfrm>
            <a:off x="429480" y="1984680"/>
            <a:ext cx="5528160" cy="4572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trike="noStrike" u="none">
                <a:solidFill>
                  <a:schemeClr val="dk1">
                    <a:lumMod val="85000"/>
                  </a:schemeClr>
                </a:solidFill>
                <a:uFillTx/>
                <a:latin typeface="Arial"/>
                <a:ea typeface="Arial"/>
              </a:rPr>
              <a:t>1. Hermite:</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double hermite(int n, double x)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if (n == 0) return 1.0;</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if (n == 1) return 2.0 * x;</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return 2.0 * x * hermite(n - 1, x) - 2.0 * (n - 1) * hermite(n - 2, x);</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1" lang="pt-BR" sz="1400" strike="noStrike" u="none">
                <a:solidFill>
                  <a:schemeClr val="dk1">
                    <a:lumMod val="85000"/>
                  </a:schemeClr>
                </a:solidFill>
                <a:uFillTx/>
                <a:latin typeface="Arial"/>
                <a:ea typeface="Arial"/>
              </a:rPr>
              <a:t>2. HermiteExpansion:</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std::vector&lt;std::vector&lt;double&gt;&gt; hermiteExpansion(const cv::Mat&amp; channel, int order)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int rows = channel.rows;     int cols = channel.cols;</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std::vector&lt;std::vector&lt;double&gt;&gt; coeffs(order, std::vector&lt;double&gt;(order, 0.0));</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for (int m = 0; m &lt; order; ++m)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for (int n = 0; n &lt; order; ++n)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double sum = 0.0;</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for (int i = 0; i &lt; rows; ++i)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for (int j = 0; j &lt; cols; ++j)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double x = (2.0 * i / rows) - 1.0;</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r>
              <a:rPr b="0" lang="en-US" sz="1400" strike="noStrike" u="none">
                <a:solidFill>
                  <a:schemeClr val="dk1">
                    <a:lumMod val="85000"/>
                  </a:schemeClr>
                </a:solidFill>
                <a:uFillTx/>
                <a:latin typeface="Arial"/>
                <a:ea typeface="Arial"/>
              </a:rPr>
              <a:t>double y = (2.0 * j / cols) - 1.0;</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                    </a:t>
            </a:r>
            <a:endParaRPr b="0" lang="en-US" sz="1400" strike="noStrike" u="none">
              <a:solidFill>
                <a:srgbClr val="ffffff"/>
              </a:solidFill>
              <a:uFillTx/>
              <a:latin typeface="Arial"/>
            </a:endParaRPr>
          </a:p>
        </p:txBody>
      </p:sp>
      <p:sp>
        <p:nvSpPr>
          <p:cNvPr id="222" name="Rectangle 13"/>
          <p:cNvSpPr/>
          <p:nvPr/>
        </p:nvSpPr>
        <p:spPr>
          <a:xfrm>
            <a:off x="6366240" y="1984680"/>
            <a:ext cx="5200200" cy="3078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lumMod val="85000"/>
                  </a:schemeClr>
                </a:solidFill>
                <a:uFillTx/>
                <a:latin typeface="Arial"/>
                <a:ea typeface="Arial"/>
              </a:rPr>
              <a:t>sum += static_cast&lt;double&gt;(channel.at&lt;uchar&gt;(i, j)) * hermite(m, x) * hermite(n, y);</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coeffs[m][n] = sum / (rows * cols); // Normalizing by the number of pixels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    </a:t>
            </a:r>
            <a:r>
              <a:rPr b="0" lang="pt-BR" sz="1400" strike="noStrike" u="none">
                <a:solidFill>
                  <a:schemeClr val="dk1">
                    <a:lumMod val="85000"/>
                  </a:schemeClr>
                </a:solidFill>
                <a:uFillTx/>
                <a:latin typeface="Arial"/>
                <a:ea typeface="Arial"/>
              </a:rPr>
              <a:t>return coeffs;</a:t>
            </a:r>
            <a:endParaRPr b="0" lang="en-US" sz="1400" strike="noStrike" u="none">
              <a:solidFill>
                <a:srgbClr val="ffffff"/>
              </a:solidFill>
              <a:uFillTx/>
              <a:latin typeface="Arial"/>
            </a:endParaRPr>
          </a:p>
          <a:p>
            <a:pPr>
              <a:lnSpc>
                <a:spcPct val="100000"/>
              </a:lnSpc>
            </a:pPr>
            <a:r>
              <a:rPr b="0" lang="pt-BR"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23" name="Google Shape;99;p17"/>
          <p:cNvSpPr/>
          <p:nvPr/>
        </p:nvSpPr>
        <p:spPr>
          <a:xfrm>
            <a:off x="1440" y="62784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
        <p:nvSpPr>
          <p:cNvPr id="224"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21, 2024</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26"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227" name="Rectangle 13"/>
          <p:cNvSpPr/>
          <p:nvPr/>
        </p:nvSpPr>
        <p:spPr>
          <a:xfrm>
            <a:off x="313200" y="1870200"/>
            <a:ext cx="5200200" cy="4786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trike="noStrike" u="none">
                <a:solidFill>
                  <a:schemeClr val="dk1"/>
                </a:solidFill>
                <a:uFillTx/>
                <a:latin typeface="Arial"/>
                <a:ea typeface="Arial"/>
              </a:rPr>
              <a:t>3. RotateChannelUsingHermite: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cv::Mat rotateChannelUsingHermite(const cv::Mat&amp; imageChannel, double angle, int order)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int rows = imageChannel.rows;</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int cols = imageChannel.cols;</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cv::Mat rotatedChannel(rows, cols, CV_64F, cv::Scalar(0.0));</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cosTheta = std::cos(angle);</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sinTheta = std::sin(angle);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for (int i = 0; i &lt; rows; ++i)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for (int j = 0; j &lt; cols; ++j)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x = (2.0 * i / rows) - 1.0;</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y = (2.0 * j / cols) - 1.0;</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newX = cosTheta * x - sinTheta * y;</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newY = sinTheta * x + cosTheta * y;</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 Convert newX, newY back to image pixel coordinates</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int newI = static_cast&lt;int&gt;((newX + 1.0) * rows / 2.0);</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int newJ = static_cast&lt;int&gt;((newY + 1.0) * cols / 2.0);</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28" name="Rectangle 10"/>
          <p:cNvSpPr/>
          <p:nvPr/>
        </p:nvSpPr>
        <p:spPr>
          <a:xfrm>
            <a:off x="6366240" y="1870200"/>
            <a:ext cx="5200200" cy="3932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solidFill>
                <a:uFillTx/>
                <a:latin typeface="Arial"/>
                <a:ea typeface="Arial"/>
              </a:rPr>
              <a:t>if (newI &gt;= 0 &amp;&amp; newI &lt; rows &amp;&amp; newJ &gt;= 0 &amp;&amp; newJ &lt; cols)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rotatedChannel.at&lt;double&gt;(newI, newJ) = static_cast&lt;double&gt;(imageChannel.at&lt;uchar&gt;(i, j));</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 Normalize the channel to the range [0, 255]</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double minVal, maxVal;</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cv::minMaxLoc(rotatedChannel, &amp;minVal, &amp;maxVal);</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rotatedChannel.convertTo(rotatedChannel, CV_8UC1, 255.0 / (maxVal - minVal), -minVal * 255.0 / (maxVal - minVal));</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return rotatedChannel;</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29"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chemeClr val="accent1">
                    <a:lumMod val="50000"/>
                  </a:schemeClr>
                </a:solidFill>
                <a:uFillTx/>
                <a:latin typeface="Calibri"/>
                <a:ea typeface="Calibri"/>
              </a:rPr>
              <a:t> </a:t>
            </a:r>
            <a:r>
              <a:rPr b="0" lang="en-IN" sz="1600" strike="noStrike" u="none">
                <a:solidFill>
                  <a:schemeClr val="accent1">
                    <a:lumMod val="50000"/>
                  </a:schemeClr>
                </a:solidFill>
                <a:uFillTx/>
                <a:latin typeface="Calibri"/>
                <a:ea typeface="Calibri"/>
              </a:rPr>
              <a:t>4th  Code  using cpp and OpenCV.</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0"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31"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Hermite Expansions</a:t>
            </a:r>
            <a:endParaRPr b="0" lang="en-US" sz="3200" strike="noStrike" u="none">
              <a:solidFill>
                <a:srgbClr val="ffffff"/>
              </a:solidFill>
              <a:uFillTx/>
              <a:latin typeface="Arial"/>
            </a:endParaRPr>
          </a:p>
        </p:txBody>
      </p:sp>
      <p:sp>
        <p:nvSpPr>
          <p:cNvPr id="232" name="Rectangle 13"/>
          <p:cNvSpPr/>
          <p:nvPr/>
        </p:nvSpPr>
        <p:spPr>
          <a:xfrm>
            <a:off x="313200" y="1870200"/>
            <a:ext cx="5200200" cy="3718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trike="noStrike" u="none">
                <a:solidFill>
                  <a:schemeClr val="dk1"/>
                </a:solidFill>
                <a:uFillTx/>
                <a:latin typeface="Arial"/>
                <a:ea typeface="Arial"/>
              </a:rPr>
              <a:t>4. </a:t>
            </a:r>
            <a:r>
              <a:rPr b="1" lang="en-IN" sz="1400" strike="noStrike" u="none">
                <a:solidFill>
                  <a:schemeClr val="dk1"/>
                </a:solidFill>
                <a:uFillTx/>
                <a:latin typeface="Arial"/>
                <a:ea typeface="Arial"/>
              </a:rPr>
              <a:t>RotateImageUsingHermite</a:t>
            </a:r>
            <a:r>
              <a:rPr b="1"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r>
              <a:rPr b="1" lang="pt-BR" sz="1400" strike="noStrike" u="none">
                <a:solidFill>
                  <a:schemeClr val="dk1"/>
                </a:solidFill>
                <a:uFillTx/>
                <a:latin typeface="Arial"/>
                <a:ea typeface="Arial"/>
              </a:rPr>
              <a:t>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cv::Mat rotateImageUsingHermite(const cv::Mat&amp; image, double angle, int order)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std::vector&lt;cv::Mat&gt; channels(3);</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cv::split(image, channels);  // Split the image into B, G, R channels</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 Rotate each channel separately</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for (int i = 0; i &lt; 3; ++i)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channels[i] = rotateChannelUsingHermite(channels[i], angle, order);</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cv::Mat rotatedImage;</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cv::merge(channels, rotatedImage); </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    </a:t>
            </a:r>
            <a:r>
              <a:rPr b="0" lang="pt-BR" sz="1400" strike="noStrike" u="none">
                <a:solidFill>
                  <a:schemeClr val="dk1"/>
                </a:solidFill>
                <a:uFillTx/>
                <a:latin typeface="Arial"/>
                <a:ea typeface="Arial"/>
              </a:rPr>
              <a:t>return rotatedImage;</a:t>
            </a:r>
            <a:endParaRPr b="0" lang="en-US" sz="1400" strike="noStrike" u="none">
              <a:solidFill>
                <a:srgbClr val="ffffff"/>
              </a:solidFill>
              <a:uFillTx/>
              <a:latin typeface="Arial"/>
            </a:endParaRPr>
          </a:p>
          <a:p>
            <a:pPr>
              <a:lnSpc>
                <a:spcPct val="100000"/>
              </a:lnSpc>
            </a:pPr>
            <a:r>
              <a:rPr b="0" lang="pt-BR" sz="1400" strike="noStrike" u="none">
                <a:solidFill>
                  <a:schemeClr val="dk1"/>
                </a:solidFill>
                <a:uFillTx/>
                <a:latin typeface="Arial"/>
                <a:ea typeface="Arial"/>
              </a:rPr>
              <a:t>}</a:t>
            </a:r>
            <a:endParaRPr b="0" lang="en-US" sz="1400" strike="noStrike" u="none">
              <a:solidFill>
                <a:srgbClr val="ffffff"/>
              </a:solidFill>
              <a:uFillTx/>
              <a:latin typeface="Arial"/>
            </a:endParaRPr>
          </a:p>
        </p:txBody>
      </p:sp>
      <p:sp>
        <p:nvSpPr>
          <p:cNvPr id="233" name="Rectangle 10"/>
          <p:cNvSpPr/>
          <p:nvPr/>
        </p:nvSpPr>
        <p:spPr>
          <a:xfrm>
            <a:off x="6003720" y="2350440"/>
            <a:ext cx="134856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solidFill>
                <a:uFillTx/>
                <a:latin typeface="Arial"/>
                <a:ea typeface="Arial"/>
              </a:rPr>
              <a:t>Original Image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34" name="Rectangle 12"/>
          <p:cNvSpPr/>
          <p:nvPr/>
        </p:nvSpPr>
        <p:spPr>
          <a:xfrm>
            <a:off x="8967600" y="2131920"/>
            <a:ext cx="2418840" cy="73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trike="noStrike" u="none">
                <a:solidFill>
                  <a:schemeClr val="dk1"/>
                </a:solidFill>
                <a:uFillTx/>
                <a:latin typeface="Arial"/>
                <a:ea typeface="Arial"/>
              </a:rPr>
              <a:t>Rotated Image using Hermite Expansion</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pic>
        <p:nvPicPr>
          <p:cNvPr id="235" name="Picture 14" descr=""/>
          <p:cNvPicPr/>
          <p:nvPr/>
        </p:nvPicPr>
        <p:blipFill>
          <a:blip r:embed="rId2"/>
          <a:stretch/>
        </p:blipFill>
        <p:spPr>
          <a:xfrm>
            <a:off x="8948880" y="2870640"/>
            <a:ext cx="2437920" cy="2437920"/>
          </a:xfrm>
          <a:prstGeom prst="rect">
            <a:avLst/>
          </a:prstGeom>
          <a:ln w="0">
            <a:noFill/>
          </a:ln>
        </p:spPr>
      </p:pic>
      <p:pic>
        <p:nvPicPr>
          <p:cNvPr id="236" name="Picture 16" descr=""/>
          <p:cNvPicPr/>
          <p:nvPr/>
        </p:nvPicPr>
        <p:blipFill>
          <a:blip r:embed="rId3"/>
          <a:stretch/>
        </p:blipFill>
        <p:spPr>
          <a:xfrm>
            <a:off x="5702760" y="2870640"/>
            <a:ext cx="2437920" cy="2437920"/>
          </a:xfrm>
          <a:prstGeom prst="rect">
            <a:avLst/>
          </a:prstGeom>
          <a:ln w="0">
            <a:noFill/>
          </a:ln>
        </p:spPr>
      </p:pic>
      <p:sp>
        <p:nvSpPr>
          <p:cNvPr id="237" name="Google Shape;215;p6"/>
          <p:cNvSpPr/>
          <p:nvPr/>
        </p:nvSpPr>
        <p:spPr>
          <a:xfrm>
            <a:off x="0" y="1118520"/>
            <a:ext cx="12191760" cy="54828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457200" indent="-330120" algn="just">
              <a:lnSpc>
                <a:spcPct val="100000"/>
              </a:lnSpc>
              <a:buClr>
                <a:srgbClr val="0e4094"/>
              </a:buClr>
              <a:buFont typeface="Calibri"/>
              <a:buChar char="●"/>
            </a:pPr>
            <a:r>
              <a:rPr b="0" lang="en-IN" sz="1600" strike="noStrike" u="none">
                <a:solidFill>
                  <a:schemeClr val="accent1">
                    <a:lumMod val="50000"/>
                  </a:schemeClr>
                </a:solidFill>
                <a:uFillTx/>
                <a:latin typeface="Calibri"/>
                <a:ea typeface="Calibri"/>
              </a:rPr>
              <a:t> </a:t>
            </a:r>
            <a:r>
              <a:rPr b="0" lang="en-IN" sz="1600" strike="noStrike" u="none">
                <a:solidFill>
                  <a:schemeClr val="accent1">
                    <a:lumMod val="50000"/>
                  </a:schemeClr>
                </a:solidFill>
                <a:uFillTx/>
                <a:latin typeface="Calibri"/>
                <a:ea typeface="Calibri"/>
              </a:rPr>
              <a:t>2nd  Code  using cpp and OpenCV.</a:t>
            </a:r>
            <a:endParaRPr b="0" lang="en-US" sz="1600" strike="noStrike" u="none">
              <a:solidFill>
                <a:srgbClr val="000000"/>
              </a:solidFill>
              <a:uFillTx/>
              <a:latin typeface="Arial"/>
            </a:endParaRPr>
          </a:p>
          <a:p>
            <a:pPr marL="127080" algn="just">
              <a:lnSpc>
                <a:spcPct val="100000"/>
              </a:lnSpc>
            </a:pPr>
            <a:endParaRPr b="0" lang="en-US"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313200" y="1324080"/>
            <a:ext cx="3931560" cy="631440"/>
          </a:xfrm>
          <a:prstGeom prst="rect">
            <a:avLst/>
          </a:prstGeom>
          <a:noFill/>
          <a:ln w="0">
            <a:noFill/>
          </a:ln>
        </p:spPr>
        <p:txBody>
          <a:bodyPr lIns="91440" rIns="91440" tIns="45720" bIns="45720" anchor="b">
            <a:noAutofit/>
          </a:bodyPr>
          <a:p>
            <a:pPr indent="0">
              <a:lnSpc>
                <a:spcPct val="90000"/>
              </a:lnSpc>
              <a:buNone/>
            </a:pPr>
            <a:r>
              <a:rPr b="0" lang="en-US" sz="3200" strike="noStrike" u="none">
                <a:solidFill>
                  <a:schemeClr val="dk1"/>
                </a:solidFill>
                <a:uFillTx/>
                <a:latin typeface="Arial"/>
                <a:ea typeface="Arial"/>
              </a:rPr>
              <a:t>Time Consumption:-</a:t>
            </a:r>
            <a:endParaRPr b="0" lang="en-US" sz="3200" strike="noStrike" u="none">
              <a:solidFill>
                <a:srgbClr val="000000"/>
              </a:solidFill>
              <a:uFillTx/>
              <a:latin typeface="Arial"/>
            </a:endParaRPr>
          </a:p>
        </p:txBody>
      </p:sp>
      <p:pic>
        <p:nvPicPr>
          <p:cNvPr id="239" name="Picture Placeholder 13" descr="Screenshot 2024-06-21 003400"/>
          <p:cNvPicPr/>
          <p:nvPr/>
        </p:nvPicPr>
        <p:blipFill>
          <a:blip r:embed="rId1"/>
          <a:stretch/>
        </p:blipFill>
        <p:spPr>
          <a:xfrm>
            <a:off x="1055880" y="2089080"/>
            <a:ext cx="7014600" cy="1513440"/>
          </a:xfrm>
          <a:prstGeom prst="rect">
            <a:avLst/>
          </a:prstGeom>
          <a:ln w="0">
            <a:noFill/>
          </a:ln>
        </p:spPr>
      </p:pic>
      <p:pic>
        <p:nvPicPr>
          <p:cNvPr id="240" name="Google Shape;214;p6" descr=""/>
          <p:cNvPicPr/>
          <p:nvPr/>
        </p:nvPicPr>
        <p:blipFill>
          <a:blip r:embed="rId2"/>
          <a:srcRect l="4529" t="20257" r="4160" b="26835"/>
          <a:stretch/>
        </p:blipFill>
        <p:spPr>
          <a:xfrm>
            <a:off x="10942200" y="105120"/>
            <a:ext cx="1249560" cy="474480"/>
          </a:xfrm>
          <a:prstGeom prst="rect">
            <a:avLst/>
          </a:prstGeom>
          <a:ln w="0">
            <a:noFill/>
          </a:ln>
        </p:spPr>
      </p:pic>
      <p:sp>
        <p:nvSpPr>
          <p:cNvPr id="241" name="Title 1"/>
          <p:cNvSpPr/>
          <p:nvPr/>
        </p:nvSpPr>
        <p:spPr>
          <a:xfrm>
            <a:off x="635040" y="34920"/>
            <a:ext cx="9191160" cy="770040"/>
          </a:xfrm>
          <a:prstGeom prst="rect">
            <a:avLst/>
          </a:prstGeom>
          <a:noFill/>
          <a:ln w="0">
            <a:noFill/>
          </a:ln>
        </p:spPr>
        <p:style>
          <a:lnRef idx="0"/>
          <a:fillRef idx="0"/>
          <a:effectRef idx="0"/>
          <a:fontRef idx="minor"/>
        </p:style>
        <p:txBody>
          <a:bodyPr anchor="b">
            <a:normAutofit fontScale="92500" lnSpcReduction="19999"/>
          </a:bodyPr>
          <a:p>
            <a:pPr>
              <a:lnSpc>
                <a:spcPct val="90000"/>
              </a:lnSpc>
            </a:pPr>
            <a:r>
              <a:rPr b="0" lang="en-US" sz="3200" strike="noStrike" u="none">
                <a:solidFill>
                  <a:schemeClr val="dk1"/>
                </a:solidFill>
                <a:uFillTx/>
                <a:latin typeface="Calibri"/>
                <a:ea typeface="Calibri"/>
              </a:rPr>
              <a:t>Image rotation with Hermite Expansion using Cpp and OpenCV</a:t>
            </a:r>
            <a:endParaRPr b="0" lang="en-US" sz="3200" strike="noStrike" u="none">
              <a:solidFill>
                <a:srgbClr val="ffffff"/>
              </a:solidFill>
              <a:uFillTx/>
              <a:latin typeface="Arial"/>
            </a:endParaRPr>
          </a:p>
        </p:txBody>
      </p:sp>
      <p:sp>
        <p:nvSpPr>
          <p:cNvPr id="242" name="Text Placeholder 3"/>
          <p:cNvSpPr/>
          <p:nvPr/>
        </p:nvSpPr>
        <p:spPr>
          <a:xfrm>
            <a:off x="313200" y="4111560"/>
            <a:ext cx="7498440" cy="1100160"/>
          </a:xfrm>
          <a:prstGeom prst="rect">
            <a:avLst/>
          </a:prstGeom>
          <a:noFill/>
          <a:ln w="0">
            <a:noFill/>
          </a:ln>
        </p:spPr>
        <p:style>
          <a:lnRef idx="0"/>
          <a:fillRef idx="0"/>
          <a:effectRef idx="0"/>
          <a:fontRef idx="minor"/>
        </p:style>
        <p:txBody>
          <a:bodyPr anchor="t">
            <a:normAutofit fontScale="92500" lnSpcReduction="19999"/>
          </a:bodyPr>
          <a:p>
            <a:pPr marL="457200" indent="-228600">
              <a:lnSpc>
                <a:spcPct val="90000"/>
              </a:lnSpc>
              <a:spcBef>
                <a:spcPts val="1001"/>
              </a:spcBef>
              <a:tabLst>
                <a:tab algn="l" pos="0"/>
              </a:tabLst>
            </a:pPr>
            <a:r>
              <a:rPr b="0" lang="en-US" sz="1800" strike="noStrike" u="none">
                <a:solidFill>
                  <a:schemeClr val="dk1"/>
                </a:solidFill>
                <a:uFillTx/>
                <a:latin typeface="Calibri"/>
                <a:ea typeface="Calibri"/>
              </a:rPr>
              <a:t>Avg time of image rotation using hermite expansions is approx</a:t>
            </a:r>
            <a:r>
              <a:rPr b="0" lang="en-US" sz="1800" strike="noStrike" u="none">
                <a:solidFill>
                  <a:srgbClr val="ff0000"/>
                </a:solidFill>
                <a:uFillTx/>
                <a:latin typeface="Calibri"/>
                <a:ea typeface="Calibri"/>
              </a:rPr>
              <a:t> 0.602 sec</a:t>
            </a:r>
            <a:endParaRPr b="0" lang="en-US" sz="1800" strike="noStrike" u="none">
              <a:solidFill>
                <a:srgbClr val="ffffff"/>
              </a:solidFill>
              <a:uFillTx/>
              <a:latin typeface="Arial"/>
            </a:endParaRPr>
          </a:p>
          <a:p>
            <a:pPr marL="457200" indent="-228600">
              <a:lnSpc>
                <a:spcPct val="90000"/>
              </a:lnSpc>
              <a:spcBef>
                <a:spcPts val="1001"/>
              </a:spcBef>
              <a:tabLst>
                <a:tab algn="l" pos="0"/>
              </a:tabLst>
            </a:pPr>
            <a:r>
              <a:rPr b="0" lang="en-US" sz="1800" strike="noStrike" u="none">
                <a:solidFill>
                  <a:schemeClr val="dk1"/>
                </a:solidFill>
                <a:uFillTx/>
                <a:latin typeface="Calibri"/>
                <a:ea typeface="Calibri"/>
              </a:rPr>
              <a:t>Avg time of  wrap_affinefunction is approx</a:t>
            </a:r>
            <a:r>
              <a:rPr b="0" lang="en-US" sz="1800" strike="noStrike" u="none">
                <a:solidFill>
                  <a:srgbClr val="ff0000"/>
                </a:solidFill>
                <a:uFillTx/>
                <a:latin typeface="Calibri"/>
                <a:ea typeface="Calibri"/>
              </a:rPr>
              <a:t> 0.572 sec</a:t>
            </a:r>
            <a:endParaRPr b="0" lang="en-US" sz="1800" strike="noStrike" u="none">
              <a:solidFill>
                <a:srgbClr val="ffffff"/>
              </a:solidFill>
              <a:uFillTx/>
              <a:latin typeface="Arial"/>
            </a:endParaRPr>
          </a:p>
          <a:p>
            <a:pPr marL="457200" indent="-228600">
              <a:lnSpc>
                <a:spcPct val="90000"/>
              </a:lnSpc>
              <a:spcBef>
                <a:spcPts val="1001"/>
              </a:spcBef>
              <a:tabLst>
                <a:tab algn="l" pos="0"/>
              </a:tabLst>
            </a:pPr>
            <a:r>
              <a:rPr b="0" lang="en-US" sz="1800" strike="noStrike" u="none">
                <a:solidFill>
                  <a:schemeClr val="dk1"/>
                </a:solidFill>
                <a:uFillTx/>
                <a:latin typeface="Calibri"/>
                <a:ea typeface="Calibri"/>
              </a:rPr>
              <a:t>Difference</a:t>
            </a:r>
            <a:r>
              <a:rPr b="0" lang="en-US" sz="1800" strike="noStrike" u="none">
                <a:solidFill>
                  <a:srgbClr val="ff0000"/>
                </a:solidFill>
                <a:uFillTx/>
                <a:latin typeface="Calibri"/>
                <a:ea typeface="Calibri"/>
              </a:rPr>
              <a:t> </a:t>
            </a:r>
            <a:r>
              <a:rPr b="0" lang="en-US" sz="1800" strike="noStrike" u="none">
                <a:solidFill>
                  <a:schemeClr val="dk1"/>
                </a:solidFill>
                <a:uFillTx/>
                <a:latin typeface="Calibri"/>
                <a:ea typeface="Calibri"/>
              </a:rPr>
              <a:t>:  </a:t>
            </a:r>
            <a:r>
              <a:rPr b="0" lang="en-US" sz="1800" strike="noStrike" u="none">
                <a:solidFill>
                  <a:srgbClr val="ff0000"/>
                </a:solidFill>
                <a:uFillTx/>
                <a:latin typeface="Calibri"/>
                <a:ea typeface="Calibri"/>
              </a:rPr>
              <a:t>0.03 sec</a:t>
            </a:r>
            <a:endParaRPr b="0" lang="en-US" sz="1800" strike="noStrike" u="none">
              <a:solidFill>
                <a:srgbClr val="ffffff"/>
              </a:solidFill>
              <a:uFillTx/>
              <a:latin typeface="Arial"/>
            </a:endParaRPr>
          </a:p>
        </p:txBody>
      </p:sp>
      <p:pic>
        <p:nvPicPr>
          <p:cNvPr id="243" name="Picture 17" descr="Screenshot 2024-06-21 004446"/>
          <p:cNvPicPr/>
          <p:nvPr/>
        </p:nvPicPr>
        <p:blipFill>
          <a:blip r:embed="rId3"/>
          <a:stretch/>
        </p:blipFill>
        <p:spPr>
          <a:xfrm>
            <a:off x="6370200" y="4425480"/>
            <a:ext cx="5707080" cy="1256400"/>
          </a:xfrm>
          <a:prstGeom prst="rect">
            <a:avLst/>
          </a:prstGeom>
          <a:ln w="0">
            <a:noFill/>
          </a:ln>
        </p:spPr>
      </p:pic>
      <p:sp>
        <p:nvSpPr>
          <p:cNvPr id="244" name="Text Box 18"/>
          <p:cNvSpPr/>
          <p:nvPr/>
        </p:nvSpPr>
        <p:spPr>
          <a:xfrm>
            <a:off x="7643880" y="5831280"/>
            <a:ext cx="406368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solidFill>
                <a:uFillTx/>
                <a:latin typeface="Arial"/>
                <a:ea typeface="Arial"/>
              </a:rPr>
              <a:t>Time of the rotation of image Tree (Best result)</a:t>
            </a:r>
            <a:endParaRPr b="0" lang="en-US" sz="1400" strike="noStrike" u="none">
              <a:solidFill>
                <a:srgbClr val="ffffff"/>
              </a:solidFill>
              <a:uFillTx/>
              <a:latin typeface="Arial"/>
            </a:endParaRPr>
          </a:p>
        </p:txBody>
      </p:sp>
      <p:sp>
        <p:nvSpPr>
          <p:cNvPr id="245"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21, 2024</a:t>
            </a:r>
            <a:endParaRPr b="0" lang="en-US" sz="2660" strike="noStrike" u="none">
              <a:solidFill>
                <a:srgbClr val="ffffff"/>
              </a:solidFill>
              <a:uFillTx/>
              <a:latin typeface="Arial"/>
            </a:endParaRPr>
          </a:p>
        </p:txBody>
      </p:sp>
      <p:sp>
        <p:nvSpPr>
          <p:cNvPr id="246"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p:nvPr>
        </p:nvSpPr>
        <p:spPr>
          <a:xfrm>
            <a:off x="2196720" y="526680"/>
            <a:ext cx="9156960" cy="56498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IN" sz="6000" strike="noStrike" u="none">
                <a:solidFill>
                  <a:schemeClr val="accent1"/>
                </a:solidFill>
                <a:uFillTx/>
                <a:latin typeface="Cambria"/>
                <a:ea typeface="Cambria"/>
              </a:rPr>
              <a:t>Bresenham algorithm</a:t>
            </a:r>
            <a:endParaRPr b="0" lang="en-US" sz="6000" strike="noStrike" u="none">
              <a:solidFill>
                <a:srgbClr val="000000"/>
              </a:solidFill>
              <a:uFillTx/>
              <a:latin typeface="Arial"/>
            </a:endParaRPr>
          </a:p>
        </p:txBody>
      </p:sp>
      <p:sp>
        <p:nvSpPr>
          <p:cNvPr id="248" name="Google Shape;222;p7"/>
          <p:cNvSpPr/>
          <p:nvPr/>
        </p:nvSpPr>
        <p:spPr>
          <a:xfrm>
            <a:off x="764640" y="-24480"/>
            <a:ext cx="984240" cy="688212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249" name="Google Shape;223;p7"/>
          <p:cNvSpPr/>
          <p:nvPr/>
        </p:nvSpPr>
        <p:spPr>
          <a:xfrm>
            <a:off x="0" y="0"/>
            <a:ext cx="615960" cy="68576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868680" y="234360"/>
            <a:ext cx="3931560" cy="627480"/>
          </a:xfrm>
          <a:prstGeom prst="rect">
            <a:avLst/>
          </a:prstGeom>
          <a:noFill/>
          <a:ln w="0">
            <a:noFill/>
          </a:ln>
        </p:spPr>
        <p:txBody>
          <a:bodyPr lIns="91440" rIns="91440" tIns="45720" bIns="45720" anchor="b">
            <a:normAutofit fontScale="92500" lnSpcReduction="9999"/>
          </a:bodyPr>
          <a:p>
            <a:pPr indent="0">
              <a:lnSpc>
                <a:spcPct val="90000"/>
              </a:lnSpc>
              <a:buNone/>
            </a:pPr>
            <a:r>
              <a:rPr b="0" lang="en-US" sz="3200" strike="noStrike" u="none">
                <a:solidFill>
                  <a:schemeClr val="dk1"/>
                </a:solidFill>
                <a:uFillTx/>
                <a:latin typeface="Arial"/>
                <a:ea typeface="Arial"/>
              </a:rPr>
              <a:t>Bresenham algorithm</a:t>
            </a:r>
            <a:endParaRPr b="0" lang="en-US" sz="3200" strike="noStrike" u="none">
              <a:solidFill>
                <a:srgbClr val="000000"/>
              </a:solidFill>
              <a:uFillTx/>
              <a:latin typeface="Arial"/>
            </a:endParaRPr>
          </a:p>
        </p:txBody>
      </p:sp>
      <p:sp>
        <p:nvSpPr>
          <p:cNvPr id="251" name="PlaceHolder 2"/>
          <p:cNvSpPr>
            <a:spLocks noGrp="1"/>
          </p:cNvSpPr>
          <p:nvPr>
            <p:ph/>
          </p:nvPr>
        </p:nvSpPr>
        <p:spPr>
          <a:xfrm>
            <a:off x="868680" y="1374840"/>
            <a:ext cx="5187960" cy="1024560"/>
          </a:xfrm>
          <a:prstGeom prst="rect">
            <a:avLst/>
          </a:prstGeom>
          <a:noFill/>
          <a:ln w="0">
            <a:noFill/>
          </a:ln>
        </p:spPr>
        <p:txBody>
          <a:bodyPr lIns="91440" rIns="91440" tIns="45720" bIns="45720" anchor="t">
            <a:noAutofit/>
          </a:bodyPr>
          <a:p>
            <a:pPr marL="457200" indent="-228600">
              <a:lnSpc>
                <a:spcPct val="90000"/>
              </a:lnSpc>
              <a:spcBef>
                <a:spcPts val="1001"/>
              </a:spcBef>
              <a:buNone/>
              <a:tabLst>
                <a:tab algn="l" pos="0"/>
              </a:tabLst>
            </a:pPr>
            <a:r>
              <a:rPr b="0" lang="en-US" sz="1600" strike="noStrike" u="none">
                <a:solidFill>
                  <a:schemeClr val="dk1">
                    <a:lumMod val="85000"/>
                  </a:schemeClr>
                </a:solidFill>
                <a:uFillTx/>
                <a:latin typeface="Arial"/>
                <a:ea typeface="Arial"/>
              </a:rPr>
              <a:t> </a:t>
            </a:r>
            <a:r>
              <a:rPr b="0" lang="en-US" sz="1600" strike="noStrike" u="none">
                <a:solidFill>
                  <a:schemeClr val="dk1">
                    <a:lumMod val="85000"/>
                  </a:schemeClr>
                </a:solidFill>
                <a:uFillTx/>
                <a:latin typeface="Arial"/>
                <a:ea typeface="Arial"/>
              </a:rPr>
              <a:t>It determines the intermediate points that should be plotted to form a close approximation to a straight line between the start and end points. </a:t>
            </a:r>
            <a:endParaRPr b="0" lang="en-US" sz="1600" strike="noStrike" u="none">
              <a:solidFill>
                <a:srgbClr val="000000"/>
              </a:solidFill>
              <a:uFillTx/>
              <a:latin typeface="Arial"/>
            </a:endParaRPr>
          </a:p>
        </p:txBody>
      </p:sp>
      <p:pic>
        <p:nvPicPr>
          <p:cNvPr id="252" name="Google Shape;214;p6" descr=""/>
          <p:cNvPicPr/>
          <p:nvPr/>
        </p:nvPicPr>
        <p:blipFill>
          <a:blip r:embed="rId1"/>
          <a:srcRect l="4529" t="20257" r="4160" b="26835"/>
          <a:stretch/>
        </p:blipFill>
        <p:spPr>
          <a:xfrm>
            <a:off x="10942200" y="105120"/>
            <a:ext cx="1249560" cy="474480"/>
          </a:xfrm>
          <a:prstGeom prst="rect">
            <a:avLst/>
          </a:prstGeom>
          <a:ln w="0">
            <a:noFill/>
          </a:ln>
        </p:spPr>
      </p:pic>
      <p:pic>
        <p:nvPicPr>
          <p:cNvPr id="253" name="Picture 8" descr="Screenshot 2024-06-25 01121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9594" t="6978" r="6474" b="16535"/>
          <a:stretch/>
        </p:blipFill>
        <p:spPr>
          <a:xfrm>
            <a:off x="952920" y="2399760"/>
            <a:ext cx="6014520" cy="2825280"/>
          </a:xfrm>
          <a:prstGeom prst="rect">
            <a:avLst/>
          </a:prstGeom>
          <a:ln w="0">
            <a:noFill/>
          </a:ln>
        </p:spPr>
      </p:pic>
      <p:pic>
        <p:nvPicPr>
          <p:cNvPr id="254" name="Picture 9" descr="Screenshot 2024-06-25 011756"/>
          <p:cNvPicPr/>
          <p:nvPr/>
        </p:nvPicPr>
        <p:blipFill>
          <a:blip r:embed="rId4">
            <a:extLst>
              <a:ext uri="{BEBA8EAE-BF5A-486C-A8C5-ECC9F3942E4B}">
                <a14:imgProps xmlns:a14="http://schemas.microsoft.com/office/drawing/2010/main">
                  <a14:imgLayer r:embed="rId5">
                    <a14:imgEffect>
                      <a14:brightnessContrast bright="-20000" contrast="-20000" sat="0"/>
                    </a14:imgEffect>
                  </a14:imgLayer>
                </a14:imgProps>
              </a:ext>
            </a:extLst>
          </a:blip>
          <a:stretch/>
        </p:blipFill>
        <p:spPr>
          <a:xfrm>
            <a:off x="7555680" y="2529000"/>
            <a:ext cx="3695040" cy="2696040"/>
          </a:xfrm>
          <a:prstGeom prst="rect">
            <a:avLst/>
          </a:prstGeom>
          <a:ln w="0">
            <a:noFill/>
          </a:ln>
        </p:spPr>
      </p:pic>
      <p:sp>
        <p:nvSpPr>
          <p:cNvPr id="255"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25, 2024</a:t>
            </a:r>
            <a:endParaRPr b="0" lang="en-US" sz="2660" strike="noStrike" u="none">
              <a:solidFill>
                <a:srgbClr val="ffffff"/>
              </a:solidFill>
              <a:uFillTx/>
              <a:latin typeface="Arial"/>
            </a:endParaRPr>
          </a:p>
        </p:txBody>
      </p:sp>
      <p:sp>
        <p:nvSpPr>
          <p:cNvPr id="256"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40240" y="144000"/>
            <a:ext cx="5488560" cy="587520"/>
          </a:xfrm>
          <a:prstGeom prst="rect">
            <a:avLst/>
          </a:prstGeom>
          <a:noFill/>
          <a:ln w="0">
            <a:noFill/>
          </a:ln>
        </p:spPr>
        <p:txBody>
          <a:bodyPr lIns="91440" rIns="91440" tIns="45720" bIns="45720" anchor="b">
            <a:normAutofit/>
          </a:bodyPr>
          <a:p>
            <a:pPr indent="0">
              <a:lnSpc>
                <a:spcPct val="90000"/>
              </a:lnSpc>
              <a:buNone/>
            </a:pPr>
            <a:r>
              <a:rPr b="0" lang="en-US" sz="3200" strike="noStrike" u="none">
                <a:solidFill>
                  <a:schemeClr val="dk1"/>
                </a:solidFill>
                <a:uFillTx/>
                <a:latin typeface="Arial"/>
                <a:ea typeface="Arial"/>
              </a:rPr>
              <a:t>Approach</a:t>
            </a:r>
            <a:endParaRPr b="0" lang="en-US" sz="3200" strike="noStrike" u="none">
              <a:solidFill>
                <a:srgbClr val="000000"/>
              </a:solidFill>
              <a:uFillTx/>
              <a:latin typeface="Arial"/>
            </a:endParaRPr>
          </a:p>
        </p:txBody>
      </p:sp>
      <p:sp>
        <p:nvSpPr>
          <p:cNvPr id="258" name="PlaceHolder 2"/>
          <p:cNvSpPr>
            <a:spLocks noGrp="1"/>
          </p:cNvSpPr>
          <p:nvPr>
            <p:ph/>
          </p:nvPr>
        </p:nvSpPr>
        <p:spPr>
          <a:xfrm>
            <a:off x="840240" y="2194560"/>
            <a:ext cx="10526760" cy="2959200"/>
          </a:xfrm>
          <a:prstGeom prst="rect">
            <a:avLst/>
          </a:prstGeom>
          <a:noFill/>
          <a:ln w="0">
            <a:noFill/>
          </a:ln>
        </p:spPr>
        <p:txBody>
          <a:bodyPr lIns="91440" rIns="91440" tIns="45720" bIns="45720" anchor="t">
            <a:noAutofit/>
          </a:bodyPr>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At first we have to find all the points lying between the staring point (X0,Y0) and the end points (Xn,Yn) with the bresenham algorithm and store it in a data-structure.</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After getting all the coordinates between the two respective points, we can use the rotation matrix to rotate the pixels and find the new x and y.</a:t>
            </a:r>
            <a:endParaRPr b="0" lang="en-US" sz="1800" strike="noStrike" u="none">
              <a:solidFill>
                <a:srgbClr val="000000"/>
              </a:solidFill>
              <a:uFillTx/>
              <a:latin typeface="Arial"/>
            </a:endParaRPr>
          </a:p>
          <a:p>
            <a:pPr marL="514440" indent="-285840">
              <a:lnSpc>
                <a:spcPct val="90000"/>
              </a:lnSpc>
              <a:spcBef>
                <a:spcPts val="1001"/>
              </a:spcBef>
              <a:buClr>
                <a:srgbClr val="ffffff"/>
              </a:buClr>
              <a:buFont typeface="Wingdings" charset="2"/>
              <a:buChar char=""/>
            </a:pPr>
            <a:r>
              <a:rPr b="0" lang="en-US" sz="1800" strike="noStrike" u="none">
                <a:solidFill>
                  <a:schemeClr val="lt2"/>
                </a:solidFill>
                <a:uFillTx/>
                <a:latin typeface="Arial"/>
                <a:ea typeface="Arial"/>
              </a:rPr>
              <a:t>Lastly We can use the interpolation if there is any pixel is missing  after rotation.</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259"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260"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261" name="Google Shape;214;p6" descr=""/>
          <p:cNvPicPr/>
          <p:nvPr/>
        </p:nvPicPr>
        <p:blipFill>
          <a:blip r:embed="rId1"/>
          <a:srcRect l="4529" t="20257" r="4160" b="26835"/>
          <a:stretch/>
        </p:blipFill>
        <p:spPr>
          <a:xfrm>
            <a:off x="10942200" y="105120"/>
            <a:ext cx="1249560" cy="47448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2"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263"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Bresenham line algorithm</a:t>
            </a:r>
            <a:endParaRPr b="0" lang="en-US" sz="3200" strike="noStrike" u="none">
              <a:solidFill>
                <a:srgbClr val="ffffff"/>
              </a:solidFill>
              <a:uFillTx/>
              <a:latin typeface="Arial"/>
            </a:endParaRPr>
          </a:p>
        </p:txBody>
      </p:sp>
      <p:sp>
        <p:nvSpPr>
          <p:cNvPr id="264" name="Rectangle 10"/>
          <p:cNvSpPr/>
          <p:nvPr/>
        </p:nvSpPr>
        <p:spPr>
          <a:xfrm>
            <a:off x="6366240" y="1870200"/>
            <a:ext cx="5200200" cy="94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265" name="Rectangle 1"/>
          <p:cNvSpPr/>
          <p:nvPr/>
        </p:nvSpPr>
        <p:spPr>
          <a:xfrm>
            <a:off x="5918760" y="1870200"/>
            <a:ext cx="6095520" cy="307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400" strike="noStrike" u="none">
              <a:solidFill>
                <a:srgbClr val="000000"/>
              </a:solidFill>
              <a:uFillTx/>
              <a:latin typeface="Arial"/>
              <a:ea typeface="Arial"/>
            </a:endParaRPr>
          </a:p>
        </p:txBody>
      </p:sp>
      <p:sp>
        <p:nvSpPr>
          <p:cNvPr id="266" name="Rectangle 2"/>
          <p:cNvSpPr/>
          <p:nvPr/>
        </p:nvSpPr>
        <p:spPr>
          <a:xfrm>
            <a:off x="429480" y="1891800"/>
            <a:ext cx="6095520" cy="4786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400" strike="noStrike" u="none">
                <a:solidFill>
                  <a:schemeClr val="dk1">
                    <a:lumMod val="85000"/>
                  </a:schemeClr>
                </a:solidFill>
                <a:uFillTx/>
                <a:latin typeface="Arial"/>
                <a:ea typeface="Arial"/>
              </a:rPr>
              <a:t>std::vector&lt;cv::Point&gt; bresenhamLine(int x0, int y0, int x1, int y1)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std::vector&lt;cv::Point&gt; points;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dx = std::abs(x1 - x0);</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dy = std::abs(y1 - y0);</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sx = (x0 &lt; x1) ? 1 : -1;</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sy = (y0 &lt; y1) ? 1 : -1;</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err = dx - dy;</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while (true)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points.push_back(cv::Point(x0, y0));</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if (x0 == x1 &amp;&amp; y0 == y1) break;</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e2 = 2 * err;</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if (e2 &gt; -dy)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err -= dy;</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x0 += sx;</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if (e2 &lt; dx)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err += dx;</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y0 += sy;</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return points;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p:txBody>
      </p:sp>
      <p:sp>
        <p:nvSpPr>
          <p:cNvPr id="267" name="Rectangle 3"/>
          <p:cNvSpPr/>
          <p:nvPr/>
        </p:nvSpPr>
        <p:spPr>
          <a:xfrm>
            <a:off x="5257800" y="2455200"/>
            <a:ext cx="6504480" cy="329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i="1" lang="en-US" sz="1400" strike="noStrike" u="none">
                <a:solidFill>
                  <a:schemeClr val="dk1">
                    <a:lumMod val="85000"/>
                  </a:schemeClr>
                </a:solidFill>
                <a:uFillTx/>
                <a:latin typeface="Arial"/>
                <a:ea typeface="Arial"/>
              </a:rPr>
              <a:t>Explanation: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points: A vector to store the points on the line.</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dx: The absolute difference between the x-coordinates of the two points.</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dy: The absolute difference between the y-coordinates of the two points.</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sx: The sign of the x increment. If x0 is less than x1, sx is 1; otherwise, it is -1.</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sy: The sign of the y increment. If y0 is less than y1, sy is 1; otherwise, it is -1.</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err: The error term, initially set to dx - dy.</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Detailed Steps in Each Iteration </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Current Point: Add the current point (x0, y0) to the points vector.</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Check End Condition: If the current point matches the end point, break out of the loop.</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Double the Error Term: Calculate e2 as 2 * err.</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Adjust X: If e2 &gt; -dy, adjust the error term by subtracting dy and move x0 by sx.</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Adjust Y: If e2 &lt; dx, adjust the error term by adding dx and move y0 by sy.</a:t>
            </a:r>
            <a:endParaRPr b="0" lang="en-US" sz="1400" strike="noStrike" u="none">
              <a:solidFill>
                <a:srgbClr val="ffffff"/>
              </a:solidFill>
              <a:uFillTx/>
              <a:latin typeface="Arial"/>
            </a:endParaRPr>
          </a:p>
        </p:txBody>
      </p:sp>
      <p:sp>
        <p:nvSpPr>
          <p:cNvPr id="268"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June 25, 2024</a:t>
            </a:r>
            <a:endParaRPr b="0" lang="en-US" sz="2660" strike="noStrike" u="none">
              <a:solidFill>
                <a:srgbClr val="ffffff"/>
              </a:solidFill>
              <a:uFillTx/>
              <a:latin typeface="Arial"/>
            </a:endParaRPr>
          </a:p>
        </p:txBody>
      </p:sp>
      <p:sp>
        <p:nvSpPr>
          <p:cNvPr id="269" name="Google Shape;99;p17"/>
          <p:cNvSpPr/>
          <p:nvPr/>
        </p:nvSpPr>
        <p:spPr>
          <a:xfrm>
            <a:off x="1801080" y="620172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Google Shape;63;p14"/>
          <p:cNvSpPr/>
          <p:nvPr/>
        </p:nvSpPr>
        <p:spPr>
          <a:xfrm>
            <a:off x="5698080" y="0"/>
            <a:ext cx="6493680" cy="6857640"/>
          </a:xfrm>
          <a:prstGeom prst="rect">
            <a:avLst/>
          </a:prstGeom>
          <a:solidFill>
            <a:srgbClr val="383838">
              <a:alpha val="72000"/>
            </a:srgbClr>
          </a:solidFill>
          <a:ln w="9525">
            <a:solidFill>
              <a:srgbClr val="303030"/>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trike="noStrike" u="none">
              <a:solidFill>
                <a:srgbClr val="000000"/>
              </a:solidFill>
              <a:uFillTx/>
              <a:latin typeface="Arial"/>
              <a:ea typeface="Arial"/>
            </a:endParaRPr>
          </a:p>
        </p:txBody>
      </p:sp>
      <p:sp>
        <p:nvSpPr>
          <p:cNvPr id="271" name="PlaceHolder 1"/>
          <p:cNvSpPr>
            <a:spLocks noGrp="1"/>
          </p:cNvSpPr>
          <p:nvPr>
            <p:ph type="title"/>
          </p:nvPr>
        </p:nvSpPr>
        <p:spPr>
          <a:xfrm>
            <a:off x="415440" y="760680"/>
            <a:ext cx="601596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Optimizing performance</a:t>
            </a:r>
            <a:endParaRPr b="0" lang="en-US" sz="4270" strike="noStrike" u="none">
              <a:solidFill>
                <a:srgbClr val="000000"/>
              </a:solidFill>
              <a:uFillTx/>
              <a:latin typeface="Arial"/>
            </a:endParaRPr>
          </a:p>
        </p:txBody>
      </p:sp>
      <p:sp>
        <p:nvSpPr>
          <p:cNvPr id="272" name="PlaceHolder 2"/>
          <p:cNvSpPr>
            <a:spLocks noGrp="1"/>
          </p:cNvSpPr>
          <p:nvPr>
            <p:ph type="subTitle"/>
          </p:nvPr>
        </p:nvSpPr>
        <p:spPr>
          <a:xfrm>
            <a:off x="415440" y="2054520"/>
            <a:ext cx="5281920" cy="27486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primary cause of slow processing speeds in traditional image rotation methods is the fact that they are always serialized.</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Halide offers a variety of scheduling methods that provide explicit control over how computations are performed, enabling significant performance optimizations.</a:t>
            </a:r>
            <a:endParaRPr b="0" lang="en-US" sz="2000" strike="noStrike" u="none">
              <a:solidFill>
                <a:srgbClr val="ffffff"/>
              </a:solidFill>
              <a:uFillTx/>
              <a:latin typeface="Arial"/>
            </a:endParaRPr>
          </a:p>
        </p:txBody>
      </p:sp>
      <p:pic>
        <p:nvPicPr>
          <p:cNvPr id="273" name="Google Shape;66;p14" descr=""/>
          <p:cNvPicPr/>
          <p:nvPr/>
        </p:nvPicPr>
        <p:blipFill>
          <a:blip r:embed="rId1"/>
          <a:stretch/>
        </p:blipFill>
        <p:spPr>
          <a:xfrm>
            <a:off x="10214640" y="95760"/>
            <a:ext cx="1812960" cy="664560"/>
          </a:xfrm>
          <a:prstGeom prst="rect">
            <a:avLst/>
          </a:prstGeom>
          <a:ln w="0">
            <a:noFill/>
          </a:ln>
        </p:spPr>
      </p:pic>
      <p:sp>
        <p:nvSpPr>
          <p:cNvPr id="274" name="Google Shape;67;p14"/>
          <p:cNvSpPr/>
          <p:nvPr/>
        </p:nvSpPr>
        <p:spPr>
          <a:xfrm>
            <a:off x="6432120" y="2054520"/>
            <a:ext cx="5065920" cy="2643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2000" strike="noStrike" u="none">
                <a:solidFill>
                  <a:schemeClr val="lt2"/>
                </a:solidFill>
                <a:uFillTx/>
                <a:latin typeface="Arial"/>
                <a:ea typeface="Arial"/>
              </a:rPr>
              <a:t>Here’s a list of the various scheduling options that Halide provides:</a:t>
            </a:r>
            <a:br>
              <a:rPr sz="1400"/>
            </a:br>
            <a:endParaRPr b="0" lang="en-US" sz="200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parallel</a:t>
            </a:r>
            <a:r>
              <a:rPr b="0" lang="en" sz="1540" strike="noStrike" u="none">
                <a:solidFill>
                  <a:srgbClr val="e6edf3"/>
                </a:solidFill>
                <a:uFillTx/>
                <a:latin typeface="Courier New"/>
                <a:ea typeface="Courier New"/>
              </a:rPr>
              <a:t>(var);</a:t>
            </a:r>
            <a:endParaRPr b="0" lang="en-US" sz="154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vectorize</a:t>
            </a:r>
            <a:r>
              <a:rPr b="0" lang="en" sz="1540" strike="noStrike" u="none">
                <a:solidFill>
                  <a:srgbClr val="e6edf3"/>
                </a:solidFill>
                <a:uFillTx/>
                <a:latin typeface="Courier New"/>
                <a:ea typeface="Courier New"/>
              </a:rPr>
              <a:t>(var, width);</a:t>
            </a:r>
            <a:endParaRPr b="0" lang="en-US" sz="154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tile</a:t>
            </a:r>
            <a:r>
              <a:rPr b="0" lang="en" sz="1540" strike="noStrike" u="none">
                <a:solidFill>
                  <a:srgbClr val="e6edf3"/>
                </a:solidFill>
                <a:uFillTx/>
                <a:latin typeface="Courier New"/>
                <a:ea typeface="Courier New"/>
              </a:rPr>
              <a:t>(x, y, xo, yo, xi, yi, x_factor, y_factor);</a:t>
            </a:r>
            <a:endParaRPr b="0" lang="en-US" sz="154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unroll</a:t>
            </a:r>
            <a:r>
              <a:rPr b="0" lang="en" sz="1540" strike="noStrike" u="none">
                <a:solidFill>
                  <a:srgbClr val="e6edf3"/>
                </a:solidFill>
                <a:uFillTx/>
                <a:latin typeface="Courier New"/>
                <a:ea typeface="Courier New"/>
              </a:rPr>
              <a:t>(var, factor);</a:t>
            </a:r>
            <a:endParaRPr b="0" lang="en-US" sz="154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fuse</a:t>
            </a:r>
            <a:r>
              <a:rPr b="0" lang="en" sz="1540" strike="noStrike" u="none">
                <a:solidFill>
                  <a:srgbClr val="e6edf3"/>
                </a:solidFill>
                <a:uFillTx/>
                <a:latin typeface="Courier New"/>
                <a:ea typeface="Courier New"/>
              </a:rPr>
              <a:t>(var1, var2, fused_var);</a:t>
            </a:r>
            <a:endParaRPr b="0" lang="en-US" sz="1540" strike="noStrike" u="none">
              <a:solidFill>
                <a:srgbClr val="ffffff"/>
              </a:solidFill>
              <a:uFillTx/>
              <a:latin typeface="Arial"/>
            </a:endParaRPr>
          </a:p>
          <a:p>
            <a:pPr marL="457200" indent="-349200">
              <a:lnSpc>
                <a:spcPct val="100000"/>
              </a:lnSpc>
              <a:buClr>
                <a:srgbClr val="adadad"/>
              </a:buClr>
              <a:buFont typeface="Arial"/>
              <a:buChar char="➔"/>
              <a:tabLst>
                <a:tab algn="l" pos="0"/>
              </a:tabLst>
            </a:pPr>
            <a:r>
              <a:rPr b="0" lang="en" sz="1540" strike="noStrike" u="none">
                <a:solidFill>
                  <a:srgbClr val="e6edf3"/>
                </a:solidFill>
                <a:uFillTx/>
                <a:latin typeface="Courier New"/>
                <a:ea typeface="Courier New"/>
              </a:rPr>
              <a:t>.</a:t>
            </a:r>
            <a:r>
              <a:rPr b="0" lang="en" sz="1540" strike="noStrike" u="none">
                <a:solidFill>
                  <a:srgbClr val="d2a8ff"/>
                </a:solidFill>
                <a:uFillTx/>
                <a:latin typeface="Courier New"/>
                <a:ea typeface="Courier New"/>
              </a:rPr>
              <a:t>reorder</a:t>
            </a:r>
            <a:r>
              <a:rPr b="0" lang="en" sz="1540" strike="noStrike" u="none">
                <a:solidFill>
                  <a:srgbClr val="e6edf3"/>
                </a:solidFill>
                <a:uFillTx/>
                <a:latin typeface="Courier New"/>
                <a:ea typeface="Courier New"/>
              </a:rPr>
              <a:t>(vars...);</a:t>
            </a:r>
            <a:endParaRPr b="0" lang="en-US" sz="1540" strike="noStrike" u="none">
              <a:solidFill>
                <a:srgbClr val="ffffff"/>
              </a:solidFill>
              <a:uFillTx/>
              <a:latin typeface="Arial"/>
            </a:endParaRPr>
          </a:p>
        </p:txBody>
      </p:sp>
      <p:sp>
        <p:nvSpPr>
          <p:cNvPr id="275" name="Google Shape;68;p14"/>
          <p:cNvSpPr/>
          <p:nvPr/>
        </p:nvSpPr>
        <p:spPr>
          <a:xfrm>
            <a:off x="415440" y="5235480"/>
            <a:ext cx="3850560" cy="3859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r>
              <a:rPr b="0" lang="en" sz="1340" strike="noStrike" u="sng">
                <a:solidFill>
                  <a:schemeClr val="hlink"/>
                </a:solidFill>
                <a:uFillTx/>
                <a:latin typeface="Arial"/>
                <a:ea typeface="Arial"/>
                <a:hlinkClick r:id="rId2"/>
              </a:rPr>
              <a:t>https://halide-lang.org/tutorials/tutorial_lesson_05_scheduling_1.html</a:t>
            </a:r>
            <a:endParaRPr b="0" lang="en-US" sz="1340" strike="noStrike" u="none">
              <a:solidFill>
                <a:srgbClr val="ffffff"/>
              </a:solidFill>
              <a:uFillTx/>
              <a:latin typeface="Arial"/>
            </a:endParaRPr>
          </a:p>
        </p:txBody>
      </p:sp>
      <p:sp>
        <p:nvSpPr>
          <p:cNvPr id="276" name="Google Shape;100;p17"/>
          <p:cNvSpPr/>
          <p:nvPr/>
        </p:nvSpPr>
        <p:spPr>
          <a:xfrm>
            <a:off x="8837640" y="600228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May 28, 2024</a:t>
            </a:r>
            <a:endParaRPr b="0" lang="en-US" sz="2660" strike="noStrike" u="none">
              <a:solidFill>
                <a:srgbClr val="ffffff"/>
              </a:solidFill>
              <a:uFillTx/>
              <a:latin typeface="Arial"/>
            </a:endParaRPr>
          </a:p>
        </p:txBody>
      </p:sp>
      <p:sp>
        <p:nvSpPr>
          <p:cNvPr id="277" name="Google Shape;99;p17"/>
          <p:cNvSpPr/>
          <p:nvPr/>
        </p:nvSpPr>
        <p:spPr>
          <a:xfrm>
            <a:off x="557280" y="618480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15440" y="46008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Interesting Observations</a:t>
            </a:r>
            <a:endParaRPr b="0" lang="en-US" sz="4270" strike="noStrike" u="none">
              <a:solidFill>
                <a:srgbClr val="000000"/>
              </a:solidFill>
              <a:uFillTx/>
              <a:latin typeface="Arial"/>
            </a:endParaRPr>
          </a:p>
        </p:txBody>
      </p:sp>
      <p:sp>
        <p:nvSpPr>
          <p:cNvPr id="279" name="PlaceHolder 2"/>
          <p:cNvSpPr>
            <a:spLocks noGrp="1"/>
          </p:cNvSpPr>
          <p:nvPr>
            <p:ph type="subTitle"/>
          </p:nvPr>
        </p:nvSpPr>
        <p:spPr>
          <a:xfrm>
            <a:off x="1027440" y="2981880"/>
            <a:ext cx="1490400" cy="490320"/>
          </a:xfrm>
          <a:prstGeom prst="rect">
            <a:avLst/>
          </a:prstGeom>
          <a:noFill/>
          <a:ln w="0">
            <a:noFill/>
          </a:ln>
        </p:spPr>
        <p:txBody>
          <a:bodyPr lIns="91440" rIns="91440" tIns="91440" bIns="91440" anchor="b">
            <a:noAutofit/>
          </a:bodyPr>
          <a:p>
            <a:pPr indent="0" algn="ctr">
              <a:lnSpc>
                <a:spcPct val="100000"/>
              </a:lnSpc>
              <a:buNone/>
              <a:tabLst>
                <a:tab algn="l" pos="0"/>
              </a:tabLst>
            </a:pPr>
            <a:r>
              <a:rPr b="0" lang="en" sz="1340" strike="noStrike" u="none">
                <a:solidFill>
                  <a:schemeClr val="lt2"/>
                </a:solidFill>
                <a:uFillTx/>
                <a:latin typeface="Arial"/>
                <a:ea typeface="Arial"/>
              </a:rPr>
              <a:t>input image</a:t>
            </a:r>
            <a:endParaRPr b="0" lang="en-US" sz="1340" strike="noStrike" u="none">
              <a:solidFill>
                <a:srgbClr val="ffffff"/>
              </a:solidFill>
              <a:uFillTx/>
              <a:latin typeface="Arial"/>
            </a:endParaRPr>
          </a:p>
        </p:txBody>
      </p:sp>
      <p:sp>
        <p:nvSpPr>
          <p:cNvPr id="280" name="PlaceHolder 3"/>
          <p:cNvSpPr>
            <a:spLocks noGrp="1"/>
          </p:cNvSpPr>
          <p:nvPr>
            <p:ph type="subTitle"/>
          </p:nvPr>
        </p:nvSpPr>
        <p:spPr>
          <a:xfrm>
            <a:off x="2829960" y="3124080"/>
            <a:ext cx="2354040" cy="490320"/>
          </a:xfrm>
          <a:prstGeom prst="rect">
            <a:avLst/>
          </a:prstGeom>
          <a:noFill/>
          <a:ln w="0">
            <a:noFill/>
          </a:ln>
        </p:spPr>
        <p:txBody>
          <a:bodyPr lIns="91440" rIns="91440" tIns="91440" bIns="91440" anchor="b">
            <a:noAutofit/>
          </a:bodyPr>
          <a:p>
            <a:pPr indent="0" algn="ctr">
              <a:lnSpc>
                <a:spcPct val="100000"/>
              </a:lnSpc>
              <a:buNone/>
              <a:tabLst>
                <a:tab algn="l" pos="0"/>
              </a:tabLst>
            </a:pPr>
            <a:r>
              <a:rPr b="0" lang="en" sz="1340" strike="noStrike" u="none">
                <a:solidFill>
                  <a:schemeClr val="lt2"/>
                </a:solidFill>
                <a:uFillTx/>
                <a:latin typeface="Arial"/>
                <a:ea typeface="Arial"/>
              </a:rPr>
              <a:t>output from OpenCV</a:t>
            </a:r>
            <a:br>
              <a:rPr sz="1340"/>
            </a:br>
            <a:r>
              <a:rPr b="0" lang="en" sz="1340" strike="noStrike" u="none">
                <a:solidFill>
                  <a:schemeClr val="lt2"/>
                </a:solidFill>
                <a:uFillTx/>
                <a:latin typeface="Arial"/>
                <a:ea typeface="Arial"/>
              </a:rPr>
              <a:t>Avg execution time: 0.302s</a:t>
            </a:r>
            <a:endParaRPr b="0" lang="en-US" sz="1340" strike="noStrike" u="none">
              <a:solidFill>
                <a:srgbClr val="ffffff"/>
              </a:solidFill>
              <a:uFillTx/>
              <a:latin typeface="Arial"/>
            </a:endParaRPr>
          </a:p>
        </p:txBody>
      </p:sp>
      <p:sp>
        <p:nvSpPr>
          <p:cNvPr id="281" name="PlaceHolder 4"/>
          <p:cNvSpPr>
            <a:spLocks noGrp="1"/>
          </p:cNvSpPr>
          <p:nvPr>
            <p:ph type="subTitle"/>
          </p:nvPr>
        </p:nvSpPr>
        <p:spPr>
          <a:xfrm>
            <a:off x="5486400" y="3114360"/>
            <a:ext cx="2565000" cy="541080"/>
          </a:xfrm>
          <a:prstGeom prst="rect">
            <a:avLst/>
          </a:prstGeom>
          <a:noFill/>
          <a:ln w="0">
            <a:noFill/>
          </a:ln>
        </p:spPr>
        <p:txBody>
          <a:bodyPr lIns="91440" rIns="91440" tIns="91440" bIns="91440" anchor="b">
            <a:noAutofit/>
          </a:bodyPr>
          <a:p>
            <a:pPr indent="0" algn="ctr">
              <a:lnSpc>
                <a:spcPct val="100000"/>
              </a:lnSpc>
              <a:buNone/>
              <a:tabLst>
                <a:tab algn="l" pos="0"/>
              </a:tabLst>
            </a:pPr>
            <a:r>
              <a:rPr b="0" lang="en" sz="1340" strike="noStrike" u="none">
                <a:solidFill>
                  <a:schemeClr val="lt2"/>
                </a:solidFill>
                <a:uFillTx/>
                <a:latin typeface="Arial"/>
                <a:ea typeface="Arial"/>
              </a:rPr>
              <a:t>output from Halide</a:t>
            </a:r>
            <a:br>
              <a:rPr sz="1340"/>
            </a:br>
            <a:r>
              <a:rPr b="0" lang="en" sz="1340" strike="noStrike" u="none">
                <a:solidFill>
                  <a:schemeClr val="lt2"/>
                </a:solidFill>
                <a:uFillTx/>
                <a:latin typeface="Arial"/>
                <a:ea typeface="Arial"/>
              </a:rPr>
              <a:t>Avg execution time: </a:t>
            </a:r>
            <a:r>
              <a:rPr b="0" lang="en" sz="1340" strike="noStrike" u="none">
                <a:solidFill>
                  <a:srgbClr val="e06666"/>
                </a:solidFill>
                <a:uFillTx/>
                <a:latin typeface="Arial"/>
                <a:ea typeface="Arial"/>
              </a:rPr>
              <a:t>0.795s</a:t>
            </a:r>
            <a:endParaRPr b="0" lang="en-US" sz="1340" strike="noStrike" u="none">
              <a:solidFill>
                <a:srgbClr val="ffffff"/>
              </a:solidFill>
              <a:uFillTx/>
              <a:latin typeface="Arial"/>
            </a:endParaRPr>
          </a:p>
        </p:txBody>
      </p:sp>
      <p:sp>
        <p:nvSpPr>
          <p:cNvPr id="282" name="PlaceHolder 5"/>
          <p:cNvSpPr>
            <a:spLocks noGrp="1"/>
          </p:cNvSpPr>
          <p:nvPr>
            <p:ph type="subTitle"/>
          </p:nvPr>
        </p:nvSpPr>
        <p:spPr>
          <a:xfrm>
            <a:off x="1295640" y="3966480"/>
            <a:ext cx="5373360" cy="2133360"/>
          </a:xfrm>
          <a:prstGeom prst="rect">
            <a:avLst/>
          </a:prstGeom>
          <a:noFill/>
          <a:ln w="0">
            <a:noFill/>
          </a:ln>
        </p:spPr>
        <p:txBody>
          <a:bodyPr lIns="91440" rIns="91440" tIns="91440" bIns="91440" anchor="t">
            <a:noAutofit/>
          </a:bodyPr>
          <a:p>
            <a:pPr indent="0">
              <a:lnSpc>
                <a:spcPct val="100000"/>
              </a:lnSpc>
              <a:buNone/>
              <a:tabLst>
                <a:tab algn="l" pos="0"/>
              </a:tabLst>
            </a:pPr>
            <a:r>
              <a:rPr b="0" lang="en" sz="1600" strike="noStrike" u="none">
                <a:solidFill>
                  <a:schemeClr val="lt2"/>
                </a:solidFill>
                <a:uFillTx/>
                <a:latin typeface="Arial"/>
                <a:ea typeface="Arial"/>
              </a:rPr>
              <a:t>Angle of rotation: 30 degrees, about center of image</a:t>
            </a:r>
            <a:br>
              <a:rPr sz="1600"/>
            </a:br>
            <a:r>
              <a:rPr b="0" lang="en" sz="1600" strike="noStrike" u="none">
                <a:solidFill>
                  <a:schemeClr val="lt2"/>
                </a:solidFill>
                <a:uFillTx/>
                <a:latin typeface="Arial"/>
                <a:ea typeface="Arial"/>
              </a:rPr>
              <a:t>Loop nest used in Halide: [using plain rotation matrix]</a:t>
            </a:r>
            <a:br>
              <a:rPr sz="1600"/>
            </a:br>
            <a:endParaRPr b="0" lang="en-US" sz="1600" strike="noStrike" u="none">
              <a:solidFill>
                <a:srgbClr val="ffffff"/>
              </a:solidFill>
              <a:uFillTx/>
              <a:latin typeface="Arial"/>
            </a:endParaRPr>
          </a:p>
          <a:p>
            <a:pPr indent="0">
              <a:lnSpc>
                <a:spcPct val="100000"/>
              </a:lnSpc>
              <a:buNone/>
              <a:tabLst>
                <a:tab algn="l" pos="0"/>
              </a:tabLst>
            </a:pPr>
            <a:r>
              <a:rPr b="0" lang="en" sz="1600" strike="noStrike" u="none">
                <a:solidFill>
                  <a:schemeClr val="lt2"/>
                </a:solidFill>
                <a:uFillTx/>
                <a:latin typeface="Fira Code"/>
                <a:ea typeface="Fira Code"/>
              </a:rPr>
              <a:t>  </a:t>
            </a:r>
            <a:r>
              <a:rPr b="0" lang="en" sz="1600" strike="noStrike" u="none">
                <a:solidFill>
                  <a:schemeClr val="lt2"/>
                </a:solidFill>
                <a:uFillTx/>
                <a:latin typeface="Fira Code"/>
                <a:ea typeface="Fira Code"/>
              </a:rPr>
              <a:t>for c:</a:t>
            </a:r>
            <a:endParaRPr b="0" lang="en-US" sz="1600" strike="noStrike" u="none">
              <a:solidFill>
                <a:srgbClr val="ffffff"/>
              </a:solidFill>
              <a:uFillTx/>
              <a:latin typeface="Arial"/>
            </a:endParaRPr>
          </a:p>
          <a:p>
            <a:pPr indent="0">
              <a:lnSpc>
                <a:spcPct val="100000"/>
              </a:lnSpc>
              <a:buNone/>
              <a:tabLst>
                <a:tab algn="l" pos="0"/>
              </a:tabLst>
            </a:pPr>
            <a:r>
              <a:rPr b="0" lang="en" sz="1600" strike="noStrike" u="none">
                <a:solidFill>
                  <a:schemeClr val="lt2"/>
                </a:solidFill>
                <a:uFillTx/>
                <a:latin typeface="Fira Code"/>
                <a:ea typeface="Fira Code"/>
              </a:rPr>
              <a:t>    </a:t>
            </a:r>
            <a:r>
              <a:rPr b="0" lang="en" sz="1600" strike="noStrike" u="none">
                <a:solidFill>
                  <a:schemeClr val="lt2"/>
                </a:solidFill>
                <a:uFillTx/>
                <a:latin typeface="Fira Code"/>
                <a:ea typeface="Fira Code"/>
              </a:rPr>
              <a:t>parallel y:</a:t>
            </a:r>
            <a:endParaRPr b="0" lang="en-US" sz="1600" strike="noStrike" u="none">
              <a:solidFill>
                <a:srgbClr val="ffffff"/>
              </a:solidFill>
              <a:uFillTx/>
              <a:latin typeface="Arial"/>
            </a:endParaRPr>
          </a:p>
          <a:p>
            <a:pPr indent="0">
              <a:lnSpc>
                <a:spcPct val="100000"/>
              </a:lnSpc>
              <a:buNone/>
              <a:tabLst>
                <a:tab algn="l" pos="0"/>
              </a:tabLst>
            </a:pPr>
            <a:r>
              <a:rPr b="0" lang="en" sz="1600" strike="noStrike" u="none">
                <a:solidFill>
                  <a:schemeClr val="lt2"/>
                </a:solidFill>
                <a:uFillTx/>
                <a:latin typeface="Fira Code"/>
                <a:ea typeface="Fira Code"/>
              </a:rPr>
              <a:t>      </a:t>
            </a:r>
            <a:r>
              <a:rPr b="0" lang="en" sz="1600" strike="noStrike" u="none">
                <a:solidFill>
                  <a:schemeClr val="lt2"/>
                </a:solidFill>
                <a:uFillTx/>
                <a:latin typeface="Fira Code"/>
                <a:ea typeface="Fira Code"/>
              </a:rPr>
              <a:t>for x.x:</a:t>
            </a:r>
            <a:endParaRPr b="0" lang="en-US" sz="1600" strike="noStrike" u="none">
              <a:solidFill>
                <a:srgbClr val="ffffff"/>
              </a:solidFill>
              <a:uFillTx/>
              <a:latin typeface="Arial"/>
            </a:endParaRPr>
          </a:p>
          <a:p>
            <a:pPr indent="0">
              <a:lnSpc>
                <a:spcPct val="100000"/>
              </a:lnSpc>
              <a:buNone/>
              <a:tabLst>
                <a:tab algn="l" pos="0"/>
              </a:tabLst>
            </a:pPr>
            <a:r>
              <a:rPr b="0" lang="en" sz="1600" strike="noStrike" u="none">
                <a:solidFill>
                  <a:schemeClr val="lt2"/>
                </a:solidFill>
                <a:uFillTx/>
                <a:latin typeface="Fira Code"/>
                <a:ea typeface="Fira Code"/>
              </a:rPr>
              <a:t>        </a:t>
            </a:r>
            <a:r>
              <a:rPr b="0" lang="en" sz="1600" strike="noStrike" u="none">
                <a:solidFill>
                  <a:schemeClr val="lt2"/>
                </a:solidFill>
                <a:uFillTx/>
                <a:latin typeface="Fira Code"/>
                <a:ea typeface="Fira Code"/>
              </a:rPr>
              <a:t>vectorized x.v0 in [0, 7]:</a:t>
            </a:r>
            <a:endParaRPr b="0" lang="en-US" sz="1600" strike="noStrike" u="none">
              <a:solidFill>
                <a:srgbClr val="ffffff"/>
              </a:solidFill>
              <a:uFillTx/>
              <a:latin typeface="Arial"/>
            </a:endParaRPr>
          </a:p>
          <a:p>
            <a:pPr indent="0">
              <a:lnSpc>
                <a:spcPct val="100000"/>
              </a:lnSpc>
              <a:buNone/>
              <a:tabLst>
                <a:tab algn="l" pos="0"/>
              </a:tabLst>
            </a:pPr>
            <a:r>
              <a:rPr b="0" lang="en" sz="1600" strike="noStrike" u="none">
                <a:solidFill>
                  <a:schemeClr val="lt2"/>
                </a:solidFill>
                <a:uFillTx/>
                <a:latin typeface="Fira Code"/>
                <a:ea typeface="Fira Code"/>
              </a:rPr>
              <a:t>          </a:t>
            </a:r>
            <a:r>
              <a:rPr b="0" lang="en" sz="1600" strike="noStrike" u="none">
                <a:solidFill>
                  <a:schemeClr val="lt2"/>
                </a:solidFill>
                <a:uFillTx/>
                <a:latin typeface="Fira Code"/>
                <a:ea typeface="Fira Code"/>
              </a:rPr>
              <a:t>rotated(...) = ...</a:t>
            </a:r>
            <a:endParaRPr b="0" lang="en-US" sz="1600" strike="noStrike" u="none">
              <a:solidFill>
                <a:srgbClr val="ffffff"/>
              </a:solidFill>
              <a:uFillTx/>
              <a:latin typeface="Arial"/>
            </a:endParaRPr>
          </a:p>
          <a:p>
            <a:pPr indent="0">
              <a:lnSpc>
                <a:spcPct val="100000"/>
              </a:lnSpc>
              <a:buNone/>
              <a:tabLst>
                <a:tab algn="l" pos="0"/>
              </a:tabLst>
            </a:pPr>
            <a:endParaRPr b="0" lang="en-US" sz="1600" strike="noStrike" u="none">
              <a:solidFill>
                <a:srgbClr val="ffffff"/>
              </a:solidFill>
              <a:uFillTx/>
              <a:latin typeface="Arial"/>
            </a:endParaRPr>
          </a:p>
        </p:txBody>
      </p:sp>
      <p:pic>
        <p:nvPicPr>
          <p:cNvPr id="283" name="Google Shape;74;p15" descr=""/>
          <p:cNvPicPr/>
          <p:nvPr/>
        </p:nvPicPr>
        <p:blipFill>
          <a:blip r:embed="rId1"/>
          <a:stretch/>
        </p:blipFill>
        <p:spPr>
          <a:xfrm>
            <a:off x="10214640" y="95760"/>
            <a:ext cx="1812960" cy="664560"/>
          </a:xfrm>
          <a:prstGeom prst="rect">
            <a:avLst/>
          </a:prstGeom>
          <a:ln w="0">
            <a:noFill/>
          </a:ln>
        </p:spPr>
      </p:pic>
      <p:sp>
        <p:nvSpPr>
          <p:cNvPr id="284" name="Google Shape;79;p15"/>
          <p:cNvSpPr/>
          <p:nvPr/>
        </p:nvSpPr>
        <p:spPr>
          <a:xfrm>
            <a:off x="8996760" y="3538080"/>
            <a:ext cx="2730960" cy="22165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Tests run on an Intel i7-10750H (12) @ 5.000GHz, all under similar workloads</a:t>
            </a:r>
            <a:br>
              <a:rPr sz="1340"/>
            </a:br>
            <a:br>
              <a:rPr sz="1340"/>
            </a:br>
            <a:r>
              <a:rPr b="1" lang="en" sz="1340" strike="noStrike" u="none">
                <a:solidFill>
                  <a:schemeClr val="lt2"/>
                </a:solidFill>
                <a:uFillTx/>
                <a:latin typeface="Arial"/>
                <a:ea typeface="Arial"/>
              </a:rPr>
              <a:t>Input is a 512*512 png image</a:t>
            </a:r>
            <a:br>
              <a:rPr sz="1340"/>
            </a:br>
            <a:r>
              <a:rPr b="1" lang="en" sz="1340" strike="noStrike" u="none">
                <a:solidFill>
                  <a:schemeClr val="lt2"/>
                </a:solidFill>
                <a:uFillTx/>
                <a:latin typeface="Arial"/>
                <a:ea typeface="Arial"/>
              </a:rPr>
              <a:t>ColorSpace_ICC: RGB</a:t>
            </a:r>
            <a:br>
              <a:rPr sz="1340"/>
            </a:br>
            <a:br>
              <a:rPr sz="1340"/>
            </a:br>
            <a:r>
              <a:rPr b="1" lang="en" sz="1340" strike="noStrike" u="none">
                <a:solidFill>
                  <a:schemeClr val="lt2"/>
                </a:solidFill>
                <a:uFillTx/>
                <a:latin typeface="Arial"/>
                <a:ea typeface="Arial"/>
              </a:rPr>
              <a:t>Each of the output images turned out to be 699*699 px  in dimensions</a:t>
            </a:r>
            <a:endParaRPr b="0" lang="en-US" sz="1340" strike="noStrike" u="none">
              <a:solidFill>
                <a:srgbClr val="ffffff"/>
              </a:solidFill>
              <a:uFillTx/>
              <a:latin typeface="Arial"/>
            </a:endParaRPr>
          </a:p>
        </p:txBody>
      </p:sp>
      <p:pic>
        <p:nvPicPr>
          <p:cNvPr id="285" name="Google Shape;80;p15" descr=""/>
          <p:cNvPicPr/>
          <p:nvPr/>
        </p:nvPicPr>
        <p:blipFill>
          <a:blip r:embed="rId2"/>
          <a:stretch/>
        </p:blipFill>
        <p:spPr>
          <a:xfrm>
            <a:off x="5988600" y="1420920"/>
            <a:ext cx="1560600" cy="1560600"/>
          </a:xfrm>
          <a:prstGeom prst="rect">
            <a:avLst/>
          </a:prstGeom>
          <a:ln w="0">
            <a:noFill/>
          </a:ln>
        </p:spPr>
      </p:pic>
      <p:pic>
        <p:nvPicPr>
          <p:cNvPr id="286" name="Google Shape;81;p15" descr=""/>
          <p:cNvPicPr/>
          <p:nvPr/>
        </p:nvPicPr>
        <p:blipFill>
          <a:blip r:embed="rId3"/>
          <a:stretch/>
        </p:blipFill>
        <p:spPr>
          <a:xfrm>
            <a:off x="3202200" y="1420920"/>
            <a:ext cx="1560600" cy="1560600"/>
          </a:xfrm>
          <a:prstGeom prst="rect">
            <a:avLst/>
          </a:prstGeom>
          <a:ln w="0">
            <a:noFill/>
          </a:ln>
        </p:spPr>
      </p:pic>
      <p:pic>
        <p:nvPicPr>
          <p:cNvPr id="287" name="Google Shape;82;p15" descr=""/>
          <p:cNvPicPr/>
          <p:nvPr/>
        </p:nvPicPr>
        <p:blipFill>
          <a:blip r:embed="rId4"/>
          <a:stretch/>
        </p:blipFill>
        <p:spPr>
          <a:xfrm>
            <a:off x="942840" y="1420920"/>
            <a:ext cx="1560600" cy="156060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Google Shape;87;p16"/>
          <p:cNvSpPr/>
          <p:nvPr/>
        </p:nvSpPr>
        <p:spPr>
          <a:xfrm>
            <a:off x="6095880" y="0"/>
            <a:ext cx="6095520" cy="6857640"/>
          </a:xfrm>
          <a:prstGeom prst="rect">
            <a:avLst/>
          </a:prstGeom>
          <a:solidFill>
            <a:srgbClr val="2a2a2a">
              <a:alpha val="70000"/>
            </a:srgbClr>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729" strike="noStrike" u="none">
              <a:solidFill>
                <a:srgbClr val="000000"/>
              </a:solidFill>
              <a:uFillTx/>
              <a:latin typeface="Arial"/>
              <a:ea typeface="Arial"/>
            </a:endParaRPr>
          </a:p>
        </p:txBody>
      </p:sp>
      <p:sp>
        <p:nvSpPr>
          <p:cNvPr id="289" name="PlaceHolder 1"/>
          <p:cNvSpPr>
            <a:spLocks noGrp="1"/>
          </p:cNvSpPr>
          <p:nvPr>
            <p:ph type="title"/>
          </p:nvPr>
        </p:nvSpPr>
        <p:spPr>
          <a:xfrm>
            <a:off x="415440" y="46008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Logs</a:t>
            </a:r>
            <a:endParaRPr b="0" lang="en-US" sz="4270" strike="noStrike" u="none">
              <a:solidFill>
                <a:srgbClr val="000000"/>
              </a:solidFill>
              <a:uFillTx/>
              <a:latin typeface="Arial"/>
            </a:endParaRPr>
          </a:p>
        </p:txBody>
      </p:sp>
      <p:sp>
        <p:nvSpPr>
          <p:cNvPr id="290" name="PlaceHolder 2"/>
          <p:cNvSpPr>
            <a:spLocks noGrp="1"/>
          </p:cNvSpPr>
          <p:nvPr>
            <p:ph type="subTitle"/>
          </p:nvPr>
        </p:nvSpPr>
        <p:spPr>
          <a:xfrm>
            <a:off x="415440" y="1387440"/>
            <a:ext cx="5375520" cy="479376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lt2"/>
                </a:solidFill>
                <a:uFillTx/>
                <a:latin typeface="Fira Code"/>
                <a:ea typeface="Fira Code"/>
              </a:rPr>
              <a:t>$ echo "OpenCV" &amp;&amp; for i in {1..20}; do time ./darotator; done                 </a:t>
            </a:r>
            <a:endParaRPr b="0" lang="en-US" sz="1200" strike="noStrike" u="none">
              <a:solidFill>
                <a:srgbClr val="ffffff"/>
              </a:solidFill>
              <a:uFillTx/>
              <a:latin typeface="Arial"/>
            </a:endParaRPr>
          </a:p>
          <a:p>
            <a:pPr indent="0">
              <a:lnSpc>
                <a:spcPct val="100000"/>
              </a:lnSpc>
              <a:buNone/>
              <a:tabLst>
                <a:tab algn="l" pos="0"/>
              </a:tabLst>
            </a:pPr>
            <a:r>
              <a:rPr b="1" lang="en" sz="1200" strike="noStrike" u="none">
                <a:solidFill>
                  <a:schemeClr val="lt2"/>
                </a:solidFill>
                <a:uFillTx/>
                <a:latin typeface="Fira Code"/>
                <a:ea typeface="Fira Code"/>
              </a:rPr>
              <a:t>OpenCV</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0.29s user 0.02s system 98% cpu 0.317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0.03s system 98% cpu 0.333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0.02s system 98% cpu 0.331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0.02s system 98% cpu 0.331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0.01s system 98% cpu 0.321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0.01s system 98% cpu 0.319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0.29s user 0.02s system 98% cpu 0.312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0.32s user 0.02s system 98% cpu 0.345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0.02s system 98% cpu 0.320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0.29s user 0.02s system 98% cpu 0.317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0.02s system 98% cpu 0.325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0.01s system 98% cpu 0.315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0.02s system 98% cpu 0.326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0.02s system 97% cpu 0.333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0.01s system 98% cpu 0.319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0.01s system 98% cpu 0.325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0.30s user 0.02s system 98% cpu 0.328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0.29s user 0.03s system 98% cpu 0.327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0.01s system 98% cpu 0.331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0.31s user 0.01s system 98% cpu 0.328 total</a:t>
            </a:r>
            <a:br>
              <a:rPr sz="1200"/>
            </a:br>
            <a:br>
              <a:rPr sz="1200"/>
            </a:br>
            <a:r>
              <a:rPr b="1" lang="en" sz="1200" strike="noStrike" u="none">
                <a:solidFill>
                  <a:schemeClr val="lt2"/>
                </a:solidFill>
                <a:uFillTx/>
                <a:latin typeface="Fira Code"/>
                <a:ea typeface="Fira Code"/>
              </a:rPr>
              <a:t>AVG: 0.302s</a:t>
            </a:r>
            <a:endParaRPr b="0" lang="en-US" sz="1200" strike="noStrike" u="none">
              <a:solidFill>
                <a:srgbClr val="ffffff"/>
              </a:solidFill>
              <a:uFillTx/>
              <a:latin typeface="Arial"/>
            </a:endParaRPr>
          </a:p>
          <a:p>
            <a:pPr indent="0">
              <a:lnSpc>
                <a:spcPct val="100000"/>
              </a:lnSpc>
              <a:buNone/>
              <a:tabLst>
                <a:tab algn="l" pos="0"/>
              </a:tabLst>
            </a:pPr>
            <a:endParaRPr b="0" lang="en-US" sz="1200" strike="noStrike" u="none">
              <a:solidFill>
                <a:srgbClr val="ffffff"/>
              </a:solidFill>
              <a:uFillTx/>
              <a:latin typeface="Arial"/>
            </a:endParaRPr>
          </a:p>
        </p:txBody>
      </p:sp>
      <p:sp>
        <p:nvSpPr>
          <p:cNvPr id="291" name="PlaceHolder 3"/>
          <p:cNvSpPr>
            <a:spLocks noGrp="1"/>
          </p:cNvSpPr>
          <p:nvPr>
            <p:ph type="subTitle"/>
          </p:nvPr>
        </p:nvSpPr>
        <p:spPr>
          <a:xfrm>
            <a:off x="6699240" y="1387440"/>
            <a:ext cx="5492520" cy="479376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lt2"/>
                </a:solidFill>
                <a:uFillTx/>
                <a:latin typeface="Fira Code"/>
                <a:ea typeface="Fira Code"/>
              </a:rPr>
              <a:t>$ echo "Halide -parallel(y) -vectorize(x, 8)" &amp;&amp; for i in {1..20}; do time ./darotator; done</a:t>
            </a:r>
            <a:endParaRPr b="0" lang="en-US" sz="1200" strike="noStrike" u="none">
              <a:solidFill>
                <a:srgbClr val="ffffff"/>
              </a:solidFill>
              <a:uFillTx/>
              <a:latin typeface="Arial"/>
            </a:endParaRPr>
          </a:p>
          <a:p>
            <a:pPr indent="0">
              <a:lnSpc>
                <a:spcPct val="100000"/>
              </a:lnSpc>
              <a:buNone/>
              <a:tabLst>
                <a:tab algn="l" pos="0"/>
              </a:tabLst>
            </a:pPr>
            <a:r>
              <a:rPr b="1" lang="en" sz="1200" strike="noStrike" u="none">
                <a:solidFill>
                  <a:schemeClr val="lt2"/>
                </a:solidFill>
                <a:uFillTx/>
                <a:latin typeface="Fira Code"/>
                <a:ea typeface="Fira Code"/>
              </a:rPr>
              <a:t>Halide -parallel(y) -vectorize(x, 8)</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0.81s user 0.02s system 100% cpu 0.831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0.85s user 0.03s system 100% cpu 0.878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0.82s user 0.02s system 100% cpu 0.842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0.77s user 0.06s system 100% cpu 0.834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0.82s user 0.03s system 99% cpu 0.849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0.80s user 0.02s system 100% cpu 0.813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0.79s user 0.03s system 100% cpu 0.815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0.78s user 0.03s system 100% cpu 0.804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0.77s user 0.04s system 100% cpu 0.816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0.77s user 0.04s system 100% cpu 0.813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0.79s user 0.03s system 100% cpu 0.818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0.80s user 0.03s system 100% cpu 0.824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0.79s user 0.02s system 100% cpu 0.806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0.81s user 0.02s system 100% cpu 0.829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0.81s user 0.03s system 100% cpu 0.833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0.79s user 0.05s system 100% cpu 0.835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0.77s user 0.06s system 100% cpu 0.823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0.76s user 0.06s system 100% cpu 0.818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0.76s user 0.04s system 100% cpu 0.800 total</a:t>
            </a:r>
            <a:endParaRPr b="0" lang="en-US" sz="1200" strike="noStrike" u="none">
              <a:solidFill>
                <a:srgbClr val="ffffff"/>
              </a:solidFill>
              <a:uFillTx/>
              <a:latin typeface="Arial"/>
            </a:endParaRPr>
          </a:p>
          <a:p>
            <a:pPr indent="0">
              <a:lnSpc>
                <a:spcPct val="100000"/>
              </a:lnSpc>
              <a:buNone/>
              <a:tabLst>
                <a:tab algn="l" pos="0"/>
              </a:tabLst>
            </a:pPr>
            <a:r>
              <a:rPr b="0" lang="en" sz="1200" strike="noStrike" u="none">
                <a:solidFill>
                  <a:schemeClr val="lt2"/>
                </a:solidFill>
                <a:uFillTx/>
                <a:latin typeface="Fira Code"/>
                <a:ea typeface="Fira Code"/>
              </a:rPr>
              <a:t>./darotator  0.83s user 0.01s system 100% cpu 0.838 total</a:t>
            </a:r>
            <a:endParaRPr b="0" lang="en-US" sz="1200" strike="noStrike" u="none">
              <a:solidFill>
                <a:srgbClr val="ffffff"/>
              </a:solidFill>
              <a:uFillTx/>
              <a:latin typeface="Arial"/>
            </a:endParaRPr>
          </a:p>
          <a:p>
            <a:pPr indent="0">
              <a:lnSpc>
                <a:spcPct val="100000"/>
              </a:lnSpc>
              <a:buNone/>
              <a:tabLst>
                <a:tab algn="l" pos="0"/>
              </a:tabLst>
            </a:pPr>
            <a:br>
              <a:rPr sz="1200"/>
            </a:br>
            <a:r>
              <a:rPr b="1" lang="en" sz="1200" strike="noStrike" u="none">
                <a:solidFill>
                  <a:schemeClr val="lt2"/>
                </a:solidFill>
                <a:uFillTx/>
                <a:latin typeface="Fira Code"/>
                <a:ea typeface="Fira Code"/>
              </a:rPr>
              <a:t>AVG: </a:t>
            </a:r>
            <a:r>
              <a:rPr b="1" lang="en" sz="1200" strike="noStrike" u="none">
                <a:solidFill>
                  <a:srgbClr val="e06666"/>
                </a:solidFill>
                <a:uFillTx/>
                <a:latin typeface="Fira Code"/>
                <a:ea typeface="Fira Code"/>
              </a:rPr>
              <a:t>0.795s</a:t>
            </a:r>
            <a:endParaRPr b="0" lang="en-US" sz="1200" strike="noStrike" u="none">
              <a:solidFill>
                <a:srgbClr val="ffffff"/>
              </a:solidFill>
              <a:uFillTx/>
              <a:latin typeface="Arial"/>
            </a:endParaRPr>
          </a:p>
        </p:txBody>
      </p:sp>
      <p:pic>
        <p:nvPicPr>
          <p:cNvPr id="292" name="Google Shape;89;p16"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415440" y="2653560"/>
            <a:ext cx="11360520" cy="105660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Further Optimization Scopes</a:t>
            </a:r>
            <a:endParaRPr b="0" lang="en-US" sz="4670" strike="noStrike" u="none">
              <a:solidFill>
                <a:srgbClr val="000000"/>
              </a:solidFill>
              <a:uFillTx/>
              <a:latin typeface="Arial"/>
            </a:endParaRPr>
          </a:p>
        </p:txBody>
      </p:sp>
      <p:sp>
        <p:nvSpPr>
          <p:cNvPr id="294"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295"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296"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May 31, 2024</a:t>
            </a:r>
            <a:endParaRPr b="0" lang="en-US" sz="2660" strike="noStrike" u="none">
              <a:solidFill>
                <a:srgbClr val="ffffff"/>
              </a:solidFill>
              <a:uFillTx/>
              <a:latin typeface="Arial"/>
            </a:endParaRPr>
          </a:p>
        </p:txBody>
      </p:sp>
      <p:pic>
        <p:nvPicPr>
          <p:cNvPr id="297" name="Google Shape;98;p17"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Halide Auto-Scheduler</a:t>
            </a:r>
            <a:endParaRPr b="0" lang="en-US" sz="4270" strike="noStrike" u="none">
              <a:solidFill>
                <a:srgbClr val="000000"/>
              </a:solidFill>
              <a:uFillTx/>
              <a:latin typeface="Arial"/>
            </a:endParaRPr>
          </a:p>
        </p:txBody>
      </p:sp>
      <p:sp>
        <p:nvSpPr>
          <p:cNvPr id="299" name="PlaceHolder 2"/>
          <p:cNvSpPr>
            <a:spLocks noGrp="1"/>
          </p:cNvSpPr>
          <p:nvPr>
            <p:ph type="subTitle"/>
          </p:nvPr>
        </p:nvSpPr>
        <p:spPr>
          <a:xfrm>
            <a:off x="415440" y="2054520"/>
            <a:ext cx="7654680" cy="27486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Oftentimes, it happens that manually designed schedules end up being worse than no optimization at all.</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In order to get a reasonable start, we can use Halide’s Auto-Scheduler to give us a convenient starting point, which we can fine-tune later on. </a:t>
            </a:r>
            <a:endParaRPr b="0" lang="en-US" sz="2000" strike="noStrike" u="none">
              <a:solidFill>
                <a:srgbClr val="ffffff"/>
              </a:solidFill>
              <a:uFillTx/>
              <a:latin typeface="Arial"/>
            </a:endParaRPr>
          </a:p>
        </p:txBody>
      </p:sp>
      <p:pic>
        <p:nvPicPr>
          <p:cNvPr id="300" name="Google Shape;106;p18" descr=""/>
          <p:cNvPicPr/>
          <p:nvPr/>
        </p:nvPicPr>
        <p:blipFill>
          <a:blip r:embed="rId1"/>
          <a:stretch/>
        </p:blipFill>
        <p:spPr>
          <a:xfrm>
            <a:off x="10214640" y="95760"/>
            <a:ext cx="1812960" cy="664560"/>
          </a:xfrm>
          <a:prstGeom prst="rect">
            <a:avLst/>
          </a:prstGeom>
          <a:ln w="0">
            <a:noFill/>
          </a:ln>
        </p:spPr>
      </p:pic>
      <p:sp>
        <p:nvSpPr>
          <p:cNvPr id="301" name="Google Shape;107;p18"/>
          <p:cNvSpPr/>
          <p:nvPr/>
        </p:nvSpPr>
        <p:spPr>
          <a:xfrm>
            <a:off x="9297000" y="4997160"/>
            <a:ext cx="2730960" cy="16063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**effective optimization requires a careful analysis of the system the program is running on itself, and finding the right balance between parallelism and memory efficiency.</a:t>
            </a:r>
            <a:endParaRPr b="0" lang="en-US" sz="1340" strike="noStrike" u="none">
              <a:solidFill>
                <a:srgbClr val="ffffff"/>
              </a:solidFill>
              <a:uFillTx/>
              <a:latin typeface="Arial"/>
            </a:endParaRPr>
          </a:p>
        </p:txBody>
      </p:sp>
      <p:sp>
        <p:nvSpPr>
          <p:cNvPr id="302" name="Google Shape;109;p18"/>
          <p:cNvSpPr/>
          <p:nvPr/>
        </p:nvSpPr>
        <p:spPr>
          <a:xfrm>
            <a:off x="415440" y="5612760"/>
            <a:ext cx="3850560" cy="3859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r>
              <a:rPr b="0" lang="en" sz="1340" strike="noStrike" u="sng">
                <a:solidFill>
                  <a:schemeClr val="hlink"/>
                </a:solidFill>
                <a:uFillTx/>
                <a:latin typeface="Arial"/>
                <a:ea typeface="Arial"/>
                <a:hlinkClick r:id="rId2"/>
              </a:rPr>
              <a:t>https://halide-lang.org/tutorials/tutorial_lesson_21_auto_scheduler_generate.html</a:t>
            </a:r>
            <a:endParaRPr b="0" lang="en-US" sz="134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415440" y="59868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Experimental Results</a:t>
            </a:r>
            <a:endParaRPr b="0" lang="en-US" sz="4270" strike="noStrike" u="none">
              <a:solidFill>
                <a:srgbClr val="000000"/>
              </a:solidFill>
              <a:uFillTx/>
              <a:latin typeface="Arial"/>
            </a:endParaRPr>
          </a:p>
        </p:txBody>
      </p:sp>
      <p:pic>
        <p:nvPicPr>
          <p:cNvPr id="304" name="Google Shape;115;p19" descr=""/>
          <p:cNvPicPr/>
          <p:nvPr/>
        </p:nvPicPr>
        <p:blipFill>
          <a:blip r:embed="rId1"/>
          <a:stretch/>
        </p:blipFill>
        <p:spPr>
          <a:xfrm>
            <a:off x="10214640" y="95760"/>
            <a:ext cx="1812960" cy="664560"/>
          </a:xfrm>
          <a:prstGeom prst="rect">
            <a:avLst/>
          </a:prstGeom>
          <a:ln w="0">
            <a:noFill/>
          </a:ln>
        </p:spPr>
      </p:pic>
      <p:sp>
        <p:nvSpPr>
          <p:cNvPr id="305" name="Google Shape;116;p19"/>
          <p:cNvSpPr/>
          <p:nvPr/>
        </p:nvSpPr>
        <p:spPr>
          <a:xfrm>
            <a:off x="7976520" y="4991760"/>
            <a:ext cx="4051080" cy="16455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200" strike="noStrike" u="none">
                <a:solidFill>
                  <a:schemeClr val="accent1"/>
                </a:solidFill>
                <a:uFillTx/>
                <a:latin typeface="Arial"/>
                <a:ea typeface="Arial"/>
              </a:rPr>
              <a:t>Tests run on an Intel i7-10750H (12) @ 5.000GHz, all under similar workloads</a:t>
            </a:r>
            <a:br>
              <a:rPr sz="1200"/>
            </a:br>
            <a:br>
              <a:rPr sz="1200"/>
            </a:br>
            <a:r>
              <a:rPr b="1" lang="en" sz="1200" strike="noStrike" u="none">
                <a:solidFill>
                  <a:schemeClr val="accent1"/>
                </a:solidFill>
                <a:uFillTx/>
                <a:latin typeface="Arial"/>
                <a:ea typeface="Arial"/>
              </a:rPr>
              <a:t>Auto-Scheduler specifications:</a:t>
            </a:r>
            <a:br>
              <a:rPr sz="1200"/>
            </a:br>
            <a:r>
              <a:rPr b="1" lang="en" sz="1200" strike="noStrike" u="none">
                <a:solidFill>
                  <a:schemeClr val="accent1"/>
                </a:solidFill>
                <a:uFillTx/>
                <a:latin typeface="Arial"/>
                <a:ea typeface="Arial"/>
              </a:rPr>
              <a:t>target=host autoscheduler=Mullapudi2016 autoscheduler.parallelism=32 autoscheduler.last_level_cache_size=16777216 autoscheduler.balance=40 </a:t>
            </a:r>
            <a:endParaRPr b="0" lang="en-US" sz="1200" strike="noStrike" u="none">
              <a:solidFill>
                <a:srgbClr val="ffffff"/>
              </a:solidFill>
              <a:uFillTx/>
              <a:latin typeface="Arial"/>
            </a:endParaRPr>
          </a:p>
        </p:txBody>
      </p:sp>
      <p:sp>
        <p:nvSpPr>
          <p:cNvPr id="306" name="Google Shape;117;p19"/>
          <p:cNvSpPr/>
          <p:nvPr/>
        </p:nvSpPr>
        <p:spPr>
          <a:xfrm>
            <a:off x="415440" y="1564560"/>
            <a:ext cx="4051080" cy="52470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Fira Code"/>
                <a:ea typeface="Fira Code"/>
              </a:rPr>
              <a:t>Execution time (in ms) of a 1024*1024 input buffer</a:t>
            </a:r>
            <a:endParaRPr b="0" lang="en-US" sz="1340" strike="noStrike" u="none">
              <a:solidFill>
                <a:srgbClr val="ffffff"/>
              </a:solidFill>
              <a:uFillTx/>
              <a:latin typeface="Arial"/>
            </a:endParaRPr>
          </a:p>
          <a:p>
            <a:pPr>
              <a:lnSpc>
                <a:spcPct val="100000"/>
              </a:lnSpc>
              <a:tabLst>
                <a:tab algn="l" pos="0"/>
              </a:tabLst>
            </a:pPr>
            <a:endParaRPr b="0" lang="en-US" sz="1340" strike="noStrike" u="none">
              <a:solidFill>
                <a:srgbClr val="ffffff"/>
              </a:solidFill>
              <a:uFillTx/>
              <a:latin typeface="Arial"/>
            </a:endParaRPr>
          </a:p>
          <a:p>
            <a:pPr>
              <a:lnSpc>
                <a:spcPct val="100000"/>
              </a:lnSpc>
              <a:tabLst>
                <a:tab algn="l" pos="0"/>
              </a:tabLst>
            </a:pPr>
            <a:r>
              <a:rPr b="1" lang="en" sz="1340" strike="noStrike" u="none">
                <a:solidFill>
                  <a:schemeClr val="lt2"/>
                </a:solidFill>
                <a:uFillTx/>
                <a:latin typeface="Fira Code"/>
                <a:ea typeface="Fira Code"/>
              </a:rPr>
              <a:t>AUTO</a:t>
            </a:r>
            <a:r>
              <a:rPr b="0" lang="en" sz="1340" strike="noStrike" u="none">
                <a:solidFill>
                  <a:schemeClr val="lt2"/>
                </a:solidFill>
                <a:uFillTx/>
                <a:latin typeface="Fira Code"/>
                <a:ea typeface="Fira Code"/>
              </a:rPr>
              <a:t>	</a:t>
            </a:r>
            <a:r>
              <a:rPr b="0" lang="en" sz="1340" strike="noStrike" u="none">
                <a:solidFill>
                  <a:schemeClr val="lt2"/>
                </a:solidFill>
                <a:uFillTx/>
                <a:latin typeface="Fira Code"/>
                <a:ea typeface="Fira Code"/>
              </a:rPr>
              <a:t>   </a:t>
            </a:r>
            <a:r>
              <a:rPr b="1" lang="en" sz="1340" strike="noStrike" u="none">
                <a:solidFill>
                  <a:schemeClr val="lt2"/>
                </a:solidFill>
                <a:uFillTx/>
                <a:latin typeface="Fira Code"/>
                <a:ea typeface="Fira Code"/>
              </a:rPr>
              <a:t>MANUAL</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0.453748, 0.455682</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0.46457, 0.458186</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0.460088, 0.456807</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0.456097, 0.456307</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0.477421, 0.46533</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0.456687, 0.455722</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0.453297, 0.454896</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0.455597, 0.455253</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0.512179, 0.456135</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0.462807, 0.45684</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0.479661, 0.464707</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0.454347, 0.457395</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0.457544, 0.460674</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0.458069, 0.45758</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0.455576, 0.455699</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0.458554, 0.457064</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0.462642, 0.460217</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0.454166, 0.454072</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0.457571, 0.45936</a:t>
            </a:r>
            <a:endParaRPr b="0" lang="en-US" sz="1340" strike="noStrike" u="none">
              <a:solidFill>
                <a:srgbClr val="ffffff"/>
              </a:solidFill>
              <a:uFillTx/>
              <a:latin typeface="Arial"/>
            </a:endParaRPr>
          </a:p>
          <a:p>
            <a:pPr>
              <a:lnSpc>
                <a:spcPct val="100000"/>
              </a:lnSpc>
              <a:tabLst>
                <a:tab algn="l" pos="0"/>
              </a:tabLst>
            </a:pPr>
            <a:r>
              <a:rPr b="0" lang="en" sz="1340" strike="noStrike" u="none">
                <a:solidFill>
                  <a:schemeClr val="lt2"/>
                </a:solidFill>
                <a:uFillTx/>
                <a:latin typeface="Fira Code"/>
                <a:ea typeface="Fira Code"/>
              </a:rPr>
              <a:t>0.454757, 0.456103</a:t>
            </a:r>
            <a:endParaRPr b="0" lang="en-US" sz="1340" strike="noStrike" u="none">
              <a:solidFill>
                <a:srgbClr val="ffffff"/>
              </a:solidFill>
              <a:uFillTx/>
              <a:latin typeface="Arial"/>
            </a:endParaRPr>
          </a:p>
          <a:p>
            <a:pPr>
              <a:lnSpc>
                <a:spcPct val="100000"/>
              </a:lnSpc>
              <a:tabLst>
                <a:tab algn="l" pos="0"/>
              </a:tabLst>
            </a:pPr>
            <a:endParaRPr b="0" lang="en-US" sz="1200" strike="noStrike" u="none">
              <a:solidFill>
                <a:srgbClr val="ffffff"/>
              </a:solidFill>
              <a:uFillTx/>
              <a:latin typeface="Arial"/>
            </a:endParaRPr>
          </a:p>
        </p:txBody>
      </p:sp>
      <p:pic>
        <p:nvPicPr>
          <p:cNvPr id="307" name="Google Shape;118;p19" descr=""/>
          <p:cNvPicPr/>
          <p:nvPr/>
        </p:nvPicPr>
        <p:blipFill>
          <a:blip r:embed="rId2"/>
          <a:stretch/>
        </p:blipFill>
        <p:spPr>
          <a:xfrm>
            <a:off x="4852800" y="1396440"/>
            <a:ext cx="6247440" cy="359460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15440" y="2653560"/>
            <a:ext cx="11360520" cy="105660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An Alternate Approach: The DLR Method</a:t>
            </a:r>
            <a:endParaRPr b="0" lang="en-US" sz="4670" strike="noStrike" u="none">
              <a:solidFill>
                <a:srgbClr val="000000"/>
              </a:solidFill>
              <a:uFillTx/>
              <a:latin typeface="Arial"/>
            </a:endParaRPr>
          </a:p>
        </p:txBody>
      </p:sp>
      <p:sp>
        <p:nvSpPr>
          <p:cNvPr id="309"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310"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311"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4, 2024</a:t>
            </a:r>
            <a:endParaRPr b="0" lang="en-US" sz="2660" strike="noStrike" u="none">
              <a:solidFill>
                <a:srgbClr val="ffffff"/>
              </a:solidFill>
              <a:uFillTx/>
              <a:latin typeface="Arial"/>
            </a:endParaRPr>
          </a:p>
        </p:txBody>
      </p:sp>
      <p:pic>
        <p:nvPicPr>
          <p:cNvPr id="312" name="Google Shape;125;p20"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DLR Method</a:t>
            </a:r>
            <a:endParaRPr b="0" lang="en-US" sz="4270" strike="noStrike" u="none">
              <a:solidFill>
                <a:srgbClr val="000000"/>
              </a:solidFill>
              <a:uFillTx/>
              <a:latin typeface="Arial"/>
            </a:endParaRPr>
          </a:p>
        </p:txBody>
      </p:sp>
      <p:sp>
        <p:nvSpPr>
          <p:cNvPr id="314" name="PlaceHolder 2"/>
          <p:cNvSpPr>
            <a:spLocks noGrp="1"/>
          </p:cNvSpPr>
          <p:nvPr>
            <p:ph type="subTitle"/>
          </p:nvPr>
        </p:nvSpPr>
        <p:spPr>
          <a:xfrm>
            <a:off x="415440" y="1897560"/>
            <a:ext cx="9553680" cy="35575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Double Line Rotation (DLR) Method is a one-pass method for realizing the high-speed rotation of images while preserving the image quality.</a:t>
            </a:r>
            <a:br>
              <a:rPr sz="2000"/>
            </a:br>
            <a:br>
              <a:rPr sz="2000"/>
            </a:br>
            <a:r>
              <a:rPr b="0" lang="en" sz="2000" strike="noStrike" u="none">
                <a:solidFill>
                  <a:schemeClr val="lt2"/>
                </a:solidFill>
                <a:uFillTx/>
                <a:latin typeface="Arial"/>
                <a:ea typeface="Arial"/>
              </a:rPr>
              <a:t>This method employs the line coordinates in the target image. It finds the base-line equation in the target image and extracts all pixels that correspond to the base-line.</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Extracting the pixels that correspond to the base-line is performed only once. The corresponding pixels in other lines of the target image are calculated by addition or subtraction from the base-line pixel coordinates.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15" name="Google Shape;133;p21" descr=""/>
          <p:cNvPicPr/>
          <p:nvPr/>
        </p:nvPicPr>
        <p:blipFill>
          <a:blip r:embed="rId1"/>
          <a:stretch/>
        </p:blipFill>
        <p:spPr>
          <a:xfrm>
            <a:off x="10214640" y="95760"/>
            <a:ext cx="1812960" cy="664560"/>
          </a:xfrm>
          <a:prstGeom prst="rect">
            <a:avLst/>
          </a:prstGeom>
          <a:ln w="0">
            <a:noFill/>
          </a:ln>
        </p:spPr>
      </p:pic>
      <p:sp>
        <p:nvSpPr>
          <p:cNvPr id="316" name="Google Shape;135;p21"/>
          <p:cNvSpPr/>
          <p:nvPr/>
        </p:nvSpPr>
        <p:spPr>
          <a:xfrm>
            <a:off x="415440" y="5612760"/>
            <a:ext cx="3850560" cy="996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r>
              <a:rPr b="0" lang="en" sz="1340" strike="noStrike" u="none">
                <a:solidFill>
                  <a:schemeClr val="accent5"/>
                </a:solidFill>
                <a:uFillTx/>
                <a:latin typeface="Arial"/>
                <a:ea typeface="Arial"/>
              </a:rPr>
              <a:t>Ashtari, A.H., Nordin, M.J. and Kahaki, S.M.M., 2015. Double line image rotation. IEEE Transactions on Image Processing, 24(11), pp.3370-3385.</a:t>
            </a:r>
            <a:endParaRPr b="0" lang="en-US" sz="134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Breakdown</a:t>
            </a:r>
            <a:endParaRPr b="0" lang="en-US" sz="4270" strike="noStrike" u="none">
              <a:solidFill>
                <a:srgbClr val="000000"/>
              </a:solidFill>
              <a:uFillTx/>
              <a:latin typeface="Arial"/>
            </a:endParaRPr>
          </a:p>
        </p:txBody>
      </p:sp>
      <p:sp>
        <p:nvSpPr>
          <p:cNvPr id="318" name="PlaceHolder 2"/>
          <p:cNvSpPr>
            <a:spLocks noGrp="1"/>
          </p:cNvSpPr>
          <p:nvPr>
            <p:ph type="subTitle"/>
          </p:nvPr>
        </p:nvSpPr>
        <p:spPr>
          <a:xfrm>
            <a:off x="415440" y="2307240"/>
            <a:ext cx="6876000" cy="289404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DLR algorithm takes place in essentially three stages:</a:t>
            </a:r>
            <a:endParaRPr b="0" lang="en-US" sz="2000" strike="noStrike" u="none">
              <a:solidFill>
                <a:srgbClr val="ffffff"/>
              </a:solidFill>
              <a:uFillTx/>
              <a:latin typeface="Arial"/>
            </a:endParaRPr>
          </a:p>
          <a:p>
            <a:pPr marL="457200" indent="-324000">
              <a:lnSpc>
                <a:spcPct val="100000"/>
              </a:lnSpc>
              <a:buClr>
                <a:srgbClr val="adadad"/>
              </a:buClr>
              <a:buFont typeface="Arial"/>
              <a:buChar char="➔"/>
              <a:tabLst>
                <a:tab algn="l" pos="0"/>
              </a:tabLst>
            </a:pPr>
            <a:r>
              <a:rPr b="0" lang="en" sz="2000" strike="noStrike" u="none">
                <a:solidFill>
                  <a:schemeClr val="lt2"/>
                </a:solidFill>
                <a:uFillTx/>
                <a:latin typeface="Arial"/>
                <a:ea typeface="Arial"/>
              </a:rPr>
              <a:t>Base-Line Calculation</a:t>
            </a:r>
            <a:endParaRPr b="0" lang="en-US" sz="2000" strike="noStrike" u="none">
              <a:solidFill>
                <a:srgbClr val="ffffff"/>
              </a:solidFill>
              <a:uFillTx/>
              <a:latin typeface="Arial"/>
            </a:endParaRPr>
          </a:p>
          <a:p>
            <a:pPr marL="457200" indent="-324000">
              <a:lnSpc>
                <a:spcPct val="100000"/>
              </a:lnSpc>
              <a:buClr>
                <a:srgbClr val="adadad"/>
              </a:buClr>
              <a:buFont typeface="Arial"/>
              <a:buChar char="➔"/>
              <a:tabLst>
                <a:tab algn="l" pos="0"/>
              </a:tabLst>
            </a:pPr>
            <a:r>
              <a:rPr b="0" lang="en" sz="2000" strike="noStrike" u="none">
                <a:solidFill>
                  <a:schemeClr val="lt2"/>
                </a:solidFill>
                <a:uFillTx/>
                <a:latin typeface="Arial"/>
                <a:ea typeface="Arial"/>
              </a:rPr>
              <a:t>Unallocated Pixel Filling Strategy (some sort of interpolation basically)</a:t>
            </a:r>
            <a:endParaRPr b="0" lang="en-US" sz="2000" strike="noStrike" u="none">
              <a:solidFill>
                <a:srgbClr val="ffffff"/>
              </a:solidFill>
              <a:uFillTx/>
              <a:latin typeface="Arial"/>
            </a:endParaRPr>
          </a:p>
          <a:p>
            <a:pPr marL="457200" indent="-324000">
              <a:lnSpc>
                <a:spcPct val="100000"/>
              </a:lnSpc>
              <a:buClr>
                <a:srgbClr val="adadad"/>
              </a:buClr>
              <a:buFont typeface="Arial"/>
              <a:buChar char="➔"/>
              <a:tabLst>
                <a:tab algn="l" pos="0"/>
              </a:tabLst>
            </a:pPr>
            <a:r>
              <a:rPr b="0" lang="en" sz="2000" strike="noStrike" u="none">
                <a:solidFill>
                  <a:schemeClr val="lt2"/>
                </a:solidFill>
                <a:uFillTx/>
                <a:latin typeface="Arial"/>
                <a:ea typeface="Arial"/>
              </a:rPr>
              <a:t>Calculation of the Base-Line, Start-Line and Target Image Size</a:t>
            </a:r>
            <a:endParaRPr b="0" lang="en-US" sz="2000" strike="noStrike" u="none">
              <a:solidFill>
                <a:srgbClr val="ffffff"/>
              </a:solidFill>
              <a:uFillTx/>
              <a:latin typeface="Arial"/>
            </a:endParaRPr>
          </a:p>
        </p:txBody>
      </p:sp>
      <p:pic>
        <p:nvPicPr>
          <p:cNvPr id="319" name="Google Shape;141;p22"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Base-Line Calculation</a:t>
            </a:r>
            <a:endParaRPr b="0" lang="en-US" sz="4270" strike="noStrike" u="none">
              <a:solidFill>
                <a:srgbClr val="000000"/>
              </a:solidFill>
              <a:uFillTx/>
              <a:latin typeface="Arial"/>
            </a:endParaRPr>
          </a:p>
        </p:txBody>
      </p:sp>
      <p:sp>
        <p:nvSpPr>
          <p:cNvPr id="321" name="PlaceHolder 2"/>
          <p:cNvSpPr>
            <a:spLocks noGrp="1"/>
          </p:cNvSpPr>
          <p:nvPr>
            <p:ph type="subTitle"/>
          </p:nvPr>
        </p:nvSpPr>
        <p:spPr>
          <a:xfrm>
            <a:off x="415440" y="2638080"/>
            <a:ext cx="6410160" cy="348048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A base-line equation in the target image with an arbitrary slope of α is calculated. Then, all columns or rows from the original image, depending on α, are transformed to the corresponding coordinates in the target image.</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The base-line is given by </a:t>
            </a:r>
            <a:r>
              <a:rPr b="0" i="1" lang="en" sz="2000" strike="noStrike" u="none">
                <a:solidFill>
                  <a:schemeClr val="lt2"/>
                </a:solidFill>
                <a:uFillTx/>
                <a:latin typeface="Arial"/>
                <a:ea typeface="Arial"/>
              </a:rPr>
              <a:t>f(x) = Sx, S = tan(α).</a:t>
            </a: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The other corresponding lines (in the rotated image) can be computed by:</a:t>
            </a:r>
            <a:endParaRPr b="0" lang="en-US" sz="2000" strike="noStrike" u="none">
              <a:solidFill>
                <a:srgbClr val="ffffff"/>
              </a:solidFill>
              <a:uFillTx/>
              <a:latin typeface="Arial"/>
            </a:endParaRPr>
          </a:p>
          <a:p>
            <a:pPr indent="0">
              <a:lnSpc>
                <a:spcPct val="100000"/>
              </a:lnSpc>
              <a:buNone/>
              <a:tabLst>
                <a:tab algn="l" pos="0"/>
              </a:tabLst>
            </a:pPr>
            <a:r>
              <a:rPr b="0" i="1" lang="en" sz="2000" strike="noStrike" u="none">
                <a:solidFill>
                  <a:schemeClr val="lt2"/>
                </a:solidFill>
                <a:uFillTx/>
                <a:latin typeface="Arial"/>
                <a:ea typeface="Arial"/>
              </a:rPr>
              <a:t>f(x) = Sx + b, b∈𝕫</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22" name="Google Shape;148;p23" descr=""/>
          <p:cNvPicPr/>
          <p:nvPr/>
        </p:nvPicPr>
        <p:blipFill>
          <a:blip r:embed="rId1"/>
          <a:stretch/>
        </p:blipFill>
        <p:spPr>
          <a:xfrm>
            <a:off x="10214640" y="95760"/>
            <a:ext cx="1812960" cy="664560"/>
          </a:xfrm>
          <a:prstGeom prst="rect">
            <a:avLst/>
          </a:prstGeom>
          <a:ln w="0">
            <a:noFill/>
          </a:ln>
        </p:spPr>
      </p:pic>
      <p:pic>
        <p:nvPicPr>
          <p:cNvPr id="323" name="Google Shape;150;p23" descr=""/>
          <p:cNvPicPr/>
          <p:nvPr/>
        </p:nvPicPr>
        <p:blipFill>
          <a:blip r:embed="rId2"/>
          <a:stretch/>
        </p:blipFill>
        <p:spPr>
          <a:xfrm>
            <a:off x="7292160" y="2307240"/>
            <a:ext cx="4493160" cy="250704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15440" y="860400"/>
            <a:ext cx="7654680" cy="141084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Issue: An Affine-Skewed Effect</a:t>
            </a:r>
            <a:endParaRPr b="0" lang="en-US" sz="4270" strike="noStrike" u="none">
              <a:solidFill>
                <a:srgbClr val="000000"/>
              </a:solidFill>
              <a:uFillTx/>
              <a:latin typeface="Arial"/>
            </a:endParaRPr>
          </a:p>
        </p:txBody>
      </p:sp>
      <p:sp>
        <p:nvSpPr>
          <p:cNvPr id="325" name="PlaceHolder 2"/>
          <p:cNvSpPr>
            <a:spLocks noGrp="1"/>
          </p:cNvSpPr>
          <p:nvPr>
            <p:ph type="subTitle"/>
          </p:nvPr>
        </p:nvSpPr>
        <p:spPr>
          <a:xfrm>
            <a:off x="415440" y="2400120"/>
            <a:ext cx="6876000" cy="37386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Heterogeneous distances between rotated pixels in the target image cause an affine image. To avoid the affine transform, all pixel distances in the target image </a:t>
            </a:r>
            <a:r>
              <a:rPr b="0" lang="en" sz="2000" strike="noStrike" u="none">
                <a:solidFill>
                  <a:schemeClr val="accent1"/>
                </a:solidFill>
                <a:uFillTx/>
                <a:latin typeface="Arial"/>
                <a:ea typeface="Arial"/>
              </a:rPr>
              <a:t>must be the same multiple of the original image’ corresponding distance.</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So, what we can do, is have a line </a:t>
            </a:r>
            <a:r>
              <a:rPr b="0" i="1" lang="en" sz="2000" strike="noStrike" u="none">
                <a:solidFill>
                  <a:schemeClr val="lt2"/>
                </a:solidFill>
                <a:uFillTx/>
                <a:latin typeface="Arial"/>
                <a:ea typeface="Arial"/>
              </a:rPr>
              <a:t>f</a:t>
            </a:r>
            <a:r>
              <a:rPr b="0" i="1" lang="en" sz="2000" strike="noStrike" u="none" baseline="-25000">
                <a:solidFill>
                  <a:schemeClr val="lt2"/>
                </a:solidFill>
                <a:uFillTx/>
                <a:latin typeface="Arial"/>
                <a:ea typeface="Arial"/>
              </a:rPr>
              <a:t>s</a:t>
            </a:r>
            <a:r>
              <a:rPr b="0" i="1" lang="en" sz="2000" strike="noStrike" u="none">
                <a:solidFill>
                  <a:schemeClr val="lt2"/>
                </a:solidFill>
                <a:uFillTx/>
                <a:latin typeface="Arial"/>
                <a:ea typeface="Arial"/>
              </a:rPr>
              <a:t>(x) </a:t>
            </a:r>
            <a:r>
              <a:rPr b="0" lang="en" sz="2000" strike="noStrike" u="none">
                <a:solidFill>
                  <a:schemeClr val="lt2"/>
                </a:solidFill>
                <a:uFillTx/>
                <a:latin typeface="Arial"/>
                <a:ea typeface="Arial"/>
              </a:rPr>
              <a:t>determine the “starting point” of each of the other lines derived from the base-line. </a:t>
            </a:r>
            <a:r>
              <a:rPr b="0" lang="en" sz="2000" strike="noStrike" u="none">
                <a:solidFill>
                  <a:schemeClr val="accent1"/>
                </a:solidFill>
                <a:uFillTx/>
                <a:latin typeface="Arial"/>
                <a:ea typeface="Arial"/>
              </a:rPr>
              <a:t>This line is later referred to as the “starting line” or the “start-line”, as </a:t>
            </a:r>
            <a:r>
              <a:rPr b="0" i="1" lang="en" sz="2000" strike="noStrike" u="none">
                <a:solidFill>
                  <a:schemeClr val="lt2"/>
                </a:solidFill>
                <a:uFillTx/>
                <a:latin typeface="Arial"/>
                <a:ea typeface="Arial"/>
              </a:rPr>
              <a:t>f</a:t>
            </a:r>
            <a:r>
              <a:rPr b="0" i="1" lang="en" sz="2000" strike="noStrike" u="none" baseline="-25000">
                <a:solidFill>
                  <a:schemeClr val="lt2"/>
                </a:solidFill>
                <a:uFillTx/>
                <a:latin typeface="Arial"/>
                <a:ea typeface="Arial"/>
              </a:rPr>
              <a:t>s</a:t>
            </a:r>
            <a:r>
              <a:rPr b="0" i="1" lang="en" sz="2000" strike="noStrike" u="none">
                <a:solidFill>
                  <a:schemeClr val="lt2"/>
                </a:solidFill>
                <a:uFillTx/>
                <a:latin typeface="Arial"/>
                <a:ea typeface="Arial"/>
              </a:rPr>
              <a:t>(s) = y/S</a:t>
            </a:r>
            <a:r>
              <a:rPr b="0" i="1" lang="en" sz="2000" strike="noStrike" u="none" baseline="-25000">
                <a:solidFill>
                  <a:schemeClr val="lt2"/>
                </a:solidFill>
                <a:uFillTx/>
                <a:latin typeface="Arial"/>
                <a:ea typeface="Arial"/>
              </a:rPr>
              <a:t>b</a:t>
            </a:r>
            <a:r>
              <a:rPr b="0" i="1" lang="en" sz="2000" strike="noStrike" u="none">
                <a:solidFill>
                  <a:schemeClr val="lt2"/>
                </a:solidFill>
                <a:uFillTx/>
                <a:latin typeface="Arial"/>
                <a:ea typeface="Arial"/>
              </a:rPr>
              <a:t>, where S</a:t>
            </a:r>
            <a:r>
              <a:rPr b="0" i="1" lang="en" sz="2000" strike="noStrike" u="none" baseline="-25000">
                <a:solidFill>
                  <a:schemeClr val="lt2"/>
                </a:solidFill>
                <a:uFillTx/>
                <a:latin typeface="Arial"/>
                <a:ea typeface="Arial"/>
              </a:rPr>
              <a:t>b</a:t>
            </a:r>
            <a:r>
              <a:rPr b="0" i="1" lang="en" sz="2000" strike="noStrike" u="none">
                <a:solidFill>
                  <a:schemeClr val="lt2"/>
                </a:solidFill>
                <a:uFillTx/>
                <a:latin typeface="Arial"/>
                <a:ea typeface="Arial"/>
              </a:rPr>
              <a:t> is the slope of the perpendicular to the base-line.</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26" name="Google Shape;156;p24" descr=""/>
          <p:cNvPicPr/>
          <p:nvPr/>
        </p:nvPicPr>
        <p:blipFill>
          <a:blip r:embed="rId1"/>
          <a:stretch/>
        </p:blipFill>
        <p:spPr>
          <a:xfrm>
            <a:off x="10214640" y="95760"/>
            <a:ext cx="1812960" cy="664560"/>
          </a:xfrm>
          <a:prstGeom prst="rect">
            <a:avLst/>
          </a:prstGeom>
          <a:ln w="0">
            <a:noFill/>
          </a:ln>
        </p:spPr>
      </p:pic>
      <p:pic>
        <p:nvPicPr>
          <p:cNvPr id="327" name="Google Shape;158;p24" descr=""/>
          <p:cNvPicPr/>
          <p:nvPr/>
        </p:nvPicPr>
        <p:blipFill>
          <a:blip r:embed="rId2"/>
          <a:stretch/>
        </p:blipFill>
        <p:spPr>
          <a:xfrm>
            <a:off x="7534440" y="1576800"/>
            <a:ext cx="4493160" cy="456156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8" name="Google Shape;163;p25" descr=""/>
          <p:cNvPicPr/>
          <p:nvPr/>
        </p:nvPicPr>
        <p:blipFill>
          <a:blip r:embed="rId1"/>
          <a:stretch/>
        </p:blipFill>
        <p:spPr>
          <a:xfrm>
            <a:off x="10214640" y="95760"/>
            <a:ext cx="1812960" cy="664560"/>
          </a:xfrm>
          <a:prstGeom prst="rect">
            <a:avLst/>
          </a:prstGeom>
          <a:ln w="0">
            <a:noFill/>
          </a:ln>
        </p:spPr>
      </p:pic>
      <p:sp>
        <p:nvSpPr>
          <p:cNvPr id="329" name="PlaceHolder 1"/>
          <p:cNvSpPr>
            <a:spLocks noGrp="1"/>
          </p:cNvSpPr>
          <p:nvPr>
            <p:ph type="subTitle"/>
          </p:nvPr>
        </p:nvSpPr>
        <p:spPr>
          <a:xfrm>
            <a:off x="415440" y="1896480"/>
            <a:ext cx="6876000" cy="1091880"/>
          </a:xfrm>
          <a:prstGeom prst="rect">
            <a:avLst/>
          </a:prstGeom>
          <a:noFill/>
          <a:ln w="0">
            <a:noFill/>
          </a:ln>
        </p:spPr>
        <p:txBody>
          <a:bodyPr lIns="91440" rIns="91440" tIns="91440" bIns="91440" anchor="t">
            <a:noAutofit/>
          </a:bodyPr>
          <a:p>
            <a:pPr>
              <a:lnSpc>
                <a:spcPct val="100000"/>
              </a:lnSpc>
              <a:tabLst>
                <a:tab algn="l" pos="0"/>
              </a:tabLst>
            </a:pPr>
            <a:r>
              <a:rPr b="0" lang="en" sz="2000" strike="noStrike" u="none">
                <a:solidFill>
                  <a:schemeClr val="lt2"/>
                </a:solidFill>
                <a:uFillTx/>
                <a:latin typeface="Arial"/>
                <a:ea typeface="Arial"/>
              </a:rPr>
              <a:t>Choosing a “starting point” for each of the “lines” of the rotated image, the skewing effect can be fixed!</a:t>
            </a:r>
            <a:endParaRPr b="0" lang="en-US" sz="2000" strike="noStrike" u="none">
              <a:solidFill>
                <a:srgbClr val="ffffff"/>
              </a:solidFill>
              <a:uFillTx/>
              <a:latin typeface="Arial"/>
            </a:endParaRPr>
          </a:p>
        </p:txBody>
      </p:sp>
      <p:pic>
        <p:nvPicPr>
          <p:cNvPr id="330" name="Google Shape;165;p25" descr=""/>
          <p:cNvPicPr/>
          <p:nvPr/>
        </p:nvPicPr>
        <p:blipFill>
          <a:blip r:embed="rId2"/>
          <a:stretch/>
        </p:blipFill>
        <p:spPr>
          <a:xfrm>
            <a:off x="7530480" y="1555920"/>
            <a:ext cx="4427280" cy="4816440"/>
          </a:xfrm>
          <a:prstGeom prst="rect">
            <a:avLst/>
          </a:prstGeom>
          <a:ln w="0">
            <a:noFill/>
          </a:ln>
        </p:spPr>
      </p:pic>
      <p:pic>
        <p:nvPicPr>
          <p:cNvPr id="331" name="Google Shape;166;p25" descr=""/>
          <p:cNvPicPr/>
          <p:nvPr/>
        </p:nvPicPr>
        <p:blipFill>
          <a:blip r:embed="rId3"/>
          <a:stretch/>
        </p:blipFill>
        <p:spPr>
          <a:xfrm>
            <a:off x="415440" y="3642120"/>
            <a:ext cx="4427280" cy="194148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415440" y="531720"/>
            <a:ext cx="7654680" cy="1735200"/>
          </a:xfrm>
          <a:prstGeom prst="rect">
            <a:avLst/>
          </a:prstGeom>
          <a:noFill/>
          <a:ln w="0">
            <a:noFill/>
          </a:ln>
        </p:spPr>
        <p:txBody>
          <a:bodyPr lIns="91440" rIns="91440" tIns="91440" bIns="91440" anchor="b">
            <a:noAutofit/>
          </a:bodyPr>
          <a:p>
            <a:pPr indent="0">
              <a:lnSpc>
                <a:spcPct val="100000"/>
              </a:lnSpc>
              <a:buNone/>
              <a:tabLst>
                <a:tab algn="l" pos="0"/>
              </a:tabLst>
            </a:pPr>
            <a:r>
              <a:rPr b="0" lang="en" sz="3600" strike="noStrike" u="none">
                <a:solidFill>
                  <a:schemeClr val="dk1"/>
                </a:solidFill>
                <a:uFillTx/>
                <a:latin typeface="Arial"/>
                <a:ea typeface="Arial"/>
              </a:rPr>
              <a:t>Calculation of the Base-Line, Start-Line and Target Image Size (Zone 1)</a:t>
            </a:r>
            <a:endParaRPr b="0" lang="en-US" sz="3600" strike="noStrike" u="none">
              <a:solidFill>
                <a:srgbClr val="000000"/>
              </a:solidFill>
              <a:uFillTx/>
              <a:latin typeface="Arial"/>
            </a:endParaRPr>
          </a:p>
        </p:txBody>
      </p:sp>
      <p:sp>
        <p:nvSpPr>
          <p:cNvPr id="333" name="PlaceHolder 2"/>
          <p:cNvSpPr>
            <a:spLocks noGrp="1"/>
          </p:cNvSpPr>
          <p:nvPr>
            <p:ph type="subTitle"/>
          </p:nvPr>
        </p:nvSpPr>
        <p:spPr>
          <a:xfrm>
            <a:off x="415440" y="2400120"/>
            <a:ext cx="6876000" cy="109188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base line is defined as </a:t>
            </a:r>
            <a:r>
              <a:rPr b="0" i="1" lang="en" sz="2000" strike="noStrike" u="none">
                <a:solidFill>
                  <a:schemeClr val="lt2"/>
                </a:solidFill>
                <a:uFillTx/>
                <a:latin typeface="Arial"/>
                <a:ea typeface="Arial"/>
              </a:rPr>
              <a:t>f(x) = tan(α) x</a:t>
            </a:r>
            <a:br>
              <a:rPr sz="2000"/>
            </a:br>
            <a:r>
              <a:rPr b="0" lang="en" sz="2000" strike="noStrike" u="none">
                <a:solidFill>
                  <a:schemeClr val="lt2"/>
                </a:solidFill>
                <a:uFillTx/>
                <a:latin typeface="Arial"/>
                <a:ea typeface="Arial"/>
              </a:rPr>
              <a:t>The new image dimensions are defined as follows: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sp>
        <p:nvSpPr>
          <p:cNvPr id="334" name="PlaceHolder 3"/>
          <p:cNvSpPr>
            <a:spLocks noGrp="1"/>
          </p:cNvSpPr>
          <p:nvPr>
            <p:ph type="subTitle"/>
          </p:nvPr>
        </p:nvSpPr>
        <p:spPr>
          <a:xfrm>
            <a:off x="0" y="4897440"/>
            <a:ext cx="6875280" cy="184284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For Zone 1, we have the y</a:t>
            </a:r>
            <a:r>
              <a:rPr b="0" lang="en" sz="1600" strike="noStrike" u="none">
                <a:solidFill>
                  <a:schemeClr val="lt2"/>
                </a:solidFill>
                <a:uFillTx/>
                <a:latin typeface="Arial"/>
                <a:ea typeface="Arial"/>
              </a:rPr>
              <a:t>s</a:t>
            </a:r>
            <a:r>
              <a:rPr b="0" lang="en" sz="2000" strike="noStrike" u="none">
                <a:solidFill>
                  <a:schemeClr val="lt2"/>
                </a:solidFill>
                <a:uFillTx/>
                <a:latin typeface="Arial"/>
                <a:ea typeface="Arial"/>
              </a:rPr>
              <a:t> defined, not the x</a:t>
            </a:r>
            <a:r>
              <a:rPr b="0" lang="en" sz="1600" strike="noStrike" u="none">
                <a:solidFill>
                  <a:schemeClr val="lt2"/>
                </a:solidFill>
                <a:uFillTx/>
                <a:latin typeface="Arial"/>
                <a:ea typeface="Arial"/>
              </a:rPr>
              <a:t>s</a:t>
            </a:r>
            <a:r>
              <a:rPr b="0" lang="en" sz="2000" strike="noStrike" u="none">
                <a:solidFill>
                  <a:schemeClr val="lt2"/>
                </a:solidFill>
                <a:uFillTx/>
                <a:latin typeface="Arial"/>
                <a:ea typeface="Arial"/>
              </a:rPr>
              <a:t>, so for that, using the equation of the start line </a:t>
            </a:r>
            <a:r>
              <a:rPr b="0" i="1" lang="en" sz="2000" strike="noStrike" u="none">
                <a:solidFill>
                  <a:schemeClr val="lt2"/>
                </a:solidFill>
                <a:uFillTx/>
                <a:latin typeface="Arial"/>
                <a:ea typeface="Arial"/>
              </a:rPr>
              <a:t>f</a:t>
            </a:r>
            <a:r>
              <a:rPr b="0" i="1" lang="en" sz="2000" strike="noStrike" u="none" baseline="-25000">
                <a:solidFill>
                  <a:schemeClr val="lt2"/>
                </a:solidFill>
                <a:uFillTx/>
                <a:latin typeface="Arial"/>
                <a:ea typeface="Arial"/>
              </a:rPr>
              <a:t>s</a:t>
            </a:r>
            <a:r>
              <a:rPr b="0" i="1" lang="en" sz="2000" strike="noStrike" u="none">
                <a:solidFill>
                  <a:schemeClr val="lt2"/>
                </a:solidFill>
                <a:uFillTx/>
                <a:latin typeface="Arial"/>
                <a:ea typeface="Arial"/>
              </a:rPr>
              <a:t>(s) = y/S</a:t>
            </a:r>
            <a:r>
              <a:rPr b="0" i="1" lang="en" sz="2000" strike="noStrike" u="none" baseline="-25000">
                <a:solidFill>
                  <a:schemeClr val="lt2"/>
                </a:solidFill>
                <a:uFillTx/>
                <a:latin typeface="Arial"/>
                <a:ea typeface="Arial"/>
              </a:rPr>
              <a:t>b</a:t>
            </a:r>
            <a:r>
              <a:rPr b="0" i="1" lang="en" sz="2000" strike="noStrike" u="none">
                <a:solidFill>
                  <a:schemeClr val="lt2"/>
                </a:solidFill>
                <a:uFillTx/>
                <a:latin typeface="Arial"/>
                <a:ea typeface="Arial"/>
              </a:rPr>
              <a:t>, </a:t>
            </a:r>
            <a:r>
              <a:rPr b="0" lang="en" sz="2000" strike="noStrike" u="none">
                <a:solidFill>
                  <a:schemeClr val="lt2"/>
                </a:solidFill>
                <a:uFillTx/>
                <a:latin typeface="Arial"/>
                <a:ea typeface="Arial"/>
              </a:rPr>
              <a:t>we can calculate the required mapping, for each line i of the image. </a:t>
            </a:r>
            <a:r>
              <a:rPr b="0" lang="en" sz="2000" strike="noStrike" u="none">
                <a:solidFill>
                  <a:schemeClr val="accent1"/>
                </a:solidFill>
                <a:uFillTx/>
                <a:latin typeface="Arial"/>
                <a:ea typeface="Arial"/>
              </a:rPr>
              <a:t>For instance, the starting pixel of the rotated image for line i would be (f</a:t>
            </a:r>
            <a:r>
              <a:rPr b="0" lang="en" sz="2000" strike="noStrike" u="none" baseline="-25000">
                <a:solidFill>
                  <a:schemeClr val="accent1"/>
                </a:solidFill>
                <a:uFillTx/>
                <a:latin typeface="Arial"/>
                <a:ea typeface="Arial"/>
              </a:rPr>
              <a:t>s</a:t>
            </a:r>
            <a:r>
              <a:rPr b="0" lang="en" sz="2000" strike="noStrike" u="none">
                <a:solidFill>
                  <a:schemeClr val="accent1"/>
                </a:solidFill>
                <a:uFillTx/>
                <a:latin typeface="Arial"/>
                <a:ea typeface="Arial"/>
              </a:rPr>
              <a:t>(i), i).</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35" name="Google Shape;172;p26" descr=""/>
          <p:cNvPicPr/>
          <p:nvPr/>
        </p:nvPicPr>
        <p:blipFill>
          <a:blip r:embed="rId1"/>
          <a:stretch/>
        </p:blipFill>
        <p:spPr>
          <a:xfrm>
            <a:off x="10214640" y="95760"/>
            <a:ext cx="1812960" cy="664560"/>
          </a:xfrm>
          <a:prstGeom prst="rect">
            <a:avLst/>
          </a:prstGeom>
          <a:ln w="0">
            <a:noFill/>
          </a:ln>
        </p:spPr>
      </p:pic>
      <p:pic>
        <p:nvPicPr>
          <p:cNvPr id="336" name="Google Shape;174;p26" descr=""/>
          <p:cNvPicPr/>
          <p:nvPr/>
        </p:nvPicPr>
        <p:blipFill>
          <a:blip r:embed="rId2"/>
          <a:stretch/>
        </p:blipFill>
        <p:spPr>
          <a:xfrm>
            <a:off x="415440" y="3175200"/>
            <a:ext cx="6429600" cy="1841760"/>
          </a:xfrm>
          <a:prstGeom prst="rect">
            <a:avLst/>
          </a:prstGeom>
          <a:ln w="0">
            <a:noFill/>
          </a:ln>
        </p:spPr>
      </p:pic>
      <p:pic>
        <p:nvPicPr>
          <p:cNvPr id="337" name="Google Shape;175;p26" descr=""/>
          <p:cNvPicPr/>
          <p:nvPr/>
        </p:nvPicPr>
        <p:blipFill>
          <a:blip r:embed="rId3"/>
          <a:srcRect l="0" t="0" r="14002" b="0"/>
          <a:stretch/>
        </p:blipFill>
        <p:spPr>
          <a:xfrm>
            <a:off x="7912080" y="2267280"/>
            <a:ext cx="3863880" cy="340056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415440" y="2653560"/>
            <a:ext cx="11360520" cy="105660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The DLR Method in Practice</a:t>
            </a:r>
            <a:endParaRPr b="0" lang="en-US" sz="4670" strike="noStrike" u="none">
              <a:solidFill>
                <a:srgbClr val="000000"/>
              </a:solidFill>
              <a:uFillTx/>
              <a:latin typeface="Arial"/>
            </a:endParaRPr>
          </a:p>
        </p:txBody>
      </p:sp>
      <p:sp>
        <p:nvSpPr>
          <p:cNvPr id="339"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340"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341"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7, 2024</a:t>
            </a:r>
            <a:endParaRPr b="0" lang="en-US" sz="2660" strike="noStrike" u="none">
              <a:solidFill>
                <a:srgbClr val="ffffff"/>
              </a:solidFill>
              <a:uFillTx/>
              <a:latin typeface="Arial"/>
            </a:endParaRPr>
          </a:p>
        </p:txBody>
      </p:sp>
      <p:pic>
        <p:nvPicPr>
          <p:cNvPr id="342" name="Google Shape;183;p27"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Foundation</a:t>
            </a:r>
            <a:endParaRPr b="0" lang="en-US" sz="4270" strike="noStrike" u="none">
              <a:solidFill>
                <a:srgbClr val="000000"/>
              </a:solidFill>
              <a:uFillTx/>
              <a:latin typeface="Arial"/>
            </a:endParaRPr>
          </a:p>
        </p:txBody>
      </p:sp>
      <p:sp>
        <p:nvSpPr>
          <p:cNvPr id="344" name="PlaceHolder 2"/>
          <p:cNvSpPr>
            <a:spLocks noGrp="1"/>
          </p:cNvSpPr>
          <p:nvPr>
            <p:ph type="subTitle"/>
          </p:nvPr>
        </p:nvSpPr>
        <p:spPr>
          <a:xfrm>
            <a:off x="415440" y="1897560"/>
            <a:ext cx="6339240" cy="44521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Calculating the new dimensions isn’t always as straightforward as it might seem.</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For example, in the paper, where it is mentioned that mrt and nrt can be calculated using the following:</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 </a:t>
            </a:r>
            <a:r>
              <a:rPr b="0" lang="en" sz="2000" strike="noStrike" u="none">
                <a:solidFill>
                  <a:srgbClr val="ea9999"/>
                </a:solidFill>
                <a:uFillTx/>
                <a:latin typeface="Arial"/>
                <a:ea typeface="Arial"/>
              </a:rPr>
              <a:t>hardly works. </a:t>
            </a:r>
            <a:r>
              <a:rPr b="0" lang="en" sz="2000" strike="noStrike" u="none">
                <a:solidFill>
                  <a:schemeClr val="lt2"/>
                </a:solidFill>
                <a:uFillTx/>
                <a:latin typeface="Arial"/>
                <a:ea typeface="Arial"/>
              </a:rPr>
              <a:t>Instead, it’s best to find the new dimensions manually, zone wise.</a:t>
            </a:r>
            <a:endParaRPr b="0" lang="en-US" sz="2000" strike="noStrike" u="none">
              <a:solidFill>
                <a:srgbClr val="ffffff"/>
              </a:solidFill>
              <a:uFillTx/>
              <a:latin typeface="Arial"/>
            </a:endParaRPr>
          </a:p>
        </p:txBody>
      </p:sp>
      <p:pic>
        <p:nvPicPr>
          <p:cNvPr id="345" name="Google Shape;191;p28" descr=""/>
          <p:cNvPicPr/>
          <p:nvPr/>
        </p:nvPicPr>
        <p:blipFill>
          <a:blip r:embed="rId1"/>
          <a:stretch/>
        </p:blipFill>
        <p:spPr>
          <a:xfrm>
            <a:off x="10214640" y="95760"/>
            <a:ext cx="1812960" cy="664560"/>
          </a:xfrm>
          <a:prstGeom prst="rect">
            <a:avLst/>
          </a:prstGeom>
          <a:ln w="0">
            <a:noFill/>
          </a:ln>
        </p:spPr>
      </p:pic>
      <p:pic>
        <p:nvPicPr>
          <p:cNvPr id="346" name="Google Shape;193;p28" descr=""/>
          <p:cNvPicPr/>
          <p:nvPr/>
        </p:nvPicPr>
        <p:blipFill>
          <a:blip r:embed="rId2"/>
          <a:stretch/>
        </p:blipFill>
        <p:spPr>
          <a:xfrm>
            <a:off x="6957000" y="1897560"/>
            <a:ext cx="5402880" cy="4121640"/>
          </a:xfrm>
          <a:prstGeom prst="rect">
            <a:avLst/>
          </a:prstGeom>
          <a:ln w="0">
            <a:noFill/>
          </a:ln>
        </p:spPr>
      </p:pic>
      <p:pic>
        <p:nvPicPr>
          <p:cNvPr id="347" name="Google Shape;194;p28" descr=""/>
          <p:cNvPicPr/>
          <p:nvPr/>
        </p:nvPicPr>
        <p:blipFill>
          <a:blip r:embed="rId3"/>
          <a:stretch/>
        </p:blipFill>
        <p:spPr>
          <a:xfrm>
            <a:off x="415440" y="3552480"/>
            <a:ext cx="6429600" cy="184176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How The Mapping Works</a:t>
            </a:r>
            <a:endParaRPr b="0" lang="en-US" sz="4270" strike="noStrike" u="none">
              <a:solidFill>
                <a:srgbClr val="000000"/>
              </a:solidFill>
              <a:uFillTx/>
              <a:latin typeface="Arial"/>
            </a:endParaRPr>
          </a:p>
        </p:txBody>
      </p:sp>
      <p:sp>
        <p:nvSpPr>
          <p:cNvPr id="349" name="PlaceHolder 2"/>
          <p:cNvSpPr>
            <a:spLocks noGrp="1"/>
          </p:cNvSpPr>
          <p:nvPr>
            <p:ph type="subTitle"/>
          </p:nvPr>
        </p:nvSpPr>
        <p:spPr>
          <a:xfrm>
            <a:off x="415440" y="1897560"/>
            <a:ext cx="6339240" cy="44521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starting point, for each such incremental mapping is given by:</a:t>
            </a:r>
            <a:endParaRPr b="0" lang="en-US" sz="2000" strike="noStrike" u="none">
              <a:solidFill>
                <a:srgbClr val="ffffff"/>
              </a:solidFill>
              <a:uFillTx/>
              <a:latin typeface="Arial"/>
            </a:endParaRPr>
          </a:p>
          <a:p>
            <a:pPr indent="0">
              <a:lnSpc>
                <a:spcPct val="100000"/>
              </a:lnSpc>
              <a:buNone/>
              <a:tabLst>
                <a:tab algn="l" pos="0"/>
              </a:tabLst>
            </a:pPr>
            <a:r>
              <a:rPr b="0" i="1" lang="en" sz="2000" strike="noStrike" u="none">
                <a:solidFill>
                  <a:schemeClr val="lt2"/>
                </a:solidFill>
                <a:uFillTx/>
                <a:latin typeface="Arial"/>
                <a:ea typeface="Arial"/>
              </a:rPr>
              <a:t>(f</a:t>
            </a:r>
            <a:r>
              <a:rPr b="0" i="1" lang="en" sz="2000" strike="noStrike" u="none" baseline="-25000">
                <a:solidFill>
                  <a:schemeClr val="lt2"/>
                </a:solidFill>
                <a:uFillTx/>
                <a:latin typeface="Arial"/>
                <a:ea typeface="Arial"/>
              </a:rPr>
              <a:t>s</a:t>
            </a:r>
            <a:r>
              <a:rPr b="0" i="1" lang="en" sz="2000" strike="noStrike" u="none">
                <a:solidFill>
                  <a:schemeClr val="lt2"/>
                </a:solidFill>
                <a:uFillTx/>
                <a:latin typeface="Arial"/>
                <a:ea typeface="Arial"/>
              </a:rPr>
              <a:t>(i), i), </a:t>
            </a:r>
            <a:r>
              <a:rPr b="0" i="1" lang="en" sz="2000" strike="noStrike" u="none">
                <a:solidFill>
                  <a:schemeClr val="lt2"/>
                </a:solidFill>
                <a:uFillTx/>
                <a:latin typeface="Arial"/>
                <a:ea typeface="Arial"/>
              </a:rPr>
              <a:t>	</a:t>
            </a:r>
            <a:r>
              <a:rPr b="0" lang="en" sz="2000" strike="noStrike" u="none">
                <a:solidFill>
                  <a:schemeClr val="lt2"/>
                </a:solidFill>
                <a:uFillTx/>
                <a:latin typeface="Arial"/>
                <a:ea typeface="Arial"/>
              </a:rPr>
              <a:t>where </a:t>
            </a:r>
            <a:r>
              <a:rPr b="0" i="1" lang="en" sz="2000" strike="noStrike" u="none">
                <a:solidFill>
                  <a:schemeClr val="lt2"/>
                </a:solidFill>
                <a:uFillTx/>
                <a:latin typeface="Arial"/>
                <a:ea typeface="Arial"/>
              </a:rPr>
              <a:t>f</a:t>
            </a:r>
            <a:r>
              <a:rPr b="0" i="1" lang="en" sz="2000" strike="noStrike" u="none" baseline="-25000">
                <a:solidFill>
                  <a:schemeClr val="lt2"/>
                </a:solidFill>
                <a:uFillTx/>
                <a:latin typeface="Arial"/>
                <a:ea typeface="Arial"/>
              </a:rPr>
              <a:t>s</a:t>
            </a:r>
            <a:r>
              <a:rPr b="0" i="1" lang="en" sz="2000" strike="noStrike" u="none">
                <a:solidFill>
                  <a:schemeClr val="lt2"/>
                </a:solidFill>
                <a:uFillTx/>
                <a:latin typeface="Arial"/>
                <a:ea typeface="Arial"/>
              </a:rPr>
              <a:t>(x) = x / tan(𝛼 + π/2)</a:t>
            </a:r>
            <a:r>
              <a:rPr b="0" lang="en" sz="2000" strike="noStrike" u="none">
                <a:solidFill>
                  <a:schemeClr val="lt2"/>
                </a:solidFill>
                <a:uFillTx/>
                <a:latin typeface="Arial"/>
                <a:ea typeface="Arial"/>
              </a:rPr>
              <a:t> </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From that point on, we can determine where the rest of the pixels will be placed.</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In this example, we need to map n pixels over the span of </a:t>
            </a:r>
            <a:r>
              <a:rPr b="0" i="1" lang="en" sz="2000" strike="noStrike" u="none">
                <a:solidFill>
                  <a:schemeClr val="lt2"/>
                </a:solidFill>
                <a:uFillTx/>
                <a:latin typeface="Arial"/>
                <a:ea typeface="Arial"/>
              </a:rPr>
              <a:t>n*cos(𝛼) </a:t>
            </a:r>
            <a:r>
              <a:rPr b="0" lang="en" sz="2000" strike="noStrike" u="none">
                <a:solidFill>
                  <a:schemeClr val="lt2"/>
                </a:solidFill>
                <a:uFillTx/>
                <a:latin typeface="Arial"/>
                <a:ea typeface="Arial"/>
              </a:rPr>
              <a:t>in the x axis, and </a:t>
            </a:r>
            <a:r>
              <a:rPr b="0" i="1" lang="en" sz="2000" strike="noStrike" u="none">
                <a:solidFill>
                  <a:schemeClr val="lt2"/>
                </a:solidFill>
                <a:uFillTx/>
                <a:latin typeface="Arial"/>
                <a:ea typeface="Arial"/>
              </a:rPr>
              <a:t>n*sin(𝛼)</a:t>
            </a:r>
            <a:r>
              <a:rPr b="0" lang="en" sz="2000" strike="noStrike" u="none">
                <a:solidFill>
                  <a:schemeClr val="lt2"/>
                </a:solidFill>
                <a:uFillTx/>
                <a:latin typeface="Arial"/>
                <a:ea typeface="Arial"/>
              </a:rPr>
              <a:t> in the y axis. Consequently, we can determine, for each time we iterate over a pixel to be mapped, how much should the x and y change in the rotated image.</a:t>
            </a:r>
            <a:endParaRPr b="0" lang="en-US" sz="2000" strike="noStrike" u="none">
              <a:solidFill>
                <a:srgbClr val="ffffff"/>
              </a:solidFill>
              <a:uFillTx/>
              <a:latin typeface="Arial"/>
            </a:endParaRPr>
          </a:p>
        </p:txBody>
      </p:sp>
      <p:pic>
        <p:nvPicPr>
          <p:cNvPr id="350" name="Google Shape;200;p29" descr=""/>
          <p:cNvPicPr/>
          <p:nvPr/>
        </p:nvPicPr>
        <p:blipFill>
          <a:blip r:embed="rId1"/>
          <a:stretch/>
        </p:blipFill>
        <p:spPr>
          <a:xfrm>
            <a:off x="10214640" y="95760"/>
            <a:ext cx="1812960" cy="664560"/>
          </a:xfrm>
          <a:prstGeom prst="rect">
            <a:avLst/>
          </a:prstGeom>
          <a:ln w="0">
            <a:noFill/>
          </a:ln>
        </p:spPr>
      </p:pic>
      <p:pic>
        <p:nvPicPr>
          <p:cNvPr id="351" name="Google Shape;202;p29" descr=""/>
          <p:cNvPicPr/>
          <p:nvPr/>
        </p:nvPicPr>
        <p:blipFill>
          <a:blip r:embed="rId2"/>
          <a:stretch/>
        </p:blipFill>
        <p:spPr>
          <a:xfrm>
            <a:off x="7048800" y="1838160"/>
            <a:ext cx="4939560" cy="376812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515520" y="473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How The Mapping Works</a:t>
            </a:r>
            <a:endParaRPr b="0" lang="en-US" sz="4270" strike="noStrike" u="none">
              <a:solidFill>
                <a:srgbClr val="000000"/>
              </a:solidFill>
              <a:uFillTx/>
              <a:latin typeface="Arial"/>
            </a:endParaRPr>
          </a:p>
        </p:txBody>
      </p:sp>
      <p:pic>
        <p:nvPicPr>
          <p:cNvPr id="353" name="Google Shape;200;p29" descr=""/>
          <p:cNvPicPr/>
          <p:nvPr/>
        </p:nvPicPr>
        <p:blipFill>
          <a:blip r:embed="rId1"/>
          <a:stretch/>
        </p:blipFill>
        <p:spPr>
          <a:xfrm>
            <a:off x="10214640" y="95760"/>
            <a:ext cx="1812960" cy="664560"/>
          </a:xfrm>
          <a:prstGeom prst="rect">
            <a:avLst/>
          </a:prstGeom>
          <a:ln w="0">
            <a:noFill/>
          </a:ln>
        </p:spPr>
      </p:pic>
      <p:sp>
        <p:nvSpPr>
          <p:cNvPr id="354" name="Google Shape;209;p30"/>
          <p:cNvSpPr/>
          <p:nvPr/>
        </p:nvSpPr>
        <p:spPr>
          <a:xfrm>
            <a:off x="762120" y="1387800"/>
            <a:ext cx="10971000" cy="445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IN" sz="1400" strike="noStrike" u="none">
                <a:solidFill>
                  <a:srgbClr val="e6edf3"/>
                </a:solidFill>
                <a:uFillTx/>
                <a:latin typeface="Courier New"/>
                <a:ea typeface="Courier New"/>
              </a:rPr>
              <a:t>rise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n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.sin(alpha)</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run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n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.cos(alpha)</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max_start_y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int</a:t>
            </a:r>
            <a:r>
              <a:rPr b="0" lang="en-IN" sz="1400" strike="noStrike" u="none">
                <a:solidFill>
                  <a:srgbClr val="e6edf3"/>
                </a:solidFill>
                <a:uFillTx/>
                <a:latin typeface="Courier New"/>
                <a:ea typeface="Courier New"/>
              </a:rPr>
              <a:t>(</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.ceil(m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.cos(alpha)))</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fs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lambda</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y</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y</a:t>
            </a: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.tan(alpha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.pi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2</a:t>
            </a:r>
            <a:r>
              <a:rPr b="0" lang="en-IN" sz="1400" strike="noStrike" u="none">
                <a:solidFill>
                  <a:srgbClr val="e6edf3"/>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y_incr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.floor(n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rise)</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x_incr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.floor(n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run)</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8b949e"/>
                </a:solidFill>
                <a:uFillTx/>
                <a:latin typeface="Courier New"/>
                <a:ea typeface="Courier New"/>
              </a:rPr>
              <a:t># more generally, if x_incr/y_incr &gt; 1, (x_incr/y_incr) can be treated as a mod factor wrt x and vice-versa</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ff7b72"/>
                </a:solidFill>
                <a:uFillTx/>
                <a:latin typeface="Courier New"/>
                <a:ea typeface="Courier New"/>
              </a:rPr>
              <a:t>if</a:t>
            </a:r>
            <a:r>
              <a:rPr b="0" lang="en-IN" sz="1400" strike="noStrike" u="none">
                <a:solidFill>
                  <a:srgbClr val="e6edf3"/>
                </a:solidFill>
                <a:uFillTx/>
                <a:latin typeface="Courier New"/>
                <a:ea typeface="Courier New"/>
              </a:rPr>
              <a:t> y_incr </a:t>
            </a:r>
            <a:r>
              <a:rPr b="0" lang="en-IN" sz="1400" strike="noStrike" u="none">
                <a:solidFill>
                  <a:srgbClr val="ff7b72"/>
                </a:solidFill>
                <a:uFillTx/>
                <a:latin typeface="Courier New"/>
                <a:ea typeface="Courier New"/>
              </a:rPr>
              <a:t>&gt;</a:t>
            </a:r>
            <a:r>
              <a:rPr b="0" lang="en-IN" sz="1400" strike="noStrike" u="none">
                <a:solidFill>
                  <a:srgbClr val="e6edf3"/>
                </a:solidFill>
                <a:uFillTx/>
                <a:latin typeface="Courier New"/>
                <a:ea typeface="Courier New"/>
              </a:rPr>
              <a:t> x_incr:</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mod_factor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y_incr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x_incr</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for</a:t>
            </a:r>
            <a:r>
              <a:rPr b="0" lang="en-IN" sz="1400" strike="noStrike" u="none">
                <a:solidFill>
                  <a:srgbClr val="e6edf3"/>
                </a:solidFill>
                <a:uFillTx/>
                <a:latin typeface="Courier New"/>
                <a:ea typeface="Courier New"/>
              </a:rPr>
              <a:t> line </a:t>
            </a:r>
            <a:r>
              <a:rPr b="0" lang="en-IN" sz="1400" strike="noStrike" u="none">
                <a:solidFill>
                  <a:srgbClr val="ff7b72"/>
                </a:solidFill>
                <a:uFillTx/>
                <a:latin typeface="Courier New"/>
                <a:ea typeface="Courier New"/>
              </a:rPr>
              <a:t>in</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range</a:t>
            </a:r>
            <a:r>
              <a:rPr b="0" lang="en-IN" sz="1400" strike="noStrike" u="none">
                <a:solidFill>
                  <a:srgbClr val="e6edf3"/>
                </a:solidFill>
                <a:uFillTx/>
                <a:latin typeface="Courier New"/>
                <a:ea typeface="Courier New"/>
              </a:rPr>
              <a:t>(max_start_y):</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a, b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int</a:t>
            </a:r>
            <a:r>
              <a:rPr b="0" lang="en-IN" sz="1400" strike="noStrike" u="none">
                <a:solidFill>
                  <a:srgbClr val="e6edf3"/>
                </a:solidFill>
                <a:uFillTx/>
                <a:latin typeface="Courier New"/>
                <a:ea typeface="Courier New"/>
              </a:rPr>
              <a:t>(</a:t>
            </a:r>
            <a:r>
              <a:rPr b="0" lang="en-IN" sz="1400" strike="noStrike" u="none">
                <a:solidFill>
                  <a:srgbClr val="ffa657"/>
                </a:solidFill>
                <a:uFillTx/>
                <a:latin typeface="Courier New"/>
                <a:ea typeface="Courier New"/>
              </a:rPr>
              <a:t>np</a:t>
            </a:r>
            <a:r>
              <a:rPr b="0" lang="en-IN" sz="1400" strike="noStrike" u="none">
                <a:solidFill>
                  <a:srgbClr val="e6edf3"/>
                </a:solidFill>
                <a:uFillTx/>
                <a:latin typeface="Courier New"/>
                <a:ea typeface="Courier New"/>
              </a:rPr>
              <a:t>.ceil(fs(line))), line</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for</a:t>
            </a:r>
            <a:r>
              <a:rPr b="0" lang="en-IN" sz="1400" strike="noStrike" u="none">
                <a:solidFill>
                  <a:srgbClr val="e6edf3"/>
                </a:solidFill>
                <a:uFillTx/>
                <a:latin typeface="Courier New"/>
                <a:ea typeface="Courier New"/>
              </a:rPr>
              <a:t> pixel </a:t>
            </a:r>
            <a:r>
              <a:rPr b="0" lang="en-IN" sz="1400" strike="noStrike" u="none">
                <a:solidFill>
                  <a:srgbClr val="ff7b72"/>
                </a:solidFill>
                <a:uFillTx/>
                <a:latin typeface="Courier New"/>
                <a:ea typeface="Courier New"/>
              </a:rPr>
              <a:t>in</a:t>
            </a:r>
            <a:r>
              <a:rPr b="0" lang="en-IN" sz="1400" strike="noStrike" u="none">
                <a:solidFill>
                  <a:srgbClr val="e6edf3"/>
                </a:solidFill>
                <a:uFillTx/>
                <a:latin typeface="Courier New"/>
                <a:ea typeface="Courier New"/>
              </a:rPr>
              <a:t> </a:t>
            </a:r>
            <a:r>
              <a:rPr b="0" lang="en-IN" sz="1400" strike="noStrike" u="none">
                <a:solidFill>
                  <a:srgbClr val="ffa657"/>
                </a:solidFill>
                <a:uFillTx/>
                <a:latin typeface="Courier New"/>
                <a:ea typeface="Courier New"/>
              </a:rPr>
              <a:t>range</a:t>
            </a:r>
            <a:r>
              <a:rPr b="0" lang="en-IN" sz="1400" strike="noStrike" u="none">
                <a:solidFill>
                  <a:srgbClr val="e6edf3"/>
                </a:solidFill>
                <a:uFillTx/>
                <a:latin typeface="Courier New"/>
                <a:ea typeface="Courier New"/>
              </a:rPr>
              <a:t>(n):</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8b949e"/>
                </a:solidFill>
                <a:uFillTx/>
                <a:latin typeface="Courier New"/>
                <a:ea typeface="Courier New"/>
              </a:rPr>
              <a:t># print(f"{(a + x_offset, b)} maps to {(pixel, line)}, i.e {img[line][pixel]}")</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rot[b, a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x_offset]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img[line, pixel]</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8b949e"/>
                </a:solidFill>
                <a:uFillTx/>
                <a:latin typeface="Courier New"/>
                <a:ea typeface="Courier New"/>
              </a:rPr>
              <a:t># ASHTARI et al.: DOUBLE LINE IMAGE ROTATION</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rot[b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1</a:t>
            </a:r>
            <a:r>
              <a:rPr b="0" lang="en-IN" sz="1400" strike="noStrike" u="none">
                <a:solidFill>
                  <a:srgbClr val="e6edf3"/>
                </a:solidFill>
                <a:uFillTx/>
                <a:latin typeface="Courier New"/>
                <a:ea typeface="Courier New"/>
              </a:rPr>
              <a:t>, a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x_offset]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img[line, pixel]</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a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1</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if</a:t>
            </a:r>
            <a:r>
              <a:rPr b="0" lang="en-IN" sz="1400" strike="noStrike" u="none">
                <a:solidFill>
                  <a:srgbClr val="e6edf3"/>
                </a:solidFill>
                <a:uFillTx/>
                <a:latin typeface="Courier New"/>
                <a:ea typeface="Courier New"/>
              </a:rPr>
              <a:t> pixel </a:t>
            </a:r>
            <a:r>
              <a:rPr b="0" lang="en-IN" sz="1400" strike="noStrike" u="none">
                <a:solidFill>
                  <a:srgbClr val="ff7b72"/>
                </a:solidFill>
                <a:uFillTx/>
                <a:latin typeface="Courier New"/>
                <a:ea typeface="Courier New"/>
              </a:rPr>
              <a:t>&gt;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0</a:t>
            </a:r>
            <a:r>
              <a:rPr b="0" lang="en-IN" sz="1400" strike="noStrike" u="none">
                <a:solidFill>
                  <a:srgbClr val="e6edf3"/>
                </a:solidFill>
                <a:uFillTx/>
                <a:latin typeface="Courier New"/>
                <a:ea typeface="Courier New"/>
              </a:rPr>
              <a:t> </a:t>
            </a:r>
            <a:r>
              <a:rPr b="0" lang="en-IN" sz="1400" strike="noStrike" u="none">
                <a:solidFill>
                  <a:srgbClr val="ff7b72"/>
                </a:solidFill>
                <a:uFillTx/>
                <a:latin typeface="Courier New"/>
                <a:ea typeface="Courier New"/>
              </a:rPr>
              <a:t>and</a:t>
            </a:r>
            <a:r>
              <a:rPr b="0" lang="en-IN" sz="1400" strike="noStrike" u="none">
                <a:solidFill>
                  <a:srgbClr val="e6edf3"/>
                </a:solidFill>
                <a:uFillTx/>
                <a:latin typeface="Courier New"/>
                <a:ea typeface="Courier New"/>
              </a:rPr>
              <a:t> pixel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mod_factor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0</a:t>
            </a:r>
            <a:r>
              <a:rPr b="0" lang="en-IN" sz="1400" strike="noStrike" u="none">
                <a:solidFill>
                  <a:srgbClr val="e6edf3"/>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IN" sz="1400" strike="noStrike" u="none">
                <a:solidFill>
                  <a:srgbClr val="e6edf3"/>
                </a:solidFill>
                <a:uFillTx/>
                <a:latin typeface="Courier New"/>
                <a:ea typeface="Courier New"/>
              </a:rPr>
              <a:t>               </a:t>
            </a:r>
            <a:r>
              <a:rPr b="0" lang="en-IN" sz="1400" strike="noStrike" u="none">
                <a:solidFill>
                  <a:srgbClr val="e6edf3"/>
                </a:solidFill>
                <a:uFillTx/>
                <a:latin typeface="Courier New"/>
                <a:ea typeface="Courier New"/>
              </a:rPr>
              <a:t>b </a:t>
            </a:r>
            <a:r>
              <a:rPr b="0" lang="en-IN" sz="1400" strike="noStrike" u="none">
                <a:solidFill>
                  <a:srgbClr val="ff7b72"/>
                </a:solidFill>
                <a:uFillTx/>
                <a:latin typeface="Courier New"/>
                <a:ea typeface="Courier New"/>
              </a:rPr>
              <a:t>+=</a:t>
            </a:r>
            <a:r>
              <a:rPr b="0" lang="en-IN" sz="1400" strike="noStrike" u="none">
                <a:solidFill>
                  <a:srgbClr val="e6edf3"/>
                </a:solidFill>
                <a:uFillTx/>
                <a:latin typeface="Courier New"/>
                <a:ea typeface="Courier New"/>
              </a:rPr>
              <a:t> </a:t>
            </a:r>
            <a:r>
              <a:rPr b="0" lang="en-IN" sz="1400" strike="noStrike" u="none">
                <a:solidFill>
                  <a:srgbClr val="79c0ff"/>
                </a:solidFill>
                <a:uFillTx/>
                <a:latin typeface="Courier New"/>
                <a:ea typeface="Courier New"/>
              </a:rPr>
              <a:t>1</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endParaRPr b="0" lang="en-US" sz="2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Results</a:t>
            </a:r>
            <a:endParaRPr b="0" lang="en-US" sz="4270" strike="noStrike" u="none">
              <a:solidFill>
                <a:srgbClr val="000000"/>
              </a:solidFill>
              <a:uFillTx/>
              <a:latin typeface="Arial"/>
            </a:endParaRPr>
          </a:p>
        </p:txBody>
      </p:sp>
      <p:pic>
        <p:nvPicPr>
          <p:cNvPr id="356" name="Google Shape;215;p31" descr=""/>
          <p:cNvPicPr/>
          <p:nvPr/>
        </p:nvPicPr>
        <p:blipFill>
          <a:blip r:embed="rId1"/>
          <a:stretch/>
        </p:blipFill>
        <p:spPr>
          <a:xfrm>
            <a:off x="10214640" y="95760"/>
            <a:ext cx="1812960" cy="664560"/>
          </a:xfrm>
          <a:prstGeom prst="rect">
            <a:avLst/>
          </a:prstGeom>
          <a:ln w="0">
            <a:noFill/>
          </a:ln>
        </p:spPr>
      </p:pic>
      <p:graphicFrame>
        <p:nvGraphicFramePr>
          <p:cNvPr id="357" name="Google Shape;216;p31"/>
          <p:cNvGraphicFramePr/>
          <p:nvPr/>
        </p:nvGraphicFramePr>
        <p:xfrm>
          <a:off x="415440" y="1905480"/>
          <a:ext cx="5257440" cy="4141440"/>
        </p:xfrm>
        <a:graphic>
          <a:graphicData uri="http://schemas.openxmlformats.org/drawingml/2006/table">
            <a:tbl>
              <a:tblPr/>
              <a:tblGrid>
                <a:gridCol w="1269720"/>
                <a:gridCol w="1828800"/>
                <a:gridCol w="2158920"/>
              </a:tblGrid>
              <a:tr h="266400">
                <a:tc>
                  <a:txBody>
                    <a:bodyPr lIns="28440" rIns="28440" tIns="18720" bIns="18720" anchor="b">
                      <a:noAutofit/>
                    </a:bodyPr>
                    <a:p>
                      <a:pPr>
                        <a:lnSpc>
                          <a:spcPct val="115000"/>
                        </a:lnSpc>
                        <a:tabLst>
                          <a:tab algn="l" pos="0"/>
                        </a:tabLst>
                      </a:pPr>
                      <a:r>
                        <a:rPr b="1" lang="en" sz="1729" strike="noStrike" u="none">
                          <a:solidFill>
                            <a:schemeClr val="lt2"/>
                          </a:solidFill>
                          <a:uFillTx/>
                          <a:latin typeface="Arial"/>
                          <a:ea typeface="Arial"/>
                        </a:rPr>
                        <a:t>openCV dlr</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nSpc>
                          <a:spcPct val="115000"/>
                        </a:lnSpc>
                        <a:tabLst>
                          <a:tab algn="l" pos="0"/>
                        </a:tabLst>
                      </a:pPr>
                      <a:r>
                        <a:rPr b="1" lang="en" sz="1729" strike="noStrike" u="none">
                          <a:solidFill>
                            <a:schemeClr val="lt2"/>
                          </a:solidFill>
                          <a:uFillTx/>
                          <a:latin typeface="Arial"/>
                          <a:ea typeface="Arial"/>
                        </a:rPr>
                        <a:t>Halide affine transform</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nSpc>
                          <a:spcPct val="115000"/>
                        </a:lnSpc>
                        <a:tabLst>
                          <a:tab algn="l" pos="0"/>
                        </a:tabLst>
                      </a:pPr>
                      <a:r>
                        <a:rPr b="1" lang="en" sz="1729" strike="noStrike" u="none">
                          <a:solidFill>
                            <a:schemeClr val="lt2"/>
                          </a:solidFill>
                          <a:uFillTx/>
                          <a:latin typeface="Arial"/>
                          <a:ea typeface="Arial"/>
                        </a:rPr>
                        <a:t>OpenCV Built-in warpAffine</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0.14</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0.78</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0.17</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0.83</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0.19</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0.17</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0.83</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0.81</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0.82</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0.84</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0.17</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0.89</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1</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0.17</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0.93</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0.16</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0.17</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0.98</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0" lang="en" sz="1729" strike="noStrike" u="none">
                          <a:solidFill>
                            <a:schemeClr val="lt2"/>
                          </a:solidFill>
                          <a:uFillTx/>
                          <a:latin typeface="Arial"/>
                          <a:ea typeface="Arial"/>
                        </a:rPr>
                        <a:t>0.15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r h="266400">
                <a:tc>
                  <a:txBody>
                    <a:bodyPr lIns="28440" rIns="28440" tIns="18720" bIns="18720" anchor="b">
                      <a:noAutofit/>
                    </a:bodyPr>
                    <a:p>
                      <a:pPr algn="r">
                        <a:lnSpc>
                          <a:spcPct val="115000"/>
                        </a:lnSpc>
                        <a:tabLst>
                          <a:tab algn="l" pos="0"/>
                        </a:tabLst>
                      </a:pPr>
                      <a:r>
                        <a:rPr b="1" lang="en" sz="1729" strike="noStrike" u="none">
                          <a:solidFill>
                            <a:schemeClr val="lt2"/>
                          </a:solidFill>
                          <a:uFillTx/>
                          <a:latin typeface="Arial"/>
                          <a:ea typeface="Arial"/>
                        </a:rPr>
                        <a:t>0.155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1" lang="en" sz="1729" strike="noStrike" u="none">
                          <a:solidFill>
                            <a:schemeClr val="lt2"/>
                          </a:solidFill>
                          <a:uFillTx/>
                          <a:latin typeface="Arial"/>
                          <a:ea typeface="Arial"/>
                        </a:rPr>
                        <a:t>0.871</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c>
                  <a:txBody>
                    <a:bodyPr lIns="28440" rIns="28440" tIns="18720" bIns="18720" anchor="b">
                      <a:noAutofit/>
                    </a:bodyPr>
                    <a:p>
                      <a:pPr algn="r">
                        <a:lnSpc>
                          <a:spcPct val="115000"/>
                        </a:lnSpc>
                        <a:tabLst>
                          <a:tab algn="l" pos="0"/>
                        </a:tabLst>
                      </a:pPr>
                      <a:r>
                        <a:rPr b="1" lang="en" sz="1729" strike="noStrike" u="none">
                          <a:solidFill>
                            <a:schemeClr val="lt2"/>
                          </a:solidFill>
                          <a:uFillTx/>
                          <a:latin typeface="Arial"/>
                          <a:ea typeface="Arial"/>
                        </a:rPr>
                        <a:t>0.165</a:t>
                      </a:r>
                      <a:endParaRPr b="0" lang="en-US" sz="1729" strike="noStrike" u="none">
                        <a:solidFill>
                          <a:srgbClr val="ffffff"/>
                        </a:solidFill>
                        <a:uFillTx/>
                        <a:latin typeface="Arial"/>
                      </a:endParaRPr>
                    </a:p>
                  </a:txBody>
                  <a:tcPr anchor="b" marL="28440" marR="28440">
                    <a:lnL w="9360">
                      <a:solidFill>
                        <a:srgbClr val="cccccc"/>
                      </a:solidFill>
                      <a:prstDash val="solid"/>
                    </a:lnL>
                    <a:lnR w="9360">
                      <a:solidFill>
                        <a:srgbClr val="cccccc"/>
                      </a:solidFill>
                      <a:prstDash val="solid"/>
                    </a:lnR>
                    <a:lnT w="9360">
                      <a:solidFill>
                        <a:srgbClr val="cccccc"/>
                      </a:solidFill>
                      <a:prstDash val="solid"/>
                    </a:lnT>
                    <a:lnB w="9360">
                      <a:solidFill>
                        <a:srgbClr val="cccccc"/>
                      </a:solidFill>
                      <a:prstDash val="solid"/>
                    </a:lnB>
                    <a:noFill/>
                  </a:tcPr>
                </a:tc>
              </a:tr>
            </a:tbl>
          </a:graphicData>
        </a:graphic>
      </p:graphicFrame>
      <p:sp>
        <p:nvSpPr>
          <p:cNvPr id="358" name="Google Shape;217;p31"/>
          <p:cNvSpPr/>
          <p:nvPr/>
        </p:nvSpPr>
        <p:spPr>
          <a:xfrm>
            <a:off x="9297000" y="5766480"/>
            <a:ext cx="2730960" cy="9943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070" strike="noStrike" u="none">
                <a:solidFill>
                  <a:schemeClr val="lt2"/>
                </a:solidFill>
                <a:uFillTx/>
                <a:latin typeface="Arial"/>
                <a:ea typeface="Arial"/>
              </a:rPr>
              <a:t>Tests run on an Intel i7-10750H (12) @ 5.000GHz, all under similar workloads</a:t>
            </a:r>
            <a:br>
              <a:rPr sz="1070"/>
            </a:br>
            <a:br>
              <a:rPr sz="1070"/>
            </a:br>
            <a:r>
              <a:rPr b="1" lang="en" sz="1070" strike="noStrike" u="none">
                <a:solidFill>
                  <a:schemeClr val="lt2"/>
                </a:solidFill>
                <a:uFillTx/>
                <a:latin typeface="Arial"/>
                <a:ea typeface="Arial"/>
              </a:rPr>
              <a:t>Input is a 512*512 png image</a:t>
            </a:r>
            <a:br>
              <a:rPr sz="1070"/>
            </a:br>
            <a:r>
              <a:rPr b="1" lang="en" sz="1070" strike="noStrike" u="none">
                <a:solidFill>
                  <a:schemeClr val="lt2"/>
                </a:solidFill>
                <a:uFillTx/>
                <a:latin typeface="Arial"/>
                <a:ea typeface="Arial"/>
              </a:rPr>
              <a:t>ColorSpace_ICC: RGB</a:t>
            </a:r>
            <a:endParaRPr b="0" lang="en-US" sz="1070" strike="noStrike" u="none">
              <a:solidFill>
                <a:srgbClr val="ffffff"/>
              </a:solidFill>
              <a:uFillTx/>
              <a:latin typeface="Arial"/>
            </a:endParaRPr>
          </a:p>
        </p:txBody>
      </p:sp>
      <p:pic>
        <p:nvPicPr>
          <p:cNvPr id="359" name="Google Shape;218;p31" descr=""/>
          <p:cNvPicPr/>
          <p:nvPr/>
        </p:nvPicPr>
        <p:blipFill>
          <a:blip r:embed="rId2"/>
          <a:stretch/>
        </p:blipFill>
        <p:spPr>
          <a:xfrm>
            <a:off x="5712840" y="1905480"/>
            <a:ext cx="6315120" cy="391032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415440" y="2158920"/>
            <a:ext cx="11360520" cy="155124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Potential Issues with the Halide Implementation</a:t>
            </a:r>
            <a:endParaRPr b="0" lang="en-US" sz="4670" strike="noStrike" u="none">
              <a:solidFill>
                <a:srgbClr val="000000"/>
              </a:solidFill>
              <a:uFillTx/>
              <a:latin typeface="Arial"/>
            </a:endParaRPr>
          </a:p>
        </p:txBody>
      </p:sp>
      <p:sp>
        <p:nvSpPr>
          <p:cNvPr id="361"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362"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363"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11, 2024</a:t>
            </a:r>
            <a:endParaRPr b="0" lang="en-US" sz="2660" strike="noStrike" u="none">
              <a:solidFill>
                <a:srgbClr val="ffffff"/>
              </a:solidFill>
              <a:uFillTx/>
              <a:latin typeface="Arial"/>
            </a:endParaRPr>
          </a:p>
        </p:txBody>
      </p:sp>
      <p:pic>
        <p:nvPicPr>
          <p:cNvPr id="364" name="Google Shape;225;p32"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117"/>
        </a:solidFill>
      </p:bgPr>
    </p:bg>
    <p:spTree>
      <p:nvGrpSpPr>
        <p:cNvPr id="1" name=""/>
        <p:cNvGrpSpPr/>
        <p:nvPr/>
      </p:nvGrpSpPr>
      <p:grpSpPr>
        <a:xfrm>
          <a:off x="0" y="0"/>
          <a:ext cx="0" cy="0"/>
          <a:chOff x="0" y="0"/>
          <a:chExt cx="0" cy="0"/>
        </a:xfrm>
      </p:grpSpPr>
      <p:sp>
        <p:nvSpPr>
          <p:cNvPr id="365"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Synopsis</a:t>
            </a:r>
            <a:endParaRPr b="0" lang="en-US" sz="4270" strike="noStrike" u="none">
              <a:solidFill>
                <a:srgbClr val="000000"/>
              </a:solidFill>
              <a:uFillTx/>
              <a:latin typeface="Arial"/>
            </a:endParaRPr>
          </a:p>
        </p:txBody>
      </p:sp>
      <p:sp>
        <p:nvSpPr>
          <p:cNvPr id="366" name="PlaceHolder 2"/>
          <p:cNvSpPr>
            <a:spLocks noGrp="1"/>
          </p:cNvSpPr>
          <p:nvPr>
            <p:ph type="subTitle"/>
          </p:nvPr>
        </p:nvSpPr>
        <p:spPr>
          <a:xfrm>
            <a:off x="415440" y="1897560"/>
            <a:ext cx="10847880" cy="44521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current method evaluates pixels in an irregular range, with irregular loop increments.</a:t>
            </a:r>
            <a:br>
              <a:rPr sz="2000"/>
            </a:br>
            <a:br>
              <a:rPr sz="2000"/>
            </a:br>
            <a:r>
              <a:rPr b="0" lang="en" sz="2000" strike="noStrike" u="none">
                <a:solidFill>
                  <a:schemeClr val="lt2"/>
                </a:solidFill>
                <a:uFillTx/>
                <a:latin typeface="Arial"/>
                <a:ea typeface="Arial"/>
              </a:rPr>
              <a:t>The issue here is that Halide operates on a pretty discrete domain, with regular updates in loop variables. So why is that an issue? Well, Halide operates through </a:t>
            </a:r>
            <a:r>
              <a:rPr b="1" i="1" lang="en" sz="2000" strike="noStrike" u="none">
                <a:solidFill>
                  <a:schemeClr val="lt2"/>
                </a:solidFill>
                <a:uFillTx/>
                <a:latin typeface="Arial"/>
                <a:ea typeface="Arial"/>
              </a:rPr>
              <a:t>all</a:t>
            </a:r>
            <a:r>
              <a:rPr b="0" lang="en" sz="2000" strike="noStrike" u="none">
                <a:solidFill>
                  <a:schemeClr val="lt2"/>
                </a:solidFill>
                <a:uFillTx/>
                <a:latin typeface="Arial"/>
                <a:ea typeface="Arial"/>
              </a:rPr>
              <a:t> the pixels of a particular input buffer via the </a:t>
            </a:r>
            <a:r>
              <a:rPr b="0" lang="en" sz="2000" strike="noStrike" u="none">
                <a:solidFill>
                  <a:schemeClr val="lt2"/>
                </a:solidFill>
                <a:uFillTx/>
                <a:latin typeface="Fira Code Medium"/>
                <a:ea typeface="Fira Code Medium"/>
              </a:rPr>
              <a:t>.realise() </a:t>
            </a:r>
            <a:r>
              <a:rPr b="0" lang="en" sz="2000" strike="noStrike" u="none">
                <a:solidFill>
                  <a:schemeClr val="lt2"/>
                </a:solidFill>
                <a:uFillTx/>
                <a:latin typeface="Arial"/>
                <a:ea typeface="Arial"/>
              </a:rPr>
              <a:t>function, following regular loop variable increments.</a:t>
            </a:r>
            <a:br>
              <a:rPr sz="2000"/>
            </a:br>
            <a:endParaRPr b="0" lang="en-US" sz="2000" strike="noStrike" u="none">
              <a:solidFill>
                <a:srgbClr val="ffffff"/>
              </a:solidFill>
              <a:uFillTx/>
              <a:latin typeface="Arial"/>
            </a:endParaRPr>
          </a:p>
          <a:p>
            <a:pPr indent="0">
              <a:lnSpc>
                <a:spcPct val="100000"/>
              </a:lnSpc>
              <a:buNone/>
              <a:tabLst>
                <a:tab algn="l" pos="0"/>
              </a:tabLst>
            </a:pPr>
            <a:br>
              <a:rPr sz="2000"/>
            </a:br>
            <a:r>
              <a:rPr b="0" lang="en" sz="1400" strike="noStrike" u="none">
                <a:solidFill>
                  <a:srgbClr val="ff7b72"/>
                </a:solidFill>
                <a:highlight>
                  <a:srgbClr val="0d1117"/>
                </a:highlight>
                <a:uFillTx/>
                <a:latin typeface="Courier New"/>
                <a:ea typeface="Courier New"/>
              </a:rPr>
              <a:t>for</a:t>
            </a:r>
            <a:r>
              <a:rPr b="0" lang="en" sz="1400" strike="noStrike" u="none">
                <a:solidFill>
                  <a:srgbClr val="e6edf3"/>
                </a:solidFill>
                <a:highlight>
                  <a:srgbClr val="0d1117"/>
                </a:highlight>
                <a:uFillTx/>
                <a:latin typeface="Courier New"/>
                <a:ea typeface="Courier New"/>
              </a:rPr>
              <a:t> line </a:t>
            </a:r>
            <a:r>
              <a:rPr b="0" lang="en" sz="1400" strike="noStrike" u="none">
                <a:solidFill>
                  <a:srgbClr val="ff7b72"/>
                </a:solidFill>
                <a:highlight>
                  <a:srgbClr val="0d1117"/>
                </a:highlight>
                <a:uFillTx/>
                <a:latin typeface="Courier New"/>
                <a:ea typeface="Courier New"/>
              </a:rPr>
              <a:t>in</a:t>
            </a:r>
            <a:r>
              <a:rPr b="0" lang="en" sz="1400" strike="noStrike" u="none">
                <a:solidFill>
                  <a:srgbClr val="e6edf3"/>
                </a:solidFill>
                <a:highlight>
                  <a:srgbClr val="0d1117"/>
                </a:highlight>
                <a:uFillTx/>
                <a:latin typeface="Courier New"/>
                <a:ea typeface="Courier New"/>
              </a:rPr>
              <a:t> </a:t>
            </a:r>
            <a:r>
              <a:rPr b="0" lang="en" sz="1400" strike="noStrike" u="none">
                <a:solidFill>
                  <a:srgbClr val="ffa657"/>
                </a:solidFill>
                <a:highlight>
                  <a:srgbClr val="0d1117"/>
                </a:highlight>
                <a:uFillTx/>
                <a:latin typeface="Courier New"/>
                <a:ea typeface="Courier New"/>
              </a:rPr>
              <a:t>range</a:t>
            </a:r>
            <a:r>
              <a:rPr b="0" lang="en" sz="1400" strike="noStrike" u="none">
                <a:solidFill>
                  <a:srgbClr val="e6edf3"/>
                </a:solidFill>
                <a:highlight>
                  <a:srgbClr val="0d1117"/>
                </a:highlight>
                <a:uFillTx/>
                <a:latin typeface="Courier New"/>
                <a:ea typeface="Courier New"/>
              </a:rPr>
              <a:t>(max_start_y):</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e6edf3"/>
                </a:solidFill>
                <a:highlight>
                  <a:srgbClr val="0d1117"/>
                </a:highlight>
                <a:uFillTx/>
                <a:latin typeface="Courier New"/>
                <a:ea typeface="Courier New"/>
              </a:rPr>
              <a:t>a, b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a:t>
            </a:r>
            <a:r>
              <a:rPr b="0" lang="en" sz="1400" strike="noStrike" u="none">
                <a:solidFill>
                  <a:srgbClr val="ffa657"/>
                </a:solidFill>
                <a:highlight>
                  <a:srgbClr val="0d1117"/>
                </a:highlight>
                <a:uFillTx/>
                <a:latin typeface="Courier New"/>
                <a:ea typeface="Courier New"/>
              </a:rPr>
              <a:t>int</a:t>
            </a:r>
            <a:r>
              <a:rPr b="0" lang="en" sz="1400" strike="noStrike" u="none">
                <a:solidFill>
                  <a:srgbClr val="e6edf3"/>
                </a:solidFill>
                <a:highlight>
                  <a:srgbClr val="0d1117"/>
                </a:highlight>
                <a:uFillTx/>
                <a:latin typeface="Courier New"/>
                <a:ea typeface="Courier New"/>
              </a:rPr>
              <a:t>(</a:t>
            </a:r>
            <a:r>
              <a:rPr b="0" lang="en" sz="1400" strike="noStrike" u="none">
                <a:solidFill>
                  <a:srgbClr val="ffa657"/>
                </a:solidFill>
                <a:highlight>
                  <a:srgbClr val="0d1117"/>
                </a:highlight>
                <a:uFillTx/>
                <a:latin typeface="Courier New"/>
                <a:ea typeface="Courier New"/>
              </a:rPr>
              <a:t>np</a:t>
            </a:r>
            <a:r>
              <a:rPr b="0" lang="en" sz="1400" strike="noStrike" u="none">
                <a:solidFill>
                  <a:srgbClr val="e6edf3"/>
                </a:solidFill>
                <a:highlight>
                  <a:srgbClr val="0d1117"/>
                </a:highlight>
                <a:uFillTx/>
                <a:latin typeface="Courier New"/>
                <a:ea typeface="Courier New"/>
              </a:rPr>
              <a:t>.ceil(fs(line))), line</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ff7b72"/>
                </a:solidFill>
                <a:highlight>
                  <a:srgbClr val="0d1117"/>
                </a:highlight>
                <a:uFillTx/>
                <a:latin typeface="Courier New"/>
                <a:ea typeface="Courier New"/>
              </a:rPr>
              <a:t>for</a:t>
            </a:r>
            <a:r>
              <a:rPr b="0" lang="en" sz="1400" strike="noStrike" u="none">
                <a:solidFill>
                  <a:srgbClr val="e6edf3"/>
                </a:solidFill>
                <a:highlight>
                  <a:srgbClr val="0d1117"/>
                </a:highlight>
                <a:uFillTx/>
                <a:latin typeface="Courier New"/>
                <a:ea typeface="Courier New"/>
              </a:rPr>
              <a:t> pixel </a:t>
            </a:r>
            <a:r>
              <a:rPr b="0" lang="en" sz="1400" strike="noStrike" u="none">
                <a:solidFill>
                  <a:srgbClr val="ff7b72"/>
                </a:solidFill>
                <a:highlight>
                  <a:srgbClr val="0d1117"/>
                </a:highlight>
                <a:uFillTx/>
                <a:latin typeface="Courier New"/>
                <a:ea typeface="Courier New"/>
              </a:rPr>
              <a:t>in</a:t>
            </a:r>
            <a:r>
              <a:rPr b="0" lang="en" sz="1400" strike="noStrike" u="none">
                <a:solidFill>
                  <a:srgbClr val="e6edf3"/>
                </a:solidFill>
                <a:highlight>
                  <a:srgbClr val="0d1117"/>
                </a:highlight>
                <a:uFillTx/>
                <a:latin typeface="Courier New"/>
                <a:ea typeface="Courier New"/>
              </a:rPr>
              <a:t> </a:t>
            </a:r>
            <a:r>
              <a:rPr b="0" lang="en" sz="1400" strike="noStrike" u="none">
                <a:solidFill>
                  <a:srgbClr val="ffa657"/>
                </a:solidFill>
                <a:highlight>
                  <a:srgbClr val="0d1117"/>
                </a:highlight>
                <a:uFillTx/>
                <a:latin typeface="Courier New"/>
                <a:ea typeface="Courier New"/>
              </a:rPr>
              <a:t>range</a:t>
            </a:r>
            <a:r>
              <a:rPr b="0" lang="en" sz="1400" strike="noStrike" u="none">
                <a:solidFill>
                  <a:srgbClr val="e6edf3"/>
                </a:solidFill>
                <a:highlight>
                  <a:srgbClr val="0d1117"/>
                </a:highlight>
                <a:uFillTx/>
                <a:latin typeface="Courier New"/>
                <a:ea typeface="Courier New"/>
              </a:rPr>
              <a:t>(n):</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8b949e"/>
                </a:solidFill>
                <a:highlight>
                  <a:srgbClr val="0d1117"/>
                </a:highlight>
                <a:uFillTx/>
                <a:latin typeface="Courier New"/>
                <a:ea typeface="Courier New"/>
              </a:rPr>
              <a:t># print(f"{(a + x_offset, b)} maps to {(pixel, line)}, i.e {img[line][pixel]}")</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e6edf3"/>
                </a:solidFill>
                <a:highlight>
                  <a:srgbClr val="0d1117"/>
                </a:highlight>
                <a:uFillTx/>
                <a:latin typeface="Courier New"/>
                <a:ea typeface="Courier New"/>
              </a:rPr>
              <a:t>rot[b, a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x_offset]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img[line, pixel]</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e6edf3"/>
                </a:solidFill>
                <a:highlight>
                  <a:srgbClr val="0d1117"/>
                </a:highlight>
                <a:uFillTx/>
                <a:latin typeface="Courier New"/>
                <a:ea typeface="Courier New"/>
              </a:rPr>
              <a:t>rot[b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a:t>
            </a:r>
            <a:r>
              <a:rPr b="0" lang="en" sz="1400" strike="noStrike" u="none">
                <a:solidFill>
                  <a:srgbClr val="79c0ff"/>
                </a:solidFill>
                <a:highlight>
                  <a:srgbClr val="0d1117"/>
                </a:highlight>
                <a:uFillTx/>
                <a:latin typeface="Courier New"/>
                <a:ea typeface="Courier New"/>
              </a:rPr>
              <a:t>1</a:t>
            </a:r>
            <a:r>
              <a:rPr b="0" lang="en" sz="1400" strike="noStrike" u="none">
                <a:solidFill>
                  <a:srgbClr val="e6edf3"/>
                </a:solidFill>
                <a:highlight>
                  <a:srgbClr val="0d1117"/>
                </a:highlight>
                <a:uFillTx/>
                <a:latin typeface="Courier New"/>
                <a:ea typeface="Courier New"/>
              </a:rPr>
              <a:t>, a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x_offset]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img[line, pixel]</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e6edf3"/>
                </a:solidFill>
                <a:highlight>
                  <a:srgbClr val="0d1117"/>
                </a:highlight>
                <a:uFillTx/>
                <a:latin typeface="Courier New"/>
                <a:ea typeface="Courier New"/>
              </a:rPr>
              <a:t>a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a:t>
            </a:r>
            <a:r>
              <a:rPr b="0" lang="en" sz="1400" strike="noStrike" u="none">
                <a:solidFill>
                  <a:srgbClr val="79c0ff"/>
                </a:solidFill>
                <a:highlight>
                  <a:srgbClr val="0d1117"/>
                </a:highlight>
                <a:uFillTx/>
                <a:latin typeface="Courier New"/>
                <a:ea typeface="Courier New"/>
              </a:rPr>
              <a:t>1</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ff7b72"/>
                </a:solidFill>
                <a:highlight>
                  <a:srgbClr val="0d1117"/>
                </a:highlight>
                <a:uFillTx/>
                <a:latin typeface="Courier New"/>
                <a:ea typeface="Courier New"/>
              </a:rPr>
              <a:t>if</a:t>
            </a:r>
            <a:r>
              <a:rPr b="0" lang="en" sz="1400" strike="noStrike" u="none">
                <a:solidFill>
                  <a:srgbClr val="e6edf3"/>
                </a:solidFill>
                <a:highlight>
                  <a:srgbClr val="0d1117"/>
                </a:highlight>
                <a:uFillTx/>
                <a:latin typeface="Courier New"/>
                <a:ea typeface="Courier New"/>
              </a:rPr>
              <a:t> pixel </a:t>
            </a:r>
            <a:r>
              <a:rPr b="0" lang="en" sz="1400" strike="noStrike" u="none">
                <a:solidFill>
                  <a:srgbClr val="ff7b72"/>
                </a:solidFill>
                <a:highlight>
                  <a:srgbClr val="0d1117"/>
                </a:highlight>
                <a:uFillTx/>
                <a:latin typeface="Courier New"/>
                <a:ea typeface="Courier New"/>
              </a:rPr>
              <a:t>&gt;</a:t>
            </a:r>
            <a:r>
              <a:rPr b="0" lang="en" sz="1400" strike="noStrike" u="none">
                <a:solidFill>
                  <a:srgbClr val="e6edf3"/>
                </a:solidFill>
                <a:highlight>
                  <a:srgbClr val="0d1117"/>
                </a:highlight>
                <a:uFillTx/>
                <a:latin typeface="Courier New"/>
                <a:ea typeface="Courier New"/>
              </a:rPr>
              <a:t> </a:t>
            </a:r>
            <a:r>
              <a:rPr b="0" lang="en" sz="1400" strike="noStrike" u="none">
                <a:solidFill>
                  <a:srgbClr val="79c0ff"/>
                </a:solidFill>
                <a:highlight>
                  <a:srgbClr val="0d1117"/>
                </a:highlight>
                <a:uFillTx/>
                <a:latin typeface="Courier New"/>
                <a:ea typeface="Courier New"/>
              </a:rPr>
              <a:t>0</a:t>
            </a:r>
            <a:r>
              <a:rPr b="0" lang="en" sz="1400" strike="noStrike" u="none">
                <a:solidFill>
                  <a:srgbClr val="e6edf3"/>
                </a:solidFill>
                <a:highlight>
                  <a:srgbClr val="0d1117"/>
                </a:highlight>
                <a:uFillTx/>
                <a:latin typeface="Courier New"/>
                <a:ea typeface="Courier New"/>
              </a:rPr>
              <a:t> </a:t>
            </a:r>
            <a:r>
              <a:rPr b="0" lang="en" sz="1400" strike="noStrike" u="none">
                <a:solidFill>
                  <a:srgbClr val="ff7b72"/>
                </a:solidFill>
                <a:highlight>
                  <a:srgbClr val="0d1117"/>
                </a:highlight>
                <a:uFillTx/>
                <a:latin typeface="Courier New"/>
                <a:ea typeface="Courier New"/>
              </a:rPr>
              <a:t>and</a:t>
            </a:r>
            <a:r>
              <a:rPr b="0" lang="en" sz="1400" strike="noStrike" u="none">
                <a:solidFill>
                  <a:srgbClr val="e6edf3"/>
                </a:solidFill>
                <a:highlight>
                  <a:srgbClr val="0d1117"/>
                </a:highlight>
                <a:uFillTx/>
                <a:latin typeface="Courier New"/>
                <a:ea typeface="Courier New"/>
              </a:rPr>
              <a:t> pixel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mod_factor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a:t>
            </a:r>
            <a:r>
              <a:rPr b="0" lang="en" sz="1400" strike="noStrike" u="none">
                <a:solidFill>
                  <a:srgbClr val="79c0ff"/>
                </a:solidFill>
                <a:highlight>
                  <a:srgbClr val="0d1117"/>
                </a:highlight>
                <a:uFillTx/>
                <a:latin typeface="Courier New"/>
                <a:ea typeface="Courier New"/>
              </a:rPr>
              <a:t>0</a:t>
            </a:r>
            <a:r>
              <a:rPr b="0" lang="en" sz="1400" strike="noStrike" u="none">
                <a:solidFill>
                  <a:srgbClr val="e6edf3"/>
                </a:solidFill>
                <a:highlight>
                  <a:srgbClr val="0d1117"/>
                </a:highlight>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e6edf3"/>
                </a:solidFill>
                <a:highlight>
                  <a:srgbClr val="0d1117"/>
                </a:highlight>
                <a:uFillTx/>
                <a:latin typeface="Courier New"/>
                <a:ea typeface="Courier New"/>
              </a:rPr>
              <a:t>               </a:t>
            </a:r>
            <a:r>
              <a:rPr b="0" lang="en" sz="1400" strike="noStrike" u="none">
                <a:solidFill>
                  <a:srgbClr val="e6edf3"/>
                </a:solidFill>
                <a:highlight>
                  <a:srgbClr val="0d1117"/>
                </a:highlight>
                <a:uFillTx/>
                <a:latin typeface="Courier New"/>
                <a:ea typeface="Courier New"/>
              </a:rPr>
              <a:t>b </a:t>
            </a:r>
            <a:r>
              <a:rPr b="0" lang="en" sz="1400" strike="noStrike" u="none">
                <a:solidFill>
                  <a:srgbClr val="ff7b72"/>
                </a:solidFill>
                <a:highlight>
                  <a:srgbClr val="0d1117"/>
                </a:highlight>
                <a:uFillTx/>
                <a:latin typeface="Courier New"/>
                <a:ea typeface="Courier New"/>
              </a:rPr>
              <a:t>+=</a:t>
            </a:r>
            <a:r>
              <a:rPr b="0" lang="en" sz="1400" strike="noStrike" u="none">
                <a:solidFill>
                  <a:srgbClr val="e6edf3"/>
                </a:solidFill>
                <a:highlight>
                  <a:srgbClr val="0d1117"/>
                </a:highlight>
                <a:uFillTx/>
                <a:latin typeface="Courier New"/>
                <a:ea typeface="Courier New"/>
              </a:rPr>
              <a:t> </a:t>
            </a:r>
            <a:r>
              <a:rPr b="0" lang="en" sz="1400" strike="noStrike" u="none">
                <a:solidFill>
                  <a:srgbClr val="79c0ff"/>
                </a:solidFill>
                <a:highlight>
                  <a:srgbClr val="0d1117"/>
                </a:highlight>
                <a:uFillTx/>
                <a:latin typeface="Courier New"/>
                <a:ea typeface="Courier New"/>
              </a:rPr>
              <a:t>1</a:t>
            </a:r>
            <a:endParaRPr b="0" lang="en-US" sz="14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67" name="Google Shape;233;p33"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415440" y="2803680"/>
            <a:ext cx="11360520" cy="90648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Compiler Intrinsics - Exploiting SIMD</a:t>
            </a:r>
            <a:endParaRPr b="0" lang="en-US" sz="4670" strike="noStrike" u="none">
              <a:solidFill>
                <a:srgbClr val="000000"/>
              </a:solidFill>
              <a:uFillTx/>
              <a:latin typeface="Arial"/>
            </a:endParaRPr>
          </a:p>
        </p:txBody>
      </p:sp>
      <p:sp>
        <p:nvSpPr>
          <p:cNvPr id="369"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370"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371"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14, 2024</a:t>
            </a:r>
            <a:endParaRPr b="0" lang="en-US" sz="2660" strike="noStrike" u="none">
              <a:solidFill>
                <a:srgbClr val="ffffff"/>
              </a:solidFill>
              <a:uFillTx/>
              <a:latin typeface="Arial"/>
            </a:endParaRPr>
          </a:p>
        </p:txBody>
      </p:sp>
      <p:pic>
        <p:nvPicPr>
          <p:cNvPr id="372" name="Google Shape;241;p34"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Compiler Intrinsics</a:t>
            </a:r>
            <a:endParaRPr b="0" lang="en-US" sz="4270" strike="noStrike" u="none">
              <a:solidFill>
                <a:srgbClr val="000000"/>
              </a:solidFill>
              <a:uFillTx/>
              <a:latin typeface="Arial"/>
            </a:endParaRPr>
          </a:p>
        </p:txBody>
      </p:sp>
      <p:sp>
        <p:nvSpPr>
          <p:cNvPr id="374" name="PlaceHolder 2"/>
          <p:cNvSpPr>
            <a:spLocks noGrp="1"/>
          </p:cNvSpPr>
          <p:nvPr>
            <p:ph type="subTitle"/>
          </p:nvPr>
        </p:nvSpPr>
        <p:spPr>
          <a:xfrm>
            <a:off x="415440" y="2061360"/>
            <a:ext cx="8347320" cy="31554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Compiler intrinsics allow us to create low-level, processor-specific code for maximum performance and control.</a:t>
            </a:r>
            <a:br>
              <a:rPr sz="2000"/>
            </a:br>
            <a:br>
              <a:rPr sz="2000"/>
            </a:br>
            <a:r>
              <a:rPr b="0" lang="en" sz="2000" strike="noStrike" u="none">
                <a:solidFill>
                  <a:schemeClr val="lt2"/>
                </a:solidFill>
                <a:uFillTx/>
                <a:latin typeface="Arial"/>
                <a:ea typeface="Arial"/>
              </a:rPr>
              <a:t>Most functions are contained in libraries, but some functions are built in (that is, intrinsic) to the compiler. These are referred to as intrinsic functions or intrinsics. If a function is an intrinsic, the code for that function is usually inserted inline, avoiding the overhead of a function call and allowing highly efficient machine instructions to be emitted for that function.</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75" name="Google Shape;249;p35" descr=""/>
          <p:cNvPicPr/>
          <p:nvPr/>
        </p:nvPicPr>
        <p:blipFill>
          <a:blip r:embed="rId1"/>
          <a:stretch/>
        </p:blipFill>
        <p:spPr>
          <a:xfrm>
            <a:off x="10214640" y="95760"/>
            <a:ext cx="1812960" cy="664560"/>
          </a:xfrm>
          <a:prstGeom prst="rect">
            <a:avLst/>
          </a:prstGeom>
          <a:ln w="0">
            <a:noFill/>
          </a:ln>
        </p:spPr>
      </p:pic>
      <p:sp>
        <p:nvSpPr>
          <p:cNvPr id="376" name="Google Shape;251;p35"/>
          <p:cNvSpPr/>
          <p:nvPr/>
        </p:nvSpPr>
        <p:spPr>
          <a:xfrm>
            <a:off x="415440" y="5612760"/>
            <a:ext cx="3850560" cy="3859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r>
              <a:rPr b="0" lang="en" sz="1340" strike="noStrike" u="sng">
                <a:solidFill>
                  <a:schemeClr val="hlink"/>
                </a:solidFill>
                <a:uFillTx/>
                <a:latin typeface="Arial"/>
                <a:ea typeface="Arial"/>
                <a:hlinkClick r:id="rId2"/>
              </a:rPr>
              <a:t>https://learn.microsoft.com/en-us/cpp/intrinsics/compiler-intrinsics?view=msvc-170</a:t>
            </a:r>
            <a:endParaRPr b="0" lang="en-US" sz="134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Arm Neon</a:t>
            </a:r>
            <a:endParaRPr b="0" lang="en-US" sz="4270" strike="noStrike" u="none">
              <a:solidFill>
                <a:srgbClr val="000000"/>
              </a:solidFill>
              <a:uFillTx/>
              <a:latin typeface="Arial"/>
            </a:endParaRPr>
          </a:p>
        </p:txBody>
      </p:sp>
      <p:sp>
        <p:nvSpPr>
          <p:cNvPr id="378" name="PlaceHolder 2"/>
          <p:cNvSpPr>
            <a:spLocks noGrp="1"/>
          </p:cNvSpPr>
          <p:nvPr>
            <p:ph type="subTitle"/>
          </p:nvPr>
        </p:nvSpPr>
        <p:spPr>
          <a:xfrm>
            <a:off x="415440" y="2061360"/>
            <a:ext cx="7506720" cy="31554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The Arm Neon technology, also referred to as the Advanced SIMD (Single Instruction Multiple Data) architecture extension for implementation of the </a:t>
            </a:r>
            <a:r>
              <a:rPr b="0" lang="en" sz="2000" strike="noStrike" u="none">
                <a:solidFill>
                  <a:schemeClr val="accent1"/>
                </a:solidFill>
                <a:uFillTx/>
                <a:latin typeface="Arial"/>
                <a:ea typeface="Arial"/>
              </a:rPr>
              <a:t>Armv8-A or Armv8-R architecture profiles.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Neon technology provides a dedicated extension to the Instruction Set Architecture, providing additional instructions that can perform mathematical operations in parallel on multiple data streams.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p:txBody>
      </p:sp>
      <p:pic>
        <p:nvPicPr>
          <p:cNvPr id="379" name="Google Shape;257;p36" descr=""/>
          <p:cNvPicPr/>
          <p:nvPr/>
        </p:nvPicPr>
        <p:blipFill>
          <a:blip r:embed="rId1"/>
          <a:stretch/>
        </p:blipFill>
        <p:spPr>
          <a:xfrm>
            <a:off x="10214640" y="95760"/>
            <a:ext cx="1812960" cy="664560"/>
          </a:xfrm>
          <a:prstGeom prst="rect">
            <a:avLst/>
          </a:prstGeom>
          <a:ln w="0">
            <a:noFill/>
          </a:ln>
        </p:spPr>
      </p:pic>
      <p:sp>
        <p:nvSpPr>
          <p:cNvPr id="380" name="Google Shape;259;p36"/>
          <p:cNvSpPr/>
          <p:nvPr/>
        </p:nvSpPr>
        <p:spPr>
          <a:xfrm>
            <a:off x="415440" y="5612760"/>
            <a:ext cx="3850560" cy="3859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r>
              <a:rPr b="0" lang="en" sz="1340" strike="noStrike" u="sng">
                <a:solidFill>
                  <a:schemeClr val="hlink"/>
                </a:solidFill>
                <a:uFillTx/>
                <a:latin typeface="Arial"/>
                <a:ea typeface="Arial"/>
                <a:hlinkClick r:id="rId2"/>
              </a:rPr>
              <a:t>https://developer.arm.com/documentation/102474/0100/Overview?lang=en</a:t>
            </a:r>
            <a:endParaRPr b="0" lang="en-US" sz="1340" strike="noStrike" u="none">
              <a:solidFill>
                <a:srgbClr val="ffffff"/>
              </a:solidFill>
              <a:uFillTx/>
              <a:latin typeface="Arial"/>
            </a:endParaRPr>
          </a:p>
        </p:txBody>
      </p:sp>
      <p:pic>
        <p:nvPicPr>
          <p:cNvPr id="381" name="Google Shape;260;p36" descr=""/>
          <p:cNvPicPr/>
          <p:nvPr/>
        </p:nvPicPr>
        <p:blipFill>
          <a:blip r:embed="rId3"/>
          <a:stretch/>
        </p:blipFill>
        <p:spPr>
          <a:xfrm>
            <a:off x="7873920" y="1702800"/>
            <a:ext cx="3997440" cy="3872520"/>
          </a:xfrm>
          <a:prstGeom prst="rect">
            <a:avLst/>
          </a:prstGeom>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Catch?</a:t>
            </a:r>
            <a:endParaRPr b="0" lang="en-US" sz="4270" strike="noStrike" u="none">
              <a:solidFill>
                <a:srgbClr val="000000"/>
              </a:solidFill>
              <a:uFillTx/>
              <a:latin typeface="Arial"/>
            </a:endParaRPr>
          </a:p>
        </p:txBody>
      </p:sp>
      <p:sp>
        <p:nvSpPr>
          <p:cNvPr id="383" name="PlaceHolder 2"/>
          <p:cNvSpPr>
            <a:spLocks noGrp="1"/>
          </p:cNvSpPr>
          <p:nvPr>
            <p:ph type="subTitle"/>
          </p:nvPr>
        </p:nvSpPr>
        <p:spPr>
          <a:xfrm>
            <a:off x="415440" y="2061360"/>
            <a:ext cx="10809000" cy="43081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NEON intrinsics are specific to ARM architecture, and they are not directly supported on x86 architecture - which, coincidentally, happens to be most of our developer machines.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1" lang="en" sz="2260" strike="noStrike" u="none">
                <a:solidFill>
                  <a:schemeClr val="accent1"/>
                </a:solidFill>
                <a:uFillTx/>
                <a:latin typeface="Arial"/>
                <a:ea typeface="Arial"/>
              </a:rPr>
              <a:t>What can be done?</a:t>
            </a:r>
            <a:endParaRPr b="0" lang="en-US" sz="226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Well, for starters, we could cross compile all the dependencies we have, for aarch64, and them compile them to an aarch64 binary and emulate that using a hypervisor like QEMU…</a:t>
            </a: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Or, we could emulate an entire arm device (such as a raspberry-pi 4b), install the binaries and dependencies out there, bring them back to our host machine and then run our program.</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However, all these approaches lead to either having broken dependency cycles, or linking issues.</a:t>
            </a:r>
            <a:endParaRPr b="0" lang="en-US" sz="2000" strike="noStrike" u="none">
              <a:solidFill>
                <a:srgbClr val="ffffff"/>
              </a:solidFill>
              <a:uFillTx/>
              <a:latin typeface="Arial"/>
            </a:endParaRPr>
          </a:p>
        </p:txBody>
      </p:sp>
      <p:pic>
        <p:nvPicPr>
          <p:cNvPr id="384" name="Google Shape;266;p37"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Workaround</a:t>
            </a:r>
            <a:endParaRPr b="0" lang="en-US" sz="4270" strike="noStrike" u="none">
              <a:solidFill>
                <a:srgbClr val="000000"/>
              </a:solidFill>
              <a:uFillTx/>
              <a:latin typeface="Arial"/>
            </a:endParaRPr>
          </a:p>
        </p:txBody>
      </p:sp>
      <p:sp>
        <p:nvSpPr>
          <p:cNvPr id="386" name="PlaceHolder 2"/>
          <p:cNvSpPr>
            <a:spLocks noGrp="1"/>
          </p:cNvSpPr>
          <p:nvPr>
            <p:ph type="subTitle"/>
          </p:nvPr>
        </p:nvSpPr>
        <p:spPr>
          <a:xfrm>
            <a:off x="415440" y="2061360"/>
            <a:ext cx="9050400" cy="315540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We can use the </a:t>
            </a:r>
            <a:r>
              <a:rPr b="0" lang="en" sz="2000" strike="noStrike" u="none">
                <a:solidFill>
                  <a:schemeClr val="accent1"/>
                </a:solidFill>
                <a:uFillTx/>
                <a:latin typeface="Arial"/>
                <a:ea typeface="Arial"/>
              </a:rPr>
              <a:t>MMX</a:t>
            </a:r>
            <a:r>
              <a:rPr b="0" lang="en" sz="2000" strike="noStrike" u="none">
                <a:solidFill>
                  <a:schemeClr val="lt2"/>
                </a:solidFill>
                <a:uFillTx/>
                <a:latin typeface="Arial"/>
                <a:ea typeface="Arial"/>
              </a:rPr>
              <a:t> and </a:t>
            </a:r>
            <a:r>
              <a:rPr b="0" lang="en" sz="2000" strike="noStrike" u="none">
                <a:solidFill>
                  <a:schemeClr val="accent1"/>
                </a:solidFill>
                <a:uFillTx/>
                <a:latin typeface="Arial"/>
                <a:ea typeface="Arial"/>
              </a:rPr>
              <a:t>SSE</a:t>
            </a:r>
            <a:r>
              <a:rPr b="0" lang="en" sz="2000" strike="noStrike" u="none">
                <a:solidFill>
                  <a:schemeClr val="lt2"/>
                </a:solidFill>
                <a:uFillTx/>
                <a:latin typeface="Arial"/>
                <a:ea typeface="Arial"/>
              </a:rPr>
              <a:t> </a:t>
            </a:r>
            <a:r>
              <a:rPr b="0" lang="en" sz="2000" strike="noStrike" u="none">
                <a:solidFill>
                  <a:schemeClr val="accent1"/>
                </a:solidFill>
                <a:uFillTx/>
                <a:latin typeface="Arial"/>
                <a:ea typeface="Arial"/>
              </a:rPr>
              <a:t>intrinsics</a:t>
            </a:r>
            <a:r>
              <a:rPr b="0" lang="en" sz="2000" strike="noStrike" u="none">
                <a:solidFill>
                  <a:schemeClr val="lt2"/>
                </a:solidFill>
                <a:uFillTx/>
                <a:latin typeface="Arial"/>
                <a:ea typeface="Arial"/>
              </a:rPr>
              <a:t> which are available for </a:t>
            </a:r>
            <a:r>
              <a:rPr b="0" lang="en" sz="2000" strike="noStrike" u="none">
                <a:solidFill>
                  <a:schemeClr val="accent1"/>
                </a:solidFill>
                <a:uFillTx/>
                <a:latin typeface="Arial"/>
                <a:ea typeface="Arial"/>
              </a:rPr>
              <a:t>x86 architecture</a:t>
            </a:r>
            <a:r>
              <a:rPr b="0" lang="en" sz="2000" strike="noStrike" u="none">
                <a:solidFill>
                  <a:schemeClr val="lt2"/>
                </a:solidFill>
                <a:uFillTx/>
                <a:latin typeface="Arial"/>
                <a:ea typeface="Arial"/>
              </a:rPr>
              <a:t> and provide similar SIMD capabilities.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These can be included in our usual cpp code via the </a:t>
            </a:r>
            <a:r>
              <a:rPr b="0" lang="en" sz="2000" strike="noStrike" u="none">
                <a:solidFill>
                  <a:schemeClr val="accent1"/>
                </a:solidFill>
                <a:uFillTx/>
                <a:latin typeface="Fira Code"/>
                <a:ea typeface="Fira Code"/>
              </a:rPr>
              <a:t>&lt;intrin.h&gt;</a:t>
            </a:r>
            <a:r>
              <a:rPr b="0" lang="en" sz="2000" strike="noStrike" u="none">
                <a:solidFill>
                  <a:schemeClr val="lt2"/>
                </a:solidFill>
                <a:uFillTx/>
                <a:latin typeface="Arial"/>
                <a:ea typeface="Arial"/>
              </a:rPr>
              <a:t> header, or </a:t>
            </a:r>
            <a:r>
              <a:rPr b="0" lang="en" sz="2000" strike="noStrike" u="none">
                <a:solidFill>
                  <a:schemeClr val="accent1"/>
                </a:solidFill>
                <a:uFillTx/>
                <a:latin typeface="Fira Code"/>
                <a:ea typeface="Fira Code"/>
              </a:rPr>
              <a:t>&lt;xmmintrin.h&gt;</a:t>
            </a:r>
            <a:r>
              <a:rPr b="0" lang="en" sz="2000" strike="noStrike" u="none">
                <a:solidFill>
                  <a:schemeClr val="lt2"/>
                </a:solidFill>
                <a:uFillTx/>
                <a:latin typeface="Fira Code"/>
                <a:ea typeface="Fira Code"/>
              </a:rPr>
              <a:t> </a:t>
            </a:r>
            <a:r>
              <a:rPr b="0" lang="en" sz="2000" strike="noStrike" u="none">
                <a:solidFill>
                  <a:schemeClr val="lt2"/>
                </a:solidFill>
                <a:uFillTx/>
                <a:latin typeface="Arial"/>
                <a:ea typeface="Arial"/>
              </a:rPr>
              <a:t>for extra functionalities.</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Once again, intrinsics are compiler and CPU specific, so no final results would turn out to be the same, however, we can expect to see a similar performance profile across the board.</a:t>
            </a:r>
            <a:endParaRPr b="0" lang="en-US" sz="2000" strike="noStrike" u="none">
              <a:solidFill>
                <a:srgbClr val="ffffff"/>
              </a:solidFill>
              <a:uFillTx/>
              <a:latin typeface="Arial"/>
            </a:endParaRPr>
          </a:p>
        </p:txBody>
      </p:sp>
      <p:pic>
        <p:nvPicPr>
          <p:cNvPr id="387" name="Google Shape;273;p38" descr=""/>
          <p:cNvPicPr/>
          <p:nvPr/>
        </p:nvPicPr>
        <p:blipFill>
          <a:blip r:embed="rId1"/>
          <a:stretch/>
        </p:blipFill>
        <p:spPr>
          <a:xfrm>
            <a:off x="10214640" y="95760"/>
            <a:ext cx="1812960" cy="664560"/>
          </a:xfrm>
          <a:prstGeom prst="rect">
            <a:avLst/>
          </a:prstGeom>
          <a:ln w="0">
            <a:noFill/>
          </a:ln>
        </p:spPr>
      </p:pic>
      <p:sp>
        <p:nvSpPr>
          <p:cNvPr id="388" name="Google Shape;275;p38"/>
          <p:cNvSpPr/>
          <p:nvPr/>
        </p:nvSpPr>
        <p:spPr>
          <a:xfrm>
            <a:off x="415440" y="5265720"/>
            <a:ext cx="3850560" cy="7927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Ref:</a:t>
            </a:r>
            <a:r>
              <a:rPr b="0" lang="en" sz="1340" strike="noStrike" u="none">
                <a:solidFill>
                  <a:schemeClr val="lt2"/>
                </a:solidFill>
                <a:uFillTx/>
                <a:latin typeface="Arial"/>
                <a:ea typeface="Arial"/>
              </a:rPr>
              <a:t> </a:t>
            </a:r>
            <a:endParaRPr b="0" lang="en-US" sz="1340" strike="noStrike" u="none">
              <a:solidFill>
                <a:srgbClr val="ffffff"/>
              </a:solidFill>
              <a:uFillTx/>
              <a:latin typeface="Arial"/>
            </a:endParaRPr>
          </a:p>
          <a:p>
            <a:pPr marL="343080" indent="-291960">
              <a:lnSpc>
                <a:spcPct val="100000"/>
              </a:lnSpc>
              <a:buClr>
                <a:srgbClr val="adadad"/>
              </a:buClr>
              <a:buFont typeface="Arial"/>
              <a:buChar char="➔"/>
              <a:tabLst>
                <a:tab algn="l" pos="0"/>
              </a:tabLst>
            </a:pPr>
            <a:r>
              <a:rPr b="0" lang="en" sz="1340" strike="noStrike" u="sng">
                <a:solidFill>
                  <a:schemeClr val="hlink"/>
                </a:solidFill>
                <a:uFillTx/>
                <a:latin typeface="Arial"/>
                <a:ea typeface="Arial"/>
                <a:hlinkClick r:id="rId2"/>
              </a:rPr>
              <a:t>https://www.intel.com/content/www/us/en/docs/cpp-compiler/developer-guide-reference/2021-10/overview.html</a:t>
            </a:r>
            <a:endParaRPr b="0" lang="en-US" sz="1340" strike="noStrike" u="none">
              <a:solidFill>
                <a:srgbClr val="ffffff"/>
              </a:solidFill>
              <a:uFillTx/>
              <a:latin typeface="Arial"/>
            </a:endParaRPr>
          </a:p>
          <a:p>
            <a:pPr marL="343080" indent="-291960">
              <a:lnSpc>
                <a:spcPct val="100000"/>
              </a:lnSpc>
              <a:buClr>
                <a:srgbClr val="adadad"/>
              </a:buClr>
              <a:buFont typeface="Arial"/>
              <a:buChar char="➔"/>
              <a:tabLst>
                <a:tab algn="l" pos="0"/>
              </a:tabLst>
            </a:pPr>
            <a:r>
              <a:rPr b="0" lang="en" sz="1340" strike="noStrike" u="sng">
                <a:solidFill>
                  <a:schemeClr val="hlink"/>
                </a:solidFill>
                <a:uFillTx/>
                <a:latin typeface="Arial"/>
                <a:ea typeface="Arial"/>
                <a:hlinkClick r:id="rId3"/>
              </a:rPr>
              <a:t>https://www.intel.com/content/www/us/en/docs/intrinsics-guide/index.html</a:t>
            </a:r>
            <a:endParaRPr b="0" lang="en-US" sz="134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Implementation</a:t>
            </a:r>
            <a:endParaRPr b="0" lang="en-US" sz="4270" strike="noStrike" u="none">
              <a:solidFill>
                <a:srgbClr val="000000"/>
              </a:solidFill>
              <a:uFillTx/>
              <a:latin typeface="Arial"/>
            </a:endParaRPr>
          </a:p>
        </p:txBody>
      </p:sp>
      <p:sp>
        <p:nvSpPr>
          <p:cNvPr id="390" name="PlaceHolder 2"/>
          <p:cNvSpPr>
            <a:spLocks noGrp="1"/>
          </p:cNvSpPr>
          <p:nvPr>
            <p:ph type="subTitle"/>
          </p:nvPr>
        </p:nvSpPr>
        <p:spPr>
          <a:xfrm>
            <a:off x="415440" y="1753560"/>
            <a:ext cx="10623240" cy="3028320"/>
          </a:xfrm>
          <a:prstGeom prst="rect">
            <a:avLst/>
          </a:prstGeom>
          <a:noFill/>
          <a:ln w="0">
            <a:noFill/>
          </a:ln>
        </p:spPr>
        <p:txBody>
          <a:bodyPr lIns="91440" rIns="91440" tIns="91440" bIns="91440" anchor="t">
            <a:noAutofit/>
          </a:bodyPr>
          <a:p>
            <a:pPr indent="0">
              <a:lnSpc>
                <a:spcPct val="100000"/>
              </a:lnSpc>
              <a:buNone/>
              <a:tabLst>
                <a:tab algn="l" pos="0"/>
              </a:tabLst>
            </a:pP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pixel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pixel </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 n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pixel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12</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6e738d"/>
                </a:solidFill>
                <a:uFillTx/>
                <a:latin typeface="Courier New"/>
                <a:ea typeface="Courier New"/>
              </a:rPr>
              <a:t> // Process 4 pixels (12 bytes) at a time</a:t>
            </a:r>
            <a:endParaRPr b="0" lang="en-US" sz="1400" strike="noStrike" u="none">
              <a:solidFill>
                <a:srgbClr val="ffffff"/>
              </a:solidFill>
              <a:uFillTx/>
              <a:latin typeface="Arial"/>
            </a:endParaRPr>
          </a:p>
          <a:p>
            <a:pPr indent="0">
              <a:lnSpc>
                <a:spcPct val="100000"/>
              </a:lnSpc>
              <a:buNone/>
              <a:tabLst>
                <a:tab algn="l" pos="0"/>
              </a:tabLst>
            </a:pPr>
            <a:r>
              <a:rPr b="0" i="1" lang="en" sz="1400" strike="noStrike" u="none">
                <a:solidFill>
                  <a:srgbClr val="6e738d"/>
                </a:solidFill>
                <a:uFillTx/>
                <a:latin typeface="Courier New"/>
                <a:ea typeface="Courier New"/>
              </a:rPr>
              <a:t>   </a:t>
            </a:r>
            <a:r>
              <a:rPr b="0" i="1" lang="en" sz="1400" strike="noStrike" u="none">
                <a:solidFill>
                  <a:srgbClr val="6e738d"/>
                </a:solidFill>
                <a:uFillTx/>
                <a:latin typeface="Courier New"/>
                <a:ea typeface="Courier New"/>
              </a:rPr>
              <a:t>// Load 4 pixels at a time using SSE</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__m128i pixels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_mm_loadu_si128</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reinterpret_cast&lt;</a:t>
            </a:r>
            <a:r>
              <a:rPr b="0" lang="en" sz="1400" strike="noStrike" u="none">
                <a:solidFill>
                  <a:srgbClr val="c6a0f6"/>
                </a:solidFill>
                <a:uFillTx/>
                <a:latin typeface="Courier New"/>
                <a:ea typeface="Courier New"/>
              </a:rPr>
              <a:t>const</a:t>
            </a:r>
            <a:r>
              <a:rPr b="0" lang="en" sz="1400" strike="noStrike" u="none">
                <a:solidFill>
                  <a:srgbClr val="cad3f5"/>
                </a:solidFill>
                <a:uFillTx/>
                <a:latin typeface="Courier New"/>
                <a:ea typeface="Courier New"/>
              </a:rPr>
              <a:t> __m128i </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&amp;</a:t>
            </a:r>
            <a:r>
              <a:rPr b="0" lang="en" sz="1400" strike="noStrike" u="none">
                <a:solidFill>
                  <a:srgbClr val="cad3f5"/>
                </a:solidFill>
                <a:uFillTx/>
                <a:latin typeface="Courier New"/>
                <a:ea typeface="Courier New"/>
              </a:rPr>
              <a:t>src_ptr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pixel</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i="1" lang="en" sz="1400" strike="noStrike" u="none">
                <a:solidFill>
                  <a:srgbClr val="6e738d"/>
                </a:solidFill>
                <a:uFillTx/>
                <a:latin typeface="Courier New"/>
                <a:ea typeface="Courier New"/>
              </a:rPr>
              <a:t>   </a:t>
            </a:r>
            <a:r>
              <a:rPr b="0" i="1" lang="en" sz="1400" strike="noStrike" u="none">
                <a:solidFill>
                  <a:srgbClr val="6e738d"/>
                </a:solidFill>
                <a:uFillTx/>
                <a:latin typeface="Courier New"/>
                <a:ea typeface="Courier New"/>
              </a:rPr>
              <a:t>// Store these pixels in the destination image</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_mm_storeu_si128</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reinterpret_cast&lt;</a:t>
            </a:r>
            <a:r>
              <a:rPr b="0" lang="en" sz="1400" strike="noStrike" u="none">
                <a:solidFill>
                  <a:srgbClr val="cad3f5"/>
                </a:solidFill>
                <a:uFillTx/>
                <a:latin typeface="Courier New"/>
                <a:ea typeface="Courier New"/>
              </a:rPr>
              <a:t>__m128i </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&amp;</a:t>
            </a:r>
            <a:r>
              <a:rPr b="0" lang="en" sz="1400" strike="noStrike" u="none">
                <a:solidFill>
                  <a:srgbClr val="cad3f5"/>
                </a:solidFill>
                <a:uFillTx/>
                <a:latin typeface="Courier New"/>
                <a:ea typeface="Courier New"/>
              </a:rPr>
              <a:t>dst_ptr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a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x_offset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pixels</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_mm_storeu_si128</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reinterpret_cast&lt;</a:t>
            </a:r>
            <a:r>
              <a:rPr b="0" lang="en" sz="1400" strike="noStrike" u="none">
                <a:solidFill>
                  <a:srgbClr val="cad3f5"/>
                </a:solidFill>
                <a:uFillTx/>
                <a:latin typeface="Courier New"/>
                <a:ea typeface="Courier New"/>
              </a:rPr>
              <a:t>__m128i </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8bd5ca"/>
                </a:solidFill>
                <a:uFillTx/>
                <a:latin typeface="Courier New"/>
                <a:ea typeface="Courier New"/>
              </a:rPr>
              <a:t>&amp;</a:t>
            </a:r>
            <a:r>
              <a:rPr b="0" lang="en" sz="1400" strike="noStrike" u="none">
                <a:solidFill>
                  <a:srgbClr val="cad3f5"/>
                </a:solidFill>
                <a:uFillTx/>
                <a:latin typeface="Courier New"/>
                <a:ea typeface="Courier New"/>
              </a:rPr>
              <a:t>dst_ptr_next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a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x_offset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pixels</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a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4</a:t>
            </a:r>
            <a:r>
              <a:rPr b="0" lang="en" sz="1400" strike="noStrike" u="none">
                <a:solidFill>
                  <a:srgbClr val="939ab7"/>
                </a:solidFill>
                <a:uFillTx/>
                <a:latin typeface="Courier New"/>
                <a:ea typeface="Courier New"/>
              </a:rPr>
              <a:t>;</a:t>
            </a:r>
            <a:r>
              <a:rPr b="0" i="1" lang="en" sz="1400" strike="noStrike" u="none">
                <a:solidFill>
                  <a:srgbClr val="6e738d"/>
                </a:solidFill>
                <a:uFillTx/>
                <a:latin typeface="Courier New"/>
                <a:ea typeface="Courier New"/>
              </a:rPr>
              <a:t> // Since we process 4 pixels at a time</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if</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pixel </a:t>
            </a:r>
            <a:r>
              <a:rPr b="0" lang="en" sz="1400" strike="noStrike" u="none">
                <a:solidFill>
                  <a:srgbClr val="8bd5ca"/>
                </a:solidFill>
                <a:uFillTx/>
                <a:latin typeface="Courier New"/>
                <a:ea typeface="Courier New"/>
              </a:rPr>
              <a:t>&gt;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&amp;&amp;</a:t>
            </a:r>
            <a:r>
              <a:rPr b="0" lang="en" sz="1400" strike="noStrike" u="none">
                <a:solidFill>
                  <a:srgbClr val="cad3f5"/>
                </a:solidFill>
                <a:uFillTx/>
                <a:latin typeface="Courier New"/>
                <a:ea typeface="Courier New"/>
              </a:rPr>
              <a:t> pixel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mod_factor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b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dst_ptr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rot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ptr</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uchar</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b</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dst_ptr_next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rot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ptr</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uchar</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b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IN" sz="1400" strike="noStrike" u="none">
                <a:solidFill>
                  <a:srgbClr val="cad3f5"/>
                </a:solidFill>
                <a:uFillTx/>
                <a:latin typeface="Courier New"/>
                <a:ea typeface="Courier New"/>
              </a:rPr>
              <a:t>   </a:t>
            </a:r>
            <a:r>
              <a:rPr b="0" lang="en-I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p:txBody>
      </p:sp>
      <p:sp>
        <p:nvSpPr>
          <p:cNvPr id="391" name="PlaceHolder 3"/>
          <p:cNvSpPr>
            <a:spLocks noGrp="1"/>
          </p:cNvSpPr>
          <p:nvPr>
            <p:ph type="subTitle"/>
          </p:nvPr>
        </p:nvSpPr>
        <p:spPr>
          <a:xfrm>
            <a:off x="363960" y="4901400"/>
            <a:ext cx="10726200" cy="1265040"/>
          </a:xfrm>
          <a:prstGeom prst="rect">
            <a:avLst/>
          </a:prstGeom>
          <a:noFill/>
          <a:ln w="0">
            <a:noFill/>
          </a:ln>
        </p:spPr>
        <p:txBody>
          <a:bodyPr lIns="91440" rIns="91440" tIns="91440" bIns="91440" anchor="t">
            <a:noAutofit/>
          </a:bodyPr>
          <a:p>
            <a:pPr indent="0">
              <a:lnSpc>
                <a:spcPct val="100000"/>
              </a:lnSpc>
              <a:buNone/>
              <a:tabLst>
                <a:tab algn="l" pos="0"/>
              </a:tabLst>
            </a:pPr>
            <a:r>
              <a:rPr b="0" lang="en" sz="1729" strike="noStrike" u="none">
                <a:solidFill>
                  <a:schemeClr val="lt2"/>
                </a:solidFill>
                <a:uFillTx/>
                <a:latin typeface="Arial"/>
                <a:ea typeface="Arial"/>
              </a:rPr>
              <a:t>The above code snippet shows how previously implemented algorithms, (in this case, the </a:t>
            </a:r>
            <a:r>
              <a:rPr b="0" lang="en" sz="1729" strike="noStrike" u="none">
                <a:solidFill>
                  <a:schemeClr val="accent1"/>
                </a:solidFill>
                <a:uFillTx/>
                <a:latin typeface="Arial"/>
                <a:ea typeface="Arial"/>
              </a:rPr>
              <a:t>DLR</a:t>
            </a:r>
            <a:r>
              <a:rPr b="0" lang="en" sz="1729" strike="noStrike" u="none">
                <a:solidFill>
                  <a:schemeClr val="lt2"/>
                </a:solidFill>
                <a:uFillTx/>
                <a:latin typeface="Arial"/>
                <a:ea typeface="Arial"/>
              </a:rPr>
              <a:t>) can be optimized with compiler intrinsics. </a:t>
            </a:r>
            <a:r>
              <a:rPr b="0" lang="en" sz="1729" strike="noStrike" u="none">
                <a:solidFill>
                  <a:srgbClr val="ff7b72"/>
                </a:solidFill>
                <a:uFillTx/>
                <a:latin typeface="Arial"/>
                <a:ea typeface="Arial"/>
              </a:rPr>
              <a:t>This code isn’t fully benchmarked and tested yet</a:t>
            </a:r>
            <a:r>
              <a:rPr b="0" lang="en" sz="1729" strike="noStrike" u="none">
                <a:solidFill>
                  <a:schemeClr val="lt2"/>
                </a:solidFill>
                <a:uFillTx/>
                <a:latin typeface="Arial"/>
                <a:ea typeface="Arial"/>
              </a:rPr>
              <a:t>, however, this method does bring in a promising compromise between code stability and predictability, and overall speed and optimization.</a:t>
            </a:r>
            <a:endParaRPr b="0" lang="en-US" sz="1729" strike="noStrike" u="none">
              <a:solidFill>
                <a:srgbClr val="ffffff"/>
              </a:solidFill>
              <a:uFillTx/>
              <a:latin typeface="Arial"/>
            </a:endParaRPr>
          </a:p>
        </p:txBody>
      </p:sp>
      <p:pic>
        <p:nvPicPr>
          <p:cNvPr id="392" name="Google Shape;281;p39"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415440" y="2803680"/>
            <a:ext cx="11360520" cy="90648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Getting Arm NEON to work on x86</a:t>
            </a:r>
            <a:endParaRPr b="0" lang="en-US" sz="4670" strike="noStrike" u="none">
              <a:solidFill>
                <a:srgbClr val="000000"/>
              </a:solidFill>
              <a:uFillTx/>
              <a:latin typeface="Arial"/>
            </a:endParaRPr>
          </a:p>
        </p:txBody>
      </p:sp>
      <p:sp>
        <p:nvSpPr>
          <p:cNvPr id="394"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395"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396"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18, 2024</a:t>
            </a:r>
            <a:endParaRPr b="0" lang="en-US" sz="2660" strike="noStrike" u="none">
              <a:solidFill>
                <a:srgbClr val="ffffff"/>
              </a:solidFill>
              <a:uFillTx/>
              <a:latin typeface="Arial"/>
            </a:endParaRPr>
          </a:p>
        </p:txBody>
      </p:sp>
      <p:pic>
        <p:nvPicPr>
          <p:cNvPr id="397" name="Google Shape;291;p40"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Cross compilation</a:t>
            </a:r>
            <a:endParaRPr b="0" lang="en-US" sz="4270" strike="noStrike" u="none">
              <a:solidFill>
                <a:srgbClr val="000000"/>
              </a:solidFill>
              <a:uFillTx/>
              <a:latin typeface="Arial"/>
            </a:endParaRPr>
          </a:p>
        </p:txBody>
      </p:sp>
      <p:sp>
        <p:nvSpPr>
          <p:cNvPr id="399" name="PlaceHolder 2"/>
          <p:cNvSpPr>
            <a:spLocks noGrp="1"/>
          </p:cNvSpPr>
          <p:nvPr>
            <p:ph type="subTitle"/>
          </p:nvPr>
        </p:nvSpPr>
        <p:spPr>
          <a:xfrm>
            <a:off x="415440" y="2061360"/>
            <a:ext cx="8347320" cy="4219920"/>
          </a:xfrm>
          <a:prstGeom prst="rect">
            <a:avLst/>
          </a:prstGeom>
          <a:noFill/>
          <a:ln w="0">
            <a:noFill/>
          </a:ln>
        </p:spPr>
        <p:txBody>
          <a:bodyPr lIns="91440" rIns="91440" tIns="91440" bIns="91440" anchor="t">
            <a:noAutofit/>
          </a:bodyPr>
          <a:p>
            <a:pPr indent="0">
              <a:lnSpc>
                <a:spcPct val="100000"/>
              </a:lnSpc>
              <a:buNone/>
              <a:tabLst>
                <a:tab algn="l" pos="0"/>
              </a:tabLst>
            </a:pPr>
            <a:r>
              <a:rPr b="0" lang="en" sz="2000" strike="noStrike" u="none">
                <a:solidFill>
                  <a:schemeClr val="lt2"/>
                </a:solidFill>
                <a:uFillTx/>
                <a:latin typeface="Arial"/>
                <a:ea typeface="Arial"/>
              </a:rPr>
              <a:t>With the help of cross compilation tools, and forcing static linking, we can get aarch64 features to work on x86 (albeit with emulation).</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This results in slightly larger binaries, since all the dependencies are cramped into one single file, but that completely removes all previous errors related with linking, etc.</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1" lang="en" sz="2000" strike="noStrike" u="none">
                <a:solidFill>
                  <a:schemeClr val="lt2"/>
                </a:solidFill>
                <a:uFillTx/>
                <a:latin typeface="Arial"/>
                <a:ea typeface="Arial"/>
              </a:rPr>
              <a:t>Performance details</a:t>
            </a:r>
            <a:r>
              <a:rPr b="1" lang="en" sz="2000" strike="noStrike" u="none" baseline="30000">
                <a:solidFill>
                  <a:schemeClr val="lt2"/>
                </a:solidFill>
                <a:uFillTx/>
                <a:latin typeface="Arial"/>
                <a:ea typeface="Arial"/>
              </a:rPr>
              <a:t>*</a:t>
            </a:r>
            <a:endParaRPr b="0" lang="en-US" sz="2000" strike="noStrike" u="none">
              <a:solidFill>
                <a:srgbClr val="ffffff"/>
              </a:solidFill>
              <a:uFillTx/>
              <a:latin typeface="Arial"/>
            </a:endParaRPr>
          </a:p>
          <a:p>
            <a:pPr indent="0">
              <a:lnSpc>
                <a:spcPct val="100000"/>
              </a:lnSpc>
              <a:buNone/>
              <a:tabLst>
                <a:tab algn="l" pos="0"/>
              </a:tabLst>
            </a:pP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Benchmark (default, built-in OpenCV rotation function): 0.08 s</a:t>
            </a: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DLR implementation: 0.08 s</a:t>
            </a:r>
            <a:endParaRPr b="0" lang="en-US" sz="2000" strike="noStrike" u="none">
              <a:solidFill>
                <a:srgbClr val="ffffff"/>
              </a:solidFill>
              <a:uFillTx/>
              <a:latin typeface="Arial"/>
            </a:endParaRPr>
          </a:p>
          <a:p>
            <a:pPr indent="0">
              <a:lnSpc>
                <a:spcPct val="100000"/>
              </a:lnSpc>
              <a:buNone/>
              <a:tabLst>
                <a:tab algn="l" pos="0"/>
              </a:tabLst>
            </a:pPr>
            <a:r>
              <a:rPr b="0" lang="en" sz="2000" strike="noStrike" u="none">
                <a:solidFill>
                  <a:schemeClr val="lt2"/>
                </a:solidFill>
                <a:uFillTx/>
                <a:latin typeface="Arial"/>
                <a:ea typeface="Arial"/>
              </a:rPr>
              <a:t>DLR implementation with Neon intrinsics: </a:t>
            </a:r>
            <a:r>
              <a:rPr b="0" lang="en" sz="2000" strike="noStrike" u="none">
                <a:solidFill>
                  <a:schemeClr val="accent1"/>
                </a:solidFill>
                <a:uFillTx/>
                <a:latin typeface="Arial"/>
                <a:ea typeface="Arial"/>
              </a:rPr>
              <a:t>0.074 s</a:t>
            </a:r>
            <a:br>
              <a:rPr sz="2000"/>
            </a:br>
            <a:endParaRPr b="0" lang="en-US" sz="2000" strike="noStrike" u="none">
              <a:solidFill>
                <a:srgbClr val="ffffff"/>
              </a:solidFill>
              <a:uFillTx/>
              <a:latin typeface="Arial"/>
            </a:endParaRPr>
          </a:p>
        </p:txBody>
      </p:sp>
      <p:pic>
        <p:nvPicPr>
          <p:cNvPr id="400" name="Google Shape;299;p41" descr=""/>
          <p:cNvPicPr/>
          <p:nvPr/>
        </p:nvPicPr>
        <p:blipFill>
          <a:blip r:embed="rId1"/>
          <a:stretch/>
        </p:blipFill>
        <p:spPr>
          <a:xfrm>
            <a:off x="10214640" y="95760"/>
            <a:ext cx="1812960" cy="664560"/>
          </a:xfrm>
          <a:prstGeom prst="rect">
            <a:avLst/>
          </a:prstGeom>
          <a:ln w="0">
            <a:noFill/>
          </a:ln>
        </p:spPr>
      </p:pic>
      <p:sp>
        <p:nvSpPr>
          <p:cNvPr id="401" name="Google Shape;301;p41"/>
          <p:cNvSpPr/>
          <p:nvPr/>
        </p:nvSpPr>
        <p:spPr>
          <a:xfrm>
            <a:off x="8177400" y="5373000"/>
            <a:ext cx="3850560" cy="996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 sz="1340" strike="noStrike" u="none">
                <a:solidFill>
                  <a:schemeClr val="lt2"/>
                </a:solidFill>
                <a:uFillTx/>
                <a:latin typeface="Arial"/>
                <a:ea typeface="Arial"/>
              </a:rPr>
              <a:t>* </a:t>
            </a:r>
            <a:r>
              <a:rPr b="1" lang="en" sz="1340" strike="noStrike" u="none">
                <a:solidFill>
                  <a:srgbClr val="f5a97f"/>
                </a:solidFill>
                <a:uFillTx/>
                <a:latin typeface="Arial"/>
                <a:ea typeface="Arial"/>
              </a:rPr>
              <a:t>Highly experimental and subject to change</a:t>
            </a:r>
            <a:br>
              <a:rPr sz="1340"/>
            </a:br>
            <a:br>
              <a:rPr sz="1340"/>
            </a:br>
            <a:r>
              <a:rPr b="1" lang="en" sz="1340" strike="noStrike" u="none">
                <a:solidFill>
                  <a:schemeClr val="lt2"/>
                </a:solidFill>
                <a:uFillTx/>
                <a:latin typeface="Arial"/>
                <a:ea typeface="Arial"/>
              </a:rPr>
              <a:t>All tests were performed on a 192*81, PNG grayscale image under similar workloads.</a:t>
            </a:r>
            <a:endParaRPr b="0" lang="en-US" sz="134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415440" y="2803680"/>
            <a:ext cx="11360520" cy="90648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Continuing DLR… [Zone 2]</a:t>
            </a:r>
            <a:endParaRPr b="0" lang="en-US" sz="4670" strike="noStrike" u="none">
              <a:solidFill>
                <a:srgbClr val="000000"/>
              </a:solidFill>
              <a:uFillTx/>
              <a:latin typeface="Arial"/>
            </a:endParaRPr>
          </a:p>
        </p:txBody>
      </p:sp>
      <p:sp>
        <p:nvSpPr>
          <p:cNvPr id="403"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404"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405"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21, 2024</a:t>
            </a:r>
            <a:endParaRPr b="0" lang="en-US" sz="2660" strike="noStrike" u="none">
              <a:solidFill>
                <a:srgbClr val="ffffff"/>
              </a:solidFill>
              <a:uFillTx/>
              <a:latin typeface="Arial"/>
            </a:endParaRPr>
          </a:p>
        </p:txBody>
      </p:sp>
      <p:pic>
        <p:nvPicPr>
          <p:cNvPr id="406" name="Google Shape;308;p42"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415440" y="8604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The approach</a:t>
            </a:r>
            <a:endParaRPr b="0" lang="en-US" sz="4270" strike="noStrike" u="none">
              <a:solidFill>
                <a:srgbClr val="000000"/>
              </a:solidFill>
              <a:uFillTx/>
              <a:latin typeface="Arial"/>
            </a:endParaRPr>
          </a:p>
        </p:txBody>
      </p:sp>
      <p:sp>
        <p:nvSpPr>
          <p:cNvPr id="408" name="PlaceHolder 2"/>
          <p:cNvSpPr>
            <a:spLocks noGrp="1"/>
          </p:cNvSpPr>
          <p:nvPr>
            <p:ph type="subTitle"/>
          </p:nvPr>
        </p:nvSpPr>
        <p:spPr>
          <a:xfrm>
            <a:off x="415440" y="1842480"/>
            <a:ext cx="6832800" cy="476388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Similar to how it was done for zone 1, we first calculate the new dimensions of the m * n image, mrt * nrt according to the diagram shown alongside.</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In this zone, the vertical lines are mapped instead of the horizontal ones.</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Since this time, we know all the x coordinates, all starting points of the lines are given by:</a:t>
            </a:r>
            <a:br>
              <a:rPr sz="1870"/>
            </a:br>
            <a:r>
              <a:rPr b="0" lang="en" sz="1870" strike="noStrike" u="none">
                <a:solidFill>
                  <a:schemeClr val="lt2"/>
                </a:solidFill>
                <a:uFillTx/>
                <a:latin typeface="Arial"/>
                <a:ea typeface="Arial"/>
              </a:rPr>
              <a:t> </a:t>
            </a:r>
            <a:br>
              <a:rPr sz="1870"/>
            </a:br>
            <a:r>
              <a:rPr b="0" lang="en" sz="1870" strike="noStrike" u="none">
                <a:solidFill>
                  <a:schemeClr val="accent1"/>
                </a:solidFill>
                <a:uFillTx/>
                <a:latin typeface="Arial"/>
                <a:ea typeface="Arial"/>
              </a:rPr>
              <a:t>(</a:t>
            </a:r>
            <a:r>
              <a:rPr b="0" i="1" lang="en" sz="1870" strike="noStrike" u="none">
                <a:solidFill>
                  <a:schemeClr val="accent1"/>
                </a:solidFill>
                <a:uFillTx/>
                <a:latin typeface="Arial"/>
                <a:ea typeface="Arial"/>
              </a:rPr>
              <a:t>x, f</a:t>
            </a:r>
            <a:r>
              <a:rPr b="0" i="1" lang="en" sz="1868" strike="noStrike" u="none" baseline="-25000">
                <a:solidFill>
                  <a:schemeClr val="accent1"/>
                </a:solidFill>
                <a:uFillTx/>
                <a:latin typeface="Arial"/>
                <a:ea typeface="Arial"/>
              </a:rPr>
              <a:t>s</a:t>
            </a:r>
            <a:r>
              <a:rPr b="0" i="1" lang="en" sz="1870" strike="noStrike" u="none">
                <a:solidFill>
                  <a:schemeClr val="accent1"/>
                </a:solidFill>
                <a:uFillTx/>
                <a:latin typeface="Arial"/>
                <a:ea typeface="Arial"/>
              </a:rPr>
              <a:t>(x)), where:</a:t>
            </a:r>
            <a:br>
              <a:rPr sz="1870"/>
            </a:br>
            <a:r>
              <a:rPr b="0" i="1" lang="en" sz="1870" strike="noStrike" u="none">
                <a:solidFill>
                  <a:schemeClr val="accent1"/>
                </a:solidFill>
                <a:uFillTx/>
                <a:latin typeface="Arial"/>
                <a:ea typeface="Arial"/>
              </a:rPr>
              <a:t>f</a:t>
            </a:r>
            <a:r>
              <a:rPr b="0" i="1" lang="en" sz="1868" strike="noStrike" u="none" baseline="-25000">
                <a:solidFill>
                  <a:schemeClr val="accent1"/>
                </a:solidFill>
                <a:uFillTx/>
                <a:latin typeface="Arial"/>
                <a:ea typeface="Arial"/>
              </a:rPr>
              <a:t>s</a:t>
            </a:r>
            <a:r>
              <a:rPr b="0" i="1" lang="en" sz="1870" strike="noStrike" u="none">
                <a:solidFill>
                  <a:schemeClr val="accent1"/>
                </a:solidFill>
                <a:uFillTx/>
                <a:latin typeface="Arial"/>
                <a:ea typeface="Arial"/>
              </a:rPr>
              <a:t>(x) = tan(ɑ)x</a:t>
            </a:r>
            <a:br>
              <a:rPr sz="1870"/>
            </a:br>
            <a:br>
              <a:rPr sz="1870"/>
            </a:br>
            <a:r>
              <a:rPr b="0" lang="en" sz="1870" strike="noStrike" u="none">
                <a:solidFill>
                  <a:schemeClr val="lt2"/>
                </a:solidFill>
                <a:uFillTx/>
                <a:latin typeface="Arial"/>
                <a:ea typeface="Arial"/>
              </a:rPr>
              <a:t>Then, it is a matter of mapping all (0 to m vertical px) over  a span of m*cos(ɑ) in the x-axis and a span of m*sin(ɑ) in the y-axis.</a:t>
            </a:r>
            <a:endParaRPr b="0" lang="en-US" sz="1870" strike="noStrike" u="none">
              <a:solidFill>
                <a:srgbClr val="ffffff"/>
              </a:solidFill>
              <a:uFillTx/>
              <a:latin typeface="Arial"/>
            </a:endParaRPr>
          </a:p>
        </p:txBody>
      </p:sp>
      <p:pic>
        <p:nvPicPr>
          <p:cNvPr id="409" name="Google Shape;316;p43" descr=""/>
          <p:cNvPicPr/>
          <p:nvPr/>
        </p:nvPicPr>
        <p:blipFill>
          <a:blip r:embed="rId1"/>
          <a:stretch/>
        </p:blipFill>
        <p:spPr>
          <a:xfrm>
            <a:off x="10214640" y="95760"/>
            <a:ext cx="1812960" cy="664560"/>
          </a:xfrm>
          <a:prstGeom prst="rect">
            <a:avLst/>
          </a:prstGeom>
          <a:ln w="0">
            <a:noFill/>
          </a:ln>
        </p:spPr>
      </p:pic>
      <p:pic>
        <p:nvPicPr>
          <p:cNvPr id="410" name="Google Shape;318;p43" descr=""/>
          <p:cNvPicPr/>
          <p:nvPr/>
        </p:nvPicPr>
        <p:blipFill>
          <a:blip r:embed="rId2"/>
          <a:srcRect l="0" t="42752" r="0" b="9245"/>
          <a:stretch/>
        </p:blipFill>
        <p:spPr>
          <a:xfrm>
            <a:off x="7598160" y="1963440"/>
            <a:ext cx="4317480" cy="2930760"/>
          </a:xfrm>
          <a:prstGeom prst="rect">
            <a:avLst/>
          </a:prstGeom>
          <a:ln w="0">
            <a:noFill/>
          </a:ln>
        </p:spPr>
      </p:pic>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415440" y="2803680"/>
            <a:ext cx="11360520" cy="90648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Benchmarks and Initial Results</a:t>
            </a:r>
            <a:endParaRPr b="0" lang="en-US" sz="4670" strike="noStrike" u="none">
              <a:solidFill>
                <a:srgbClr val="000000"/>
              </a:solidFill>
              <a:uFillTx/>
              <a:latin typeface="Arial"/>
            </a:endParaRPr>
          </a:p>
        </p:txBody>
      </p:sp>
      <p:sp>
        <p:nvSpPr>
          <p:cNvPr id="412"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413"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414"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25, 2024</a:t>
            </a:r>
            <a:endParaRPr b="0" lang="en-US" sz="2660" strike="noStrike" u="none">
              <a:solidFill>
                <a:srgbClr val="ffffff"/>
              </a:solidFill>
              <a:uFillTx/>
              <a:latin typeface="Arial"/>
            </a:endParaRPr>
          </a:p>
        </p:txBody>
      </p:sp>
      <p:pic>
        <p:nvPicPr>
          <p:cNvPr id="415" name="Google Shape;325;p44"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Results</a:t>
            </a:r>
            <a:endParaRPr b="0" lang="en-US" sz="4270" strike="noStrike" u="none">
              <a:solidFill>
                <a:srgbClr val="000000"/>
              </a:solidFill>
              <a:uFillTx/>
              <a:latin typeface="Arial"/>
            </a:endParaRPr>
          </a:p>
        </p:txBody>
      </p:sp>
      <p:sp>
        <p:nvSpPr>
          <p:cNvPr id="417" name="PlaceHolder 2"/>
          <p:cNvSpPr>
            <a:spLocks noGrp="1"/>
          </p:cNvSpPr>
          <p:nvPr>
            <p:ph type="subTitle"/>
          </p:nvPr>
        </p:nvSpPr>
        <p:spPr>
          <a:xfrm>
            <a:off x="415440" y="1982160"/>
            <a:ext cx="8880120" cy="362880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Before proceeding further, it is a good idea to see if we are even doing any good. As such, a series of tests were run against varying image sizes, and </a:t>
            </a:r>
            <a:r>
              <a:rPr b="1" lang="en" sz="1870" strike="noStrike" u="none">
                <a:solidFill>
                  <a:schemeClr val="lt2"/>
                </a:solidFill>
                <a:uFillTx/>
                <a:latin typeface="Arial"/>
                <a:ea typeface="Arial"/>
              </a:rPr>
              <a:t>a trend was observed</a:t>
            </a:r>
            <a:r>
              <a:rPr b="0" lang="en" sz="1870" strike="noStrike" u="none">
                <a:solidFill>
                  <a:schemeClr val="lt2"/>
                </a:solidFill>
                <a:uFillTx/>
                <a:latin typeface="Arial"/>
                <a:ea typeface="Arial"/>
              </a:rPr>
              <a:t> - </a:t>
            </a:r>
            <a:r>
              <a:rPr b="0" i="1" lang="en" sz="1870" strike="noStrike" u="none">
                <a:solidFill>
                  <a:schemeClr val="accent1"/>
                </a:solidFill>
                <a:uFillTx/>
                <a:latin typeface="Arial"/>
                <a:ea typeface="Arial"/>
              </a:rPr>
              <a:t>images whose resolutions exceeded 1080p were processed much faster by the benchmark OpenCV built-in functions than the DLR approach.</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The same was not true for smaller images, however. </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The following slides will showcase a line chart of the benchmarking results. The </a:t>
            </a:r>
            <a:r>
              <a:rPr b="1" i="1" lang="en" sz="1870" strike="noStrike" u="none">
                <a:solidFill>
                  <a:schemeClr val="accent1"/>
                </a:solidFill>
                <a:uFillTx/>
                <a:latin typeface="Arial"/>
                <a:ea typeface="Arial"/>
              </a:rPr>
              <a:t>x-axis</a:t>
            </a:r>
            <a:r>
              <a:rPr b="0" lang="en" sz="1870" strike="noStrike" u="none">
                <a:solidFill>
                  <a:schemeClr val="accent1"/>
                </a:solidFill>
                <a:uFillTx/>
                <a:latin typeface="Arial"/>
                <a:ea typeface="Arial"/>
              </a:rPr>
              <a:t> represents the nth trial which a specific program was run,</a:t>
            </a:r>
            <a:r>
              <a:rPr b="0" lang="en" sz="1870" strike="noStrike" u="none">
                <a:solidFill>
                  <a:schemeClr val="lt2"/>
                </a:solidFill>
                <a:uFillTx/>
                <a:latin typeface="Arial"/>
                <a:ea typeface="Arial"/>
              </a:rPr>
              <a:t> and the </a:t>
            </a:r>
            <a:r>
              <a:rPr b="1" i="1" lang="en" sz="1870" strike="noStrike" u="none">
                <a:solidFill>
                  <a:schemeClr val="accent1"/>
                </a:solidFill>
                <a:uFillTx/>
                <a:latin typeface="Arial"/>
                <a:ea typeface="Arial"/>
              </a:rPr>
              <a:t>y-axis </a:t>
            </a:r>
            <a:r>
              <a:rPr b="0" lang="en" sz="1870" strike="noStrike" u="none">
                <a:solidFill>
                  <a:schemeClr val="accent1"/>
                </a:solidFill>
                <a:uFillTx/>
                <a:latin typeface="Arial"/>
                <a:ea typeface="Arial"/>
              </a:rPr>
              <a:t>represents the time taken by said program in seconds.</a:t>
            </a:r>
            <a:endParaRPr b="0" lang="en-US" sz="1870" strike="noStrike" u="none">
              <a:solidFill>
                <a:srgbClr val="ffffff"/>
              </a:solidFill>
              <a:uFillTx/>
              <a:latin typeface="Arial"/>
            </a:endParaRPr>
          </a:p>
        </p:txBody>
      </p:sp>
      <p:pic>
        <p:nvPicPr>
          <p:cNvPr id="418" name="Google Shape;333;p45"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286920" y="625680"/>
            <a:ext cx="7654680" cy="66456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Results</a:t>
            </a:r>
            <a:endParaRPr b="0" lang="en-US" sz="4270" strike="noStrike" u="none">
              <a:solidFill>
                <a:srgbClr val="000000"/>
              </a:solidFill>
              <a:uFillTx/>
              <a:latin typeface="Arial"/>
            </a:endParaRPr>
          </a:p>
        </p:txBody>
      </p:sp>
      <p:sp>
        <p:nvSpPr>
          <p:cNvPr id="420" name="PlaceHolder 2"/>
          <p:cNvSpPr>
            <a:spLocks noGrp="1"/>
          </p:cNvSpPr>
          <p:nvPr>
            <p:ph type="subTitle"/>
          </p:nvPr>
        </p:nvSpPr>
        <p:spPr>
          <a:xfrm>
            <a:off x="8886600" y="2949840"/>
            <a:ext cx="2986560" cy="263268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This is the overall graph of all of the tests. The </a:t>
            </a:r>
            <a:r>
              <a:rPr b="1" i="1" lang="en" sz="1870" strike="noStrike" u="none">
                <a:solidFill>
                  <a:schemeClr val="accent1"/>
                </a:solidFill>
                <a:uFillTx/>
                <a:latin typeface="Arial"/>
                <a:ea typeface="Arial"/>
              </a:rPr>
              <a:t>x-axis</a:t>
            </a:r>
            <a:r>
              <a:rPr b="0" lang="en" sz="1870" strike="noStrike" u="none">
                <a:solidFill>
                  <a:schemeClr val="accent1"/>
                </a:solidFill>
                <a:uFillTx/>
                <a:latin typeface="Arial"/>
                <a:ea typeface="Arial"/>
              </a:rPr>
              <a:t> represents the nth trial which a specific program was run,</a:t>
            </a:r>
            <a:r>
              <a:rPr b="0" lang="en" sz="1870" strike="noStrike" u="none">
                <a:solidFill>
                  <a:schemeClr val="lt2"/>
                </a:solidFill>
                <a:uFillTx/>
                <a:latin typeface="Arial"/>
                <a:ea typeface="Arial"/>
              </a:rPr>
              <a:t> and the </a:t>
            </a:r>
            <a:r>
              <a:rPr b="1" i="1" lang="en" sz="1870" strike="noStrike" u="none">
                <a:solidFill>
                  <a:schemeClr val="accent1"/>
                </a:solidFill>
                <a:uFillTx/>
                <a:latin typeface="Arial"/>
                <a:ea typeface="Arial"/>
              </a:rPr>
              <a:t>y-axis </a:t>
            </a:r>
            <a:r>
              <a:rPr b="0" lang="en" sz="1870" strike="noStrike" u="none">
                <a:solidFill>
                  <a:schemeClr val="accent1"/>
                </a:solidFill>
                <a:uFillTx/>
                <a:latin typeface="Arial"/>
                <a:ea typeface="Arial"/>
              </a:rPr>
              <a:t>represents the time taken by said program in seconds.</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p:txBody>
      </p:sp>
      <p:pic>
        <p:nvPicPr>
          <p:cNvPr id="421" name="Google Shape;340;p46" descr=""/>
          <p:cNvPicPr/>
          <p:nvPr/>
        </p:nvPicPr>
        <p:blipFill>
          <a:blip r:embed="rId1"/>
          <a:stretch/>
        </p:blipFill>
        <p:spPr>
          <a:xfrm>
            <a:off x="10214640" y="95760"/>
            <a:ext cx="1812960" cy="664560"/>
          </a:xfrm>
          <a:prstGeom prst="rect">
            <a:avLst/>
          </a:prstGeom>
          <a:ln w="0">
            <a:noFill/>
          </a:ln>
        </p:spPr>
      </p:pic>
      <p:pic>
        <p:nvPicPr>
          <p:cNvPr id="422" name="Google Shape;342;p46" descr=""/>
          <p:cNvPicPr/>
          <p:nvPr/>
        </p:nvPicPr>
        <p:blipFill>
          <a:blip r:embed="rId2"/>
          <a:srcRect l="5474" t="0" r="5474" b="0"/>
          <a:stretch/>
        </p:blipFill>
        <p:spPr>
          <a:xfrm>
            <a:off x="286920" y="1523160"/>
            <a:ext cx="8365320" cy="476064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286920" y="625680"/>
            <a:ext cx="7654680" cy="66456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Results</a:t>
            </a:r>
            <a:endParaRPr b="0" lang="en-US" sz="4270" strike="noStrike" u="none">
              <a:solidFill>
                <a:srgbClr val="000000"/>
              </a:solidFill>
              <a:uFillTx/>
              <a:latin typeface="Arial"/>
            </a:endParaRPr>
          </a:p>
        </p:txBody>
      </p:sp>
      <p:sp>
        <p:nvSpPr>
          <p:cNvPr id="424" name="PlaceHolder 2"/>
          <p:cNvSpPr>
            <a:spLocks noGrp="1"/>
          </p:cNvSpPr>
          <p:nvPr>
            <p:ph type="subTitle"/>
          </p:nvPr>
        </p:nvSpPr>
        <p:spPr>
          <a:xfrm>
            <a:off x="8886600" y="2949840"/>
            <a:ext cx="2986560" cy="157212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Zooming in, we can better see when the DLR algorithm starts to fall off…</a:t>
            </a:r>
            <a:endParaRPr b="0" lang="en-US" sz="1870" strike="noStrike" u="none">
              <a:solidFill>
                <a:srgbClr val="ffffff"/>
              </a:solidFill>
              <a:uFillTx/>
              <a:latin typeface="Arial"/>
            </a:endParaRPr>
          </a:p>
        </p:txBody>
      </p:sp>
      <p:pic>
        <p:nvPicPr>
          <p:cNvPr id="425" name="Google Shape;348;p47" descr=""/>
          <p:cNvPicPr/>
          <p:nvPr/>
        </p:nvPicPr>
        <p:blipFill>
          <a:blip r:embed="rId1"/>
          <a:stretch/>
        </p:blipFill>
        <p:spPr>
          <a:xfrm>
            <a:off x="10214640" y="95760"/>
            <a:ext cx="1812960" cy="664560"/>
          </a:xfrm>
          <a:prstGeom prst="rect">
            <a:avLst/>
          </a:prstGeom>
          <a:ln w="0">
            <a:noFill/>
          </a:ln>
        </p:spPr>
      </p:pic>
      <p:pic>
        <p:nvPicPr>
          <p:cNvPr id="426" name="Google Shape;350;p47" descr=""/>
          <p:cNvPicPr/>
          <p:nvPr/>
        </p:nvPicPr>
        <p:blipFill>
          <a:blip r:embed="rId2"/>
          <a:stretch/>
        </p:blipFill>
        <p:spPr>
          <a:xfrm>
            <a:off x="203040" y="1493640"/>
            <a:ext cx="8479800" cy="485208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Analysis</a:t>
            </a:r>
            <a:endParaRPr b="0" lang="en-US" sz="4270" strike="noStrike" u="none">
              <a:solidFill>
                <a:srgbClr val="000000"/>
              </a:solidFill>
              <a:uFillTx/>
              <a:latin typeface="Arial"/>
            </a:endParaRPr>
          </a:p>
        </p:txBody>
      </p:sp>
      <p:sp>
        <p:nvSpPr>
          <p:cNvPr id="428" name="PlaceHolder 2"/>
          <p:cNvSpPr>
            <a:spLocks noGrp="1"/>
          </p:cNvSpPr>
          <p:nvPr>
            <p:ph type="subTitle"/>
          </p:nvPr>
        </p:nvSpPr>
        <p:spPr>
          <a:xfrm>
            <a:off x="415440" y="2000520"/>
            <a:ext cx="8880120" cy="362880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Since for a lot of the tests, the DLR method did seem to perform extremely well, it is worth taking a moment to analyse why it starts to fall behind in larger images.</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Turns out, the </a:t>
            </a:r>
            <a:r>
              <a:rPr b="0" lang="en" sz="1870" strike="noStrike" u="none">
                <a:solidFill>
                  <a:schemeClr val="accent1"/>
                </a:solidFill>
                <a:uFillTx/>
                <a:latin typeface="Arial"/>
                <a:ea typeface="Arial"/>
              </a:rPr>
              <a:t>built-in OpenCV implementation</a:t>
            </a:r>
            <a:r>
              <a:rPr b="0" lang="en" sz="1870" strike="noStrike" u="none">
                <a:solidFill>
                  <a:schemeClr val="lt2"/>
                </a:solidFill>
                <a:uFillTx/>
                <a:latin typeface="Arial"/>
                <a:ea typeface="Arial"/>
              </a:rPr>
              <a:t> for image rotation (the one we are using as our benchmark) </a:t>
            </a:r>
            <a:r>
              <a:rPr b="0" lang="en" sz="1870" strike="noStrike" u="none">
                <a:solidFill>
                  <a:schemeClr val="accent1"/>
                </a:solidFill>
                <a:uFillTx/>
                <a:latin typeface="Arial"/>
                <a:ea typeface="Arial"/>
              </a:rPr>
              <a:t>uses multithreading under the hood</a:t>
            </a:r>
            <a:r>
              <a:rPr b="0" lang="en" sz="1870" strike="noStrike" u="none">
                <a:solidFill>
                  <a:schemeClr val="lt2"/>
                </a:solidFill>
                <a:uFillTx/>
                <a:latin typeface="Arial"/>
                <a:ea typeface="Arial"/>
              </a:rPr>
              <a:t>, which explains how it manages to perform consistently well.</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This is verified by checking the CPU usage and also tracking the number of subprocess each method spawns in its entire lifespan (confirming the use of multithreading).</a:t>
            </a:r>
            <a:endParaRPr b="0" lang="en-US" sz="1870" strike="noStrike" u="none">
              <a:solidFill>
                <a:srgbClr val="ffffff"/>
              </a:solidFill>
              <a:uFillTx/>
              <a:latin typeface="Arial"/>
            </a:endParaRPr>
          </a:p>
        </p:txBody>
      </p:sp>
      <p:pic>
        <p:nvPicPr>
          <p:cNvPr id="429" name="Google Shape;356;p48"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Analysis</a:t>
            </a:r>
            <a:endParaRPr b="0" lang="en-US" sz="4270" strike="noStrike" u="none">
              <a:solidFill>
                <a:srgbClr val="000000"/>
              </a:solidFill>
              <a:uFillTx/>
              <a:latin typeface="Arial"/>
            </a:endParaRPr>
          </a:p>
        </p:txBody>
      </p:sp>
      <p:sp>
        <p:nvSpPr>
          <p:cNvPr id="431" name="PlaceHolder 2"/>
          <p:cNvSpPr>
            <a:spLocks noGrp="1"/>
          </p:cNvSpPr>
          <p:nvPr>
            <p:ph type="subTitle"/>
          </p:nvPr>
        </p:nvSpPr>
        <p:spPr>
          <a:xfrm>
            <a:off x="7742160" y="2689200"/>
            <a:ext cx="4093920" cy="231696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Monitoring the resource usage here, we can see that for a 720p image, the </a:t>
            </a:r>
            <a:r>
              <a:rPr b="1" lang="en" sz="1870" strike="noStrike" u="none">
                <a:solidFill>
                  <a:schemeClr val="lt2"/>
                </a:solidFill>
                <a:uFillTx/>
                <a:latin typeface="Arial"/>
                <a:ea typeface="Arial"/>
              </a:rPr>
              <a:t>DLR algorithm</a:t>
            </a:r>
            <a:r>
              <a:rPr b="0" lang="en" sz="1870" strike="noStrike" u="none">
                <a:solidFill>
                  <a:schemeClr val="lt2"/>
                </a:solidFill>
                <a:uFillTx/>
                <a:latin typeface="Arial"/>
                <a:ea typeface="Arial"/>
              </a:rPr>
              <a:t> </a:t>
            </a:r>
            <a:r>
              <a:rPr b="0" lang="en" sz="1870" strike="noStrike" u="none">
                <a:solidFill>
                  <a:schemeClr val="accent1"/>
                </a:solidFill>
                <a:uFillTx/>
                <a:latin typeface="Arial"/>
                <a:ea typeface="Arial"/>
              </a:rPr>
              <a:t>spawns a single process </a:t>
            </a:r>
            <a:r>
              <a:rPr b="0" lang="en" sz="1870" strike="noStrike" u="none">
                <a:solidFill>
                  <a:schemeClr val="lt2"/>
                </a:solidFill>
                <a:uFillTx/>
                <a:latin typeface="Arial"/>
                <a:ea typeface="Arial"/>
              </a:rPr>
              <a:t>(it’s not using multithreading), and is not particularly heavy on the CPU</a:t>
            </a:r>
            <a:endParaRPr b="0" lang="en-US" sz="1870" strike="noStrike" u="none">
              <a:solidFill>
                <a:srgbClr val="ffffff"/>
              </a:solidFill>
              <a:uFillTx/>
              <a:latin typeface="Arial"/>
            </a:endParaRPr>
          </a:p>
        </p:txBody>
      </p:sp>
      <p:pic>
        <p:nvPicPr>
          <p:cNvPr id="432" name="Google Shape;363;p49" descr=""/>
          <p:cNvPicPr/>
          <p:nvPr/>
        </p:nvPicPr>
        <p:blipFill>
          <a:blip r:embed="rId1"/>
          <a:stretch/>
        </p:blipFill>
        <p:spPr>
          <a:xfrm>
            <a:off x="10214640" y="95760"/>
            <a:ext cx="1812960" cy="664560"/>
          </a:xfrm>
          <a:prstGeom prst="rect">
            <a:avLst/>
          </a:prstGeom>
          <a:ln w="0">
            <a:noFill/>
          </a:ln>
        </p:spPr>
      </p:pic>
      <p:pic>
        <p:nvPicPr>
          <p:cNvPr id="433" name="Google Shape;365;p49" descr=""/>
          <p:cNvPicPr/>
          <p:nvPr/>
        </p:nvPicPr>
        <p:blipFill>
          <a:blip r:embed="rId2"/>
          <a:stretch/>
        </p:blipFill>
        <p:spPr>
          <a:xfrm>
            <a:off x="415440" y="2142000"/>
            <a:ext cx="7009560" cy="3411360"/>
          </a:xfrm>
          <a:prstGeom prst="rect">
            <a:avLst/>
          </a:prstGeom>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Analysis</a:t>
            </a:r>
            <a:endParaRPr b="0" lang="en-US" sz="4270" strike="noStrike" u="none">
              <a:solidFill>
                <a:srgbClr val="000000"/>
              </a:solidFill>
              <a:uFillTx/>
              <a:latin typeface="Arial"/>
            </a:endParaRPr>
          </a:p>
        </p:txBody>
      </p:sp>
      <p:sp>
        <p:nvSpPr>
          <p:cNvPr id="435" name="PlaceHolder 2"/>
          <p:cNvSpPr>
            <a:spLocks noGrp="1"/>
          </p:cNvSpPr>
          <p:nvPr>
            <p:ph type="subTitle"/>
          </p:nvPr>
        </p:nvSpPr>
        <p:spPr>
          <a:xfrm>
            <a:off x="7723440" y="2307960"/>
            <a:ext cx="4093920" cy="307980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Monitoring the resource usage here, we can see that for the same 720p image, the </a:t>
            </a:r>
            <a:r>
              <a:rPr b="1" lang="en" sz="1870" strike="noStrike" u="none">
                <a:solidFill>
                  <a:schemeClr val="lt2"/>
                </a:solidFill>
                <a:uFillTx/>
                <a:latin typeface="Arial"/>
                <a:ea typeface="Arial"/>
              </a:rPr>
              <a:t>benchmark</a:t>
            </a:r>
            <a:r>
              <a:rPr b="0" lang="en" sz="1870" strike="noStrike" u="none">
                <a:solidFill>
                  <a:schemeClr val="lt2"/>
                </a:solidFill>
                <a:uFillTx/>
                <a:latin typeface="Arial"/>
                <a:ea typeface="Arial"/>
              </a:rPr>
              <a:t> </a:t>
            </a:r>
            <a:r>
              <a:rPr b="0" lang="en" sz="1870" strike="noStrike" u="none">
                <a:solidFill>
                  <a:schemeClr val="accent1"/>
                </a:solidFill>
                <a:uFillTx/>
                <a:latin typeface="Arial"/>
                <a:ea typeface="Arial"/>
              </a:rPr>
              <a:t>spawns a multiple processes </a:t>
            </a:r>
            <a:r>
              <a:rPr b="0" lang="en" sz="1870" strike="noStrike" u="none">
                <a:solidFill>
                  <a:schemeClr val="lt2"/>
                </a:solidFill>
                <a:uFillTx/>
                <a:latin typeface="Arial"/>
                <a:ea typeface="Arial"/>
              </a:rPr>
              <a:t>(it is using multithreading), and is considerably particularly heavy on the CPU.</a:t>
            </a:r>
            <a:br>
              <a:rPr sz="1870"/>
            </a:br>
            <a:br>
              <a:rPr sz="1870"/>
            </a:br>
            <a:r>
              <a:rPr b="0" lang="en" sz="1870" strike="noStrike" u="none">
                <a:solidFill>
                  <a:schemeClr val="lt2"/>
                </a:solidFill>
                <a:uFillTx/>
                <a:latin typeface="Arial"/>
                <a:ea typeface="Arial"/>
              </a:rPr>
              <a:t>This also explains the significant performance improvements it gets in larger images.</a:t>
            </a:r>
            <a:endParaRPr b="0" lang="en-US" sz="1870" strike="noStrike" u="none">
              <a:solidFill>
                <a:srgbClr val="ffffff"/>
              </a:solidFill>
              <a:uFillTx/>
              <a:latin typeface="Arial"/>
            </a:endParaRPr>
          </a:p>
        </p:txBody>
      </p:sp>
      <p:pic>
        <p:nvPicPr>
          <p:cNvPr id="436" name="Google Shape;371;p50" descr=""/>
          <p:cNvPicPr/>
          <p:nvPr/>
        </p:nvPicPr>
        <p:blipFill>
          <a:blip r:embed="rId1"/>
          <a:stretch/>
        </p:blipFill>
        <p:spPr>
          <a:xfrm>
            <a:off x="10214640" y="95760"/>
            <a:ext cx="1812960" cy="664560"/>
          </a:xfrm>
          <a:prstGeom prst="rect">
            <a:avLst/>
          </a:prstGeom>
          <a:ln w="0">
            <a:noFill/>
          </a:ln>
        </p:spPr>
      </p:pic>
      <p:pic>
        <p:nvPicPr>
          <p:cNvPr id="437" name="Google Shape;373;p50" descr=""/>
          <p:cNvPicPr/>
          <p:nvPr/>
        </p:nvPicPr>
        <p:blipFill>
          <a:blip r:embed="rId2"/>
          <a:stretch/>
        </p:blipFill>
        <p:spPr>
          <a:xfrm>
            <a:off x="415440" y="2142000"/>
            <a:ext cx="7009560" cy="3411360"/>
          </a:xfrm>
          <a:prstGeom prst="rect">
            <a:avLst/>
          </a:prstGeom>
          <a:ln w="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Key Takeaway</a:t>
            </a:r>
            <a:endParaRPr b="0" lang="en-US" sz="4270" strike="noStrike" u="none">
              <a:solidFill>
                <a:srgbClr val="000000"/>
              </a:solidFill>
              <a:uFillTx/>
              <a:latin typeface="Arial"/>
            </a:endParaRPr>
          </a:p>
        </p:txBody>
      </p:sp>
      <p:sp>
        <p:nvSpPr>
          <p:cNvPr id="439" name="PlaceHolder 2"/>
          <p:cNvSpPr>
            <a:spLocks noGrp="1"/>
          </p:cNvSpPr>
          <p:nvPr>
            <p:ph type="subTitle"/>
          </p:nvPr>
        </p:nvSpPr>
        <p:spPr>
          <a:xfrm>
            <a:off x="415440" y="2084400"/>
            <a:ext cx="8880120" cy="354492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If we strictly want to compare which algorithm is better, we can use a custom version of the function used for benchmarking - warpAffine(), without any optimization or multithreading.</a:t>
            </a:r>
            <a:endParaRPr b="0" lang="en-US" sz="1870" strike="noStrike" u="none">
              <a:solidFill>
                <a:srgbClr val="ffffff"/>
              </a:solidFill>
              <a:uFillTx/>
              <a:latin typeface="Arial"/>
            </a:endParaRPr>
          </a:p>
          <a:p>
            <a:pPr indent="0">
              <a:lnSpc>
                <a:spcPct val="100000"/>
              </a:lnSpc>
              <a:buNone/>
              <a:tabLst>
                <a:tab algn="l" pos="0"/>
              </a:tabLst>
            </a:pPr>
            <a:endParaRPr b="0" lang="en-US" sz="1870" strike="noStrike" u="none">
              <a:solidFill>
                <a:srgbClr val="ffffff"/>
              </a:solidFill>
              <a:uFillTx/>
              <a:latin typeface="Arial"/>
            </a:endParaRPr>
          </a:p>
          <a:p>
            <a:pPr indent="0">
              <a:lnSpc>
                <a:spcPct val="100000"/>
              </a:lnSpc>
              <a:buNone/>
              <a:tabLst>
                <a:tab algn="l" pos="0"/>
              </a:tabLst>
            </a:pPr>
            <a:r>
              <a:rPr b="0" lang="en" sz="1870" strike="noStrike" u="none">
                <a:solidFill>
                  <a:schemeClr val="lt2"/>
                </a:solidFill>
                <a:uFillTx/>
                <a:latin typeface="Arial"/>
                <a:ea typeface="Arial"/>
              </a:rPr>
              <a:t>As far as increasing the performance of DLR itself is concerned, </a:t>
            </a:r>
            <a:r>
              <a:rPr b="0" i="1" lang="en" sz="1870" strike="noStrike" u="none">
                <a:solidFill>
                  <a:schemeClr val="lt2"/>
                </a:solidFill>
                <a:uFillTx/>
                <a:latin typeface="Arial"/>
                <a:ea typeface="Arial"/>
              </a:rPr>
              <a:t>using</a:t>
            </a:r>
            <a:r>
              <a:rPr b="0" lang="en" sz="1870" strike="noStrike" u="none">
                <a:solidFill>
                  <a:schemeClr val="lt2"/>
                </a:solidFill>
                <a:uFillTx/>
                <a:latin typeface="Arial"/>
                <a:ea typeface="Arial"/>
              </a:rPr>
              <a:t> multithreading might be the way to go, since this already is a fairly promising algorithm, which beats a lot of the other algorithms that have been discussed thus far.</a:t>
            </a:r>
            <a:endParaRPr b="0" lang="en-US" sz="1870" strike="noStrike" u="none">
              <a:solidFill>
                <a:srgbClr val="ffffff"/>
              </a:solidFill>
              <a:uFillTx/>
              <a:latin typeface="Arial"/>
            </a:endParaRPr>
          </a:p>
        </p:txBody>
      </p:sp>
      <p:pic>
        <p:nvPicPr>
          <p:cNvPr id="440" name="Google Shape;379;p51"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415440" y="2803680"/>
            <a:ext cx="11360520" cy="90648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Implementing a multithreaded approach</a:t>
            </a:r>
            <a:endParaRPr b="0" lang="en-US" sz="4670" strike="noStrike" u="none">
              <a:solidFill>
                <a:srgbClr val="000000"/>
              </a:solidFill>
              <a:uFillTx/>
              <a:latin typeface="Arial"/>
            </a:endParaRPr>
          </a:p>
        </p:txBody>
      </p:sp>
      <p:sp>
        <p:nvSpPr>
          <p:cNvPr id="442"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443"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444"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June 28, 2024</a:t>
            </a:r>
            <a:endParaRPr b="0" lang="en-US" sz="2660" strike="noStrike" u="none">
              <a:solidFill>
                <a:srgbClr val="ffffff"/>
              </a:solidFill>
              <a:uFillTx/>
              <a:latin typeface="Arial"/>
            </a:endParaRPr>
          </a:p>
        </p:txBody>
      </p:sp>
      <p:pic>
        <p:nvPicPr>
          <p:cNvPr id="445" name="Google Shape;387;p52"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415440" y="9162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270" strike="noStrike" u="none">
                <a:solidFill>
                  <a:schemeClr val="dk1"/>
                </a:solidFill>
                <a:uFillTx/>
                <a:latin typeface="Arial"/>
                <a:ea typeface="Arial"/>
              </a:rPr>
              <a:t>Key Takeaway</a:t>
            </a:r>
            <a:endParaRPr b="0" lang="en-US" sz="4270" strike="noStrike" u="none">
              <a:solidFill>
                <a:srgbClr val="000000"/>
              </a:solidFill>
              <a:uFillTx/>
              <a:latin typeface="Arial"/>
            </a:endParaRPr>
          </a:p>
        </p:txBody>
      </p:sp>
      <p:sp>
        <p:nvSpPr>
          <p:cNvPr id="447" name="PlaceHolder 2"/>
          <p:cNvSpPr>
            <a:spLocks noGrp="1"/>
          </p:cNvSpPr>
          <p:nvPr>
            <p:ph type="subTitle"/>
          </p:nvPr>
        </p:nvSpPr>
        <p:spPr>
          <a:xfrm>
            <a:off x="415440" y="2084400"/>
            <a:ext cx="8880120" cy="118116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The hypothesis discussed in the previous section proved to be correct. Implementing a multithreaded approach significantly sped up the loops used for the mapping of rotated images in all benchmarking scenarios.</a:t>
            </a:r>
            <a:endParaRPr b="0" lang="en-US" sz="1870" strike="noStrike" u="none">
              <a:solidFill>
                <a:srgbClr val="ffffff"/>
              </a:solidFill>
              <a:uFillTx/>
              <a:latin typeface="Arial"/>
            </a:endParaRPr>
          </a:p>
        </p:txBody>
      </p:sp>
      <p:sp>
        <p:nvSpPr>
          <p:cNvPr id="448" name="PlaceHolder 3"/>
          <p:cNvSpPr>
            <a:spLocks noGrp="1"/>
          </p:cNvSpPr>
          <p:nvPr>
            <p:ph type="subTitle"/>
          </p:nvPr>
        </p:nvSpPr>
        <p:spPr>
          <a:xfrm>
            <a:off x="10206000" y="3673440"/>
            <a:ext cx="1985760" cy="253332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In this graph, the y axis represents time in seconds, and the x axis represents the nth trial.</a:t>
            </a:r>
            <a:endParaRPr b="0" lang="en-US" sz="1870" strike="noStrike" u="none">
              <a:solidFill>
                <a:srgbClr val="ffffff"/>
              </a:solidFill>
              <a:uFillTx/>
              <a:latin typeface="Arial"/>
            </a:endParaRPr>
          </a:p>
        </p:txBody>
      </p:sp>
      <p:pic>
        <p:nvPicPr>
          <p:cNvPr id="449" name="Google Shape;395;p53" descr=""/>
          <p:cNvPicPr/>
          <p:nvPr/>
        </p:nvPicPr>
        <p:blipFill>
          <a:blip r:embed="rId1"/>
          <a:stretch/>
        </p:blipFill>
        <p:spPr>
          <a:xfrm>
            <a:off x="10214640" y="95760"/>
            <a:ext cx="1812960" cy="664560"/>
          </a:xfrm>
          <a:prstGeom prst="rect">
            <a:avLst/>
          </a:prstGeom>
          <a:ln w="0">
            <a:noFill/>
          </a:ln>
        </p:spPr>
      </p:pic>
      <p:pic>
        <p:nvPicPr>
          <p:cNvPr id="450" name="Google Shape;397;p53" descr=""/>
          <p:cNvPicPr/>
          <p:nvPr/>
        </p:nvPicPr>
        <p:blipFill>
          <a:blip r:embed="rId2"/>
          <a:stretch/>
        </p:blipFill>
        <p:spPr>
          <a:xfrm>
            <a:off x="415440" y="3382200"/>
            <a:ext cx="9278640" cy="3105000"/>
          </a:xfrm>
          <a:prstGeom prst="rect">
            <a:avLst/>
          </a:prstGeom>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p:nvPr>
        </p:nvSpPr>
        <p:spPr>
          <a:xfrm>
            <a:off x="2196720" y="526680"/>
            <a:ext cx="9156960" cy="56498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IN" sz="6000" strike="noStrike" u="none">
                <a:solidFill>
                  <a:schemeClr val="accent1"/>
                </a:solidFill>
                <a:uFillTx/>
                <a:latin typeface="Cambria"/>
                <a:ea typeface="Cambria"/>
              </a:rPr>
              <a:t>Comparison between DLR and Warp Affine</a:t>
            </a:r>
            <a:endParaRPr b="0" lang="en-US" sz="6000" strike="noStrike" u="none">
              <a:solidFill>
                <a:srgbClr val="000000"/>
              </a:solidFill>
              <a:uFillTx/>
              <a:latin typeface="Arial"/>
            </a:endParaRPr>
          </a:p>
        </p:txBody>
      </p:sp>
      <p:sp>
        <p:nvSpPr>
          <p:cNvPr id="452" name="Google Shape;222;p7"/>
          <p:cNvSpPr/>
          <p:nvPr/>
        </p:nvSpPr>
        <p:spPr>
          <a:xfrm>
            <a:off x="764640" y="-24480"/>
            <a:ext cx="984240" cy="688212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453" name="Google Shape;223;p7"/>
          <p:cNvSpPr/>
          <p:nvPr/>
        </p:nvSpPr>
        <p:spPr>
          <a:xfrm>
            <a:off x="0" y="0"/>
            <a:ext cx="615960" cy="68576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4"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455"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Bresenham line algorithm</a:t>
            </a:r>
            <a:endParaRPr b="0" lang="en-US" sz="3200" strike="noStrike" u="none">
              <a:solidFill>
                <a:srgbClr val="ffffff"/>
              </a:solidFill>
              <a:uFillTx/>
              <a:latin typeface="Arial"/>
            </a:endParaRPr>
          </a:p>
        </p:txBody>
      </p:sp>
      <p:sp>
        <p:nvSpPr>
          <p:cNvPr id="456" name="Rectangle 2"/>
          <p:cNvSpPr/>
          <p:nvPr/>
        </p:nvSpPr>
        <p:spPr>
          <a:xfrm>
            <a:off x="243000" y="1841760"/>
            <a:ext cx="6095520" cy="3718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400" strike="noStrike" u="none">
                <a:solidFill>
                  <a:schemeClr val="dk1">
                    <a:lumMod val="85000"/>
                  </a:schemeClr>
                </a:solidFill>
                <a:uFillTx/>
                <a:latin typeface="Arial"/>
                <a:ea typeface="Arial"/>
              </a:rPr>
              <a:t>cv::Mat rotateImage(const cv::Mat&amp; image, double angle)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h = image.rows;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w = image.cols;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double dc = std::cos(angle * CV_PI / 180.0);</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double ds = std::sin(angle * CV_PI / 180.0);</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 Calculate dimensions of the new image</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h_new = static_cast&lt;int&gt;(std::abs(h * dc) + std::abs(w * ds));</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w_new = static_cast&lt;int&gt;(std::abs(h * ds) + std::abs(w * dc));</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cv::Mat rotatedImage = cv::Mat::zeros(h_new, w_new, image.type());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cx = w / 2;</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cy = h / 2;</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cx_new = w_new / 2;</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cy_new = h_new / 2;</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p:txBody>
      </p:sp>
      <p:sp>
        <p:nvSpPr>
          <p:cNvPr id="457" name="Rectangle 3"/>
          <p:cNvSpPr/>
          <p:nvPr/>
        </p:nvSpPr>
        <p:spPr>
          <a:xfrm>
            <a:off x="6338880" y="1841760"/>
            <a:ext cx="5852880" cy="3932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(int y = 0; y &lt; h; ++y)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auto line = bresenhamLine(0, y, w - 1, y); // Get points of the line using Bresenham's algorithm</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for (const auto&amp; point : line)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x = point.x;</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y = point.y;</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x_new = static_cast&lt;int&gt;((x - cx) * dc - (y - cy) * ds + cx_new);</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int y_new = static_cast&lt;int&gt;((x - cx) * ds + (y - cy) * dc + cy_new);</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if (x_new &gt;= 0 &amp;&amp; x_new &lt; w_new &amp;&amp; y_new &gt;= 0 &amp;&amp; y_new &lt; h_new) {</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rotatedImage.at&lt;cv::Vec3b&gt;(y_new, x_new) = image.at&lt;cv::Vec3b&gt;(y, x);</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a:p>
            <a:pPr>
              <a:lnSpc>
                <a:spcPct val="100000"/>
              </a:lnSpc>
            </a:pPr>
            <a:r>
              <a:rPr b="0" lang="en-IN" sz="1400" strike="noStrike" u="none">
                <a:solidFill>
                  <a:schemeClr val="dk1">
                    <a:lumMod val="85000"/>
                  </a:schemeClr>
                </a:solidFill>
                <a:uFillTx/>
                <a:latin typeface="Arial"/>
                <a:ea typeface="Arial"/>
              </a:rPr>
              <a:t>    </a:t>
            </a:r>
            <a:r>
              <a:rPr b="0" lang="en-IN" sz="1400" strike="noStrike" u="none">
                <a:solidFill>
                  <a:schemeClr val="dk1">
                    <a:lumMod val="85000"/>
                  </a:schemeClr>
                </a:solidFill>
                <a:uFillTx/>
                <a:latin typeface="Arial"/>
                <a:ea typeface="Arial"/>
              </a:rPr>
              <a:t>}</a:t>
            </a: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8"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459" name="Google Shape;212;p6"/>
          <p:cNvSpPr/>
          <p:nvPr/>
        </p:nvSpPr>
        <p:spPr>
          <a:xfrm>
            <a:off x="429480" y="46440"/>
            <a:ext cx="9401760" cy="10663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Warp Affine</a:t>
            </a:r>
            <a:endParaRPr b="0" lang="en-US" sz="3200" strike="noStrike" u="none">
              <a:solidFill>
                <a:srgbClr val="ffffff"/>
              </a:solidFill>
              <a:uFillTx/>
              <a:latin typeface="Arial"/>
            </a:endParaRPr>
          </a:p>
        </p:txBody>
      </p:sp>
      <p:sp>
        <p:nvSpPr>
          <p:cNvPr id="460" name="Rectangle 2"/>
          <p:cNvSpPr/>
          <p:nvPr/>
        </p:nvSpPr>
        <p:spPr>
          <a:xfrm>
            <a:off x="423720" y="1382400"/>
            <a:ext cx="5671800" cy="4572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Load Input Image: Load the input image using OpenCV’s imread function. Check if the image data is loaded successfully.</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Set Rotation Angle and Center: Define the rotation angle.</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Calculate the center of the image.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Calculate Rotation Matrix: Use OpenCV’s getRotationMatrix2D to get the rotation matrix.</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Calculate Bounding Box for Rotated Image: Use OpenCV’s RotatedRect to calculate the size of the bounding box that can contain the rotated image.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Adjust the Transformation Matrix: Adjust the rotation matrix to account for the translation required to keep the image centered.</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Perform the Affine Transformation (Rotation):Use OpenCV’s warpAffine to perform the rotation with bilinear interpolation.</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Save the Rotated Image: Save the rotated image using OpenCV’s imwrite function.</a:t>
            </a:r>
            <a:endParaRPr b="0" lang="en-US" sz="1400" strike="noStrike" u="none">
              <a:solidFill>
                <a:srgbClr val="ffffff"/>
              </a:solidFill>
              <a:uFillTx/>
              <a:latin typeface="Arial"/>
            </a:endParaRPr>
          </a:p>
        </p:txBody>
      </p:sp>
      <p:sp>
        <p:nvSpPr>
          <p:cNvPr id="461" name="Rectangle 10"/>
          <p:cNvSpPr/>
          <p:nvPr/>
        </p:nvSpPr>
        <p:spPr>
          <a:xfrm>
            <a:off x="6095880" y="3167280"/>
            <a:ext cx="547056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Limitation : It uses floating point multiplications in the loops so it takes more time. </a:t>
            </a:r>
            <a:endParaRPr b="0" lang="en-US" sz="1400" strike="noStrike" u="none">
              <a:solidFill>
                <a:srgbClr val="ffffff"/>
              </a:solidFill>
              <a:uFillTx/>
              <a:latin typeface="Arial"/>
            </a:endParaRPr>
          </a:p>
        </p:txBody>
      </p:sp>
      <p:sp>
        <p:nvSpPr>
          <p:cNvPr id="462"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July 04, 2024</a:t>
            </a:r>
            <a:endParaRPr b="0" lang="en-US" sz="2660" strike="noStrike" u="none">
              <a:solidFill>
                <a:srgbClr val="ffffff"/>
              </a:solidFill>
              <a:uFillTx/>
              <a:latin typeface="Arial"/>
            </a:endParaRPr>
          </a:p>
        </p:txBody>
      </p:sp>
      <p:sp>
        <p:nvSpPr>
          <p:cNvPr id="463" name="Google Shape;99;p17"/>
          <p:cNvSpPr/>
          <p:nvPr/>
        </p:nvSpPr>
        <p:spPr>
          <a:xfrm>
            <a:off x="1801080" y="620172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Sourav Parida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465"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466"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467" name="Google Shape;212;p6"/>
          <p:cNvSpPr/>
          <p:nvPr/>
        </p:nvSpPr>
        <p:spPr>
          <a:xfrm>
            <a:off x="429480" y="290520"/>
            <a:ext cx="9401760" cy="578520"/>
          </a:xfrm>
          <a:prstGeom prst="rect">
            <a:avLst/>
          </a:prstGeom>
          <a:noFill/>
          <a:ln w="0">
            <a:noFill/>
          </a:ln>
        </p:spPr>
        <p:style>
          <a:lnRef idx="0"/>
          <a:fillRef idx="0"/>
          <a:effectRef idx="0"/>
          <a:fontRef idx="minor"/>
        </p:style>
        <p:txBody>
          <a:bodyPr anchor="ctr">
            <a:spAutoFit/>
          </a:bodyPr>
          <a:p>
            <a:pPr>
              <a:lnSpc>
                <a:spcPct val="100000"/>
              </a:lnSpc>
            </a:pPr>
            <a:r>
              <a:rPr b="1" lang="en-US" sz="3200" strike="noStrike" u="none">
                <a:solidFill>
                  <a:schemeClr val="dk1"/>
                </a:solidFill>
                <a:uFillTx/>
                <a:latin typeface="Arial"/>
                <a:ea typeface="Arial"/>
              </a:rPr>
              <a:t>Implementation of  Image Rotation Using DLR</a:t>
            </a:r>
            <a:endParaRPr b="0" lang="en-US" sz="3200" strike="noStrike" u="none">
              <a:solidFill>
                <a:srgbClr val="ffffff"/>
              </a:solidFill>
              <a:uFillTx/>
              <a:latin typeface="Arial"/>
            </a:endParaRPr>
          </a:p>
        </p:txBody>
      </p:sp>
      <p:sp>
        <p:nvSpPr>
          <p:cNvPr id="468" name="Rectangle 2"/>
          <p:cNvSpPr/>
          <p:nvPr/>
        </p:nvSpPr>
        <p:spPr>
          <a:xfrm>
            <a:off x="243000" y="1841760"/>
            <a:ext cx="6271920" cy="4786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Compute Rotation Parameters: Normalize the rotation angle to the range [0, 360) degrees. Convert the angle to radians.</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Compute trigonometric values (sin_alpha, cos_alpha, tan_alpha, tan_alpha_).</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Calculate Output Image Size: Determine the dimensions of the rotated image matrix (mrt, nrt).</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Initialize the Rotated Image Matrix: Create an empty matrix (rot) with the computed dimensions and the same type as the input image.</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Determine Rotation Zone and Set Parameters: Based on the angle, determine which zone (1-8) the angle falls into.</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Set parameters such as offsets, function for x value (fs), deltas, and loop limits accordingly.</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Perform Rotation Using the rotate Function: The rotate function is called with the appropriate parameters.</a:t>
            </a:r>
            <a:endParaRPr b="0" lang="en-US" sz="1400" strike="noStrike" u="none">
              <a:solidFill>
                <a:srgbClr val="ffffff"/>
              </a:solidFill>
              <a:uFillTx/>
              <a:latin typeface="Arial"/>
            </a:endParaRPr>
          </a:p>
          <a:p>
            <a:pPr>
              <a:lnSpc>
                <a:spcPct val="100000"/>
              </a:lnSpc>
            </a:pP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Use OpenMP for parallel processing to speed up the computations.</a:t>
            </a:r>
            <a:endParaRPr b="0" lang="en-US" sz="1400" strike="noStrike" u="none">
              <a:solidFill>
                <a:srgbClr val="ffffff"/>
              </a:solidFill>
              <a:uFillTx/>
              <a:latin typeface="Arial"/>
            </a:endParaRPr>
          </a:p>
          <a:p>
            <a:pPr>
              <a:lnSpc>
                <a:spcPct val="100000"/>
              </a:lnSpc>
            </a:pPr>
            <a:r>
              <a:rPr b="0" lang="en-US" sz="1400" strike="noStrike" u="none">
                <a:solidFill>
                  <a:schemeClr val="dk1">
                    <a:lumMod val="85000"/>
                  </a:schemeClr>
                </a:solidFill>
                <a:uFillTx/>
                <a:latin typeface="Arial"/>
                <a:ea typeface="Arial"/>
              </a:rPr>
              <a:t>Iterate through each pixel in the source image, computing the corresponding destination coordinates in the rotated image.</a:t>
            </a:r>
            <a:endParaRPr b="0" lang="en-US" sz="1400" strike="noStrike" u="none">
              <a:solidFill>
                <a:srgbClr val="ffffff"/>
              </a:solidFill>
              <a:uFillTx/>
              <a:latin typeface="Arial"/>
            </a:endParaRPr>
          </a:p>
        </p:txBody>
      </p:sp>
      <p:sp>
        <p:nvSpPr>
          <p:cNvPr id="469" name="Rectangle 7"/>
          <p:cNvSpPr/>
          <p:nvPr/>
        </p:nvSpPr>
        <p:spPr>
          <a:xfrm>
            <a:off x="6514920" y="3167280"/>
            <a:ext cx="5470560" cy="73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Advantage : It uses floating point multiplications once while calculating the trigonometric values and in the loops it performs simple arithmetic additions.</a:t>
            </a: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335160" y="167040"/>
            <a:ext cx="9925200" cy="564840"/>
          </a:xfrm>
          <a:prstGeom prst="rect">
            <a:avLst/>
          </a:prstGeom>
          <a:noFill/>
          <a:ln w="0">
            <a:noFill/>
          </a:ln>
        </p:spPr>
        <p:txBody>
          <a:bodyPr lIns="91440" rIns="91440" tIns="45720" bIns="45720" anchor="b">
            <a:normAutofit/>
          </a:bodyPr>
          <a:p>
            <a:pPr indent="0">
              <a:lnSpc>
                <a:spcPct val="90000"/>
              </a:lnSpc>
              <a:buNone/>
            </a:pPr>
            <a:r>
              <a:rPr b="0" lang="en-US" sz="3200" strike="noStrike" u="none">
                <a:solidFill>
                  <a:schemeClr val="dk1"/>
                </a:solidFill>
                <a:uFillTx/>
                <a:latin typeface="Arial"/>
                <a:ea typeface="Arial"/>
              </a:rPr>
              <a:t>Comparison of DLR approach with Wrap Affine</a:t>
            </a:r>
            <a:endParaRPr b="0" lang="en-US" sz="3200" strike="noStrike" u="none">
              <a:solidFill>
                <a:srgbClr val="000000"/>
              </a:solidFill>
              <a:uFillTx/>
              <a:latin typeface="Arial"/>
            </a:endParaRPr>
          </a:p>
        </p:txBody>
      </p:sp>
      <p:sp>
        <p:nvSpPr>
          <p:cNvPr id="471" name="Google Shape;215;p6"/>
          <p:cNvSpPr/>
          <p:nvPr/>
        </p:nvSpPr>
        <p:spPr>
          <a:xfrm>
            <a:off x="0" y="732240"/>
            <a:ext cx="12191760" cy="48744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127080" algn="just">
              <a:lnSpc>
                <a:spcPct val="100000"/>
              </a:lnSpc>
              <a:tabLst>
                <a:tab algn="l" pos="0"/>
              </a:tabLst>
            </a:pPr>
            <a:endParaRPr b="0" lang="en-US" sz="1400" strike="noStrike" u="none">
              <a:solidFill>
                <a:srgbClr val="000000"/>
              </a:solidFill>
              <a:uFillTx/>
              <a:latin typeface="Arial"/>
            </a:endParaRPr>
          </a:p>
          <a:p>
            <a:pPr algn="just">
              <a:lnSpc>
                <a:spcPct val="100000"/>
              </a:lnSpc>
              <a:tabLst>
                <a:tab algn="l" pos="0"/>
              </a:tabLst>
            </a:pPr>
            <a:r>
              <a:rPr b="0" lang="en-IN" sz="1200" strike="noStrike" u="none">
                <a:solidFill>
                  <a:srgbClr val="0e4094"/>
                </a:solidFill>
                <a:uFillTx/>
                <a:latin typeface="Calibri"/>
                <a:ea typeface="Calibri"/>
              </a:rPr>
              <a:t>    </a:t>
            </a:r>
            <a:endParaRPr b="0" lang="en-US" sz="1200" strike="noStrike" u="none">
              <a:solidFill>
                <a:srgbClr val="000000"/>
              </a:solidFill>
              <a:uFillTx/>
              <a:latin typeface="Arial"/>
            </a:endParaRPr>
          </a:p>
        </p:txBody>
      </p:sp>
      <p:sp>
        <p:nvSpPr>
          <p:cNvPr id="472" name="PlaceHolder 2"/>
          <p:cNvSpPr>
            <a:spLocks noGrp="1"/>
          </p:cNvSpPr>
          <p:nvPr>
            <p:ph/>
          </p:nvPr>
        </p:nvSpPr>
        <p:spPr>
          <a:xfrm>
            <a:off x="729000" y="4879440"/>
            <a:ext cx="4141080" cy="806040"/>
          </a:xfrm>
          <a:prstGeom prst="rect">
            <a:avLst/>
          </a:prstGeom>
          <a:noFill/>
          <a:ln w="0">
            <a:noFill/>
          </a:ln>
        </p:spPr>
        <p:txBody>
          <a:bodyPr lIns="91440" rIns="91440" tIns="45720" bIns="45720" anchor="t">
            <a:normAutofit fontScale="92500" lnSpcReduction="19999"/>
          </a:bodyPr>
          <a:p>
            <a:pPr marL="457200" indent="-228600">
              <a:lnSpc>
                <a:spcPct val="90000"/>
              </a:lnSpc>
              <a:spcBef>
                <a:spcPts val="1001"/>
              </a:spcBef>
              <a:buNone/>
              <a:tabLst>
                <a:tab algn="l" pos="0"/>
              </a:tabLst>
            </a:pPr>
            <a:r>
              <a:rPr b="0" lang="en-US" sz="1800" strike="noStrike" u="none">
                <a:solidFill>
                  <a:schemeClr val="lt2"/>
                </a:solidFill>
                <a:uFillTx/>
                <a:latin typeface="Arial"/>
                <a:ea typeface="Arial"/>
              </a:rPr>
              <a:t>Average for Wrap_affine is  </a:t>
            </a:r>
            <a:r>
              <a:rPr b="0" lang="en-US" sz="1800" strike="noStrike" u="none">
                <a:solidFill>
                  <a:srgbClr val="ff0000"/>
                </a:solidFill>
                <a:uFillTx/>
                <a:latin typeface="Arial"/>
                <a:ea typeface="Arial"/>
              </a:rPr>
              <a:t>0.5031 sec</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r>
              <a:rPr b="0" lang="en-US" sz="1800" strike="noStrike" u="none">
                <a:solidFill>
                  <a:schemeClr val="lt2"/>
                </a:solidFill>
                <a:uFillTx/>
                <a:latin typeface="Arial"/>
                <a:ea typeface="Arial"/>
              </a:rPr>
              <a:t>Average for DLR approach  is  </a:t>
            </a:r>
            <a:r>
              <a:rPr b="0" lang="en-US" sz="1800" strike="noStrike" u="none">
                <a:solidFill>
                  <a:srgbClr val="ff0000"/>
                </a:solidFill>
                <a:uFillTx/>
                <a:latin typeface="Arial"/>
                <a:ea typeface="Arial"/>
              </a:rPr>
              <a:t>0.4280 sec</a:t>
            </a:r>
            <a:endParaRPr b="0" lang="en-US" sz="1800" strike="noStrike" u="none">
              <a:solidFill>
                <a:srgbClr val="000000"/>
              </a:solidFill>
              <a:uFillTx/>
              <a:latin typeface="Arial"/>
            </a:endParaRPr>
          </a:p>
          <a:p>
            <a:pPr marL="457200" indent="-2286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473"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474"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pic>
        <p:nvPicPr>
          <p:cNvPr id="475" name="Google Shape;214;p6" descr=""/>
          <p:cNvPicPr/>
          <p:nvPr/>
        </p:nvPicPr>
        <p:blipFill>
          <a:blip r:embed="rId1"/>
          <a:srcRect l="4529" t="20257" r="4160" b="26835"/>
          <a:stretch/>
        </p:blipFill>
        <p:spPr>
          <a:xfrm>
            <a:off x="10942200" y="105120"/>
            <a:ext cx="1249560" cy="474480"/>
          </a:xfrm>
          <a:prstGeom prst="rect">
            <a:avLst/>
          </a:prstGeom>
          <a:ln w="0">
            <a:noFill/>
          </a:ln>
        </p:spPr>
      </p:pic>
      <p:graphicFrame>
        <p:nvGraphicFramePr>
          <p:cNvPr id="476" name="Table 28"/>
          <p:cNvGraphicFramePr/>
          <p:nvPr/>
        </p:nvGraphicFramePr>
        <p:xfrm>
          <a:off x="461520" y="2997360"/>
          <a:ext cx="6381360" cy="1409400"/>
        </p:xfrm>
        <a:graphic>
          <a:graphicData uri="http://schemas.openxmlformats.org/drawingml/2006/table">
            <a:tbl>
              <a:tblPr/>
              <a:tblGrid>
                <a:gridCol w="1276200"/>
                <a:gridCol w="1276200"/>
                <a:gridCol w="1276200"/>
                <a:gridCol w="1276200"/>
                <a:gridCol w="1276200"/>
              </a:tblGrid>
              <a:tr h="487440">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Photo</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Type</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Dimension</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Wrap_affine(sec)</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DLR(sec)</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43720">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Girl</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Color</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512 x 512</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0.5352</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0.4489</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0">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House</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Color</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257 x 256</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0.5123</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0.4287</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0">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Tree</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Color</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258 x 256</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0.5231</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0.4213</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0">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Fish</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Gray</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192 x 81</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0.4421</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t">
                      <a:noAutofit/>
                    </a:bodyPr>
                    <a:p>
                      <a:pPr marL="68760">
                        <a:lnSpc>
                          <a:spcPct val="100000"/>
                        </a:lnSpc>
                        <a:tabLst>
                          <a:tab algn="l" pos="0"/>
                        </a:tabLst>
                      </a:pPr>
                      <a:r>
                        <a:rPr b="0" lang="en-US" sz="1600" strike="noStrike" u="none">
                          <a:solidFill>
                            <a:schemeClr val="dk1"/>
                          </a:solidFill>
                          <a:uFillTx/>
                          <a:latin typeface="Arial"/>
                          <a:ea typeface="Arial"/>
                        </a:rPr>
                        <a:t>0.4134</a:t>
                      </a:r>
                      <a:endParaRPr b="0" lang="en-US" sz="1600" strike="noStrike" u="none">
                        <a:solidFill>
                          <a:srgbClr val="ffffff"/>
                        </a:solidFill>
                        <a:uFillTx/>
                        <a:latin typeface="Arial"/>
                      </a:endParaRPr>
                    </a:p>
                  </a:txBody>
                  <a:tcPr anchor="t"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bl>
          </a:graphicData>
        </a:graphic>
      </p:graphicFrame>
      <p:sp>
        <p:nvSpPr>
          <p:cNvPr id="477" name="Title 26"/>
          <p:cNvSpPr/>
          <p:nvPr/>
        </p:nvSpPr>
        <p:spPr>
          <a:xfrm>
            <a:off x="403920" y="2257920"/>
            <a:ext cx="4466160" cy="538200"/>
          </a:xfrm>
          <a:prstGeom prst="rect">
            <a:avLst/>
          </a:prstGeom>
          <a:noFill/>
          <a:ln w="0">
            <a:noFill/>
          </a:ln>
        </p:spPr>
        <p:style>
          <a:lnRef idx="0"/>
          <a:fillRef idx="0"/>
          <a:effectRef idx="0"/>
          <a:fontRef idx="minor"/>
        </p:style>
        <p:txBody>
          <a:bodyPr anchor="b">
            <a:normAutofit fontScale="85000" lnSpcReduction="19999"/>
          </a:bodyPr>
          <a:p>
            <a:pPr>
              <a:lnSpc>
                <a:spcPct val="90000"/>
              </a:lnSpc>
            </a:pPr>
            <a:r>
              <a:rPr b="0" lang="en-US" sz="2400" strike="noStrike" u="none">
                <a:solidFill>
                  <a:schemeClr val="dk1"/>
                </a:solidFill>
                <a:uFillTx/>
                <a:latin typeface="Calibri"/>
                <a:ea typeface="Calibri"/>
              </a:rPr>
              <a:t>Results for Low Dimension Pictures -:</a:t>
            </a:r>
            <a:endParaRPr b="0" lang="en-US" sz="2400" strike="noStrike" u="none">
              <a:solidFill>
                <a:srgbClr val="ffffff"/>
              </a:solidFill>
              <a:uFillTx/>
              <a:latin typeface="Arial"/>
            </a:endParaRPr>
          </a:p>
        </p:txBody>
      </p:sp>
      <p:pic>
        <p:nvPicPr>
          <p:cNvPr id="478" name="Picture Placeholder 33" descr="Lenna_3"/>
          <p:cNvPicPr/>
          <p:nvPr/>
        </p:nvPicPr>
        <p:blipFill>
          <a:blip r:embed="rId2"/>
          <a:stretch/>
        </p:blipFill>
        <p:spPr>
          <a:xfrm>
            <a:off x="7034400" y="1684800"/>
            <a:ext cx="2069280" cy="2069280"/>
          </a:xfrm>
          <a:prstGeom prst="rect">
            <a:avLst/>
          </a:prstGeom>
          <a:ln w="0">
            <a:noFill/>
          </a:ln>
        </p:spPr>
      </p:pic>
      <p:pic>
        <p:nvPicPr>
          <p:cNvPr id="479" name="Picture 34" descr="Lenna_60"/>
          <p:cNvPicPr/>
          <p:nvPr/>
        </p:nvPicPr>
        <p:blipFill>
          <a:blip r:embed="rId3"/>
          <a:stretch/>
        </p:blipFill>
        <p:spPr>
          <a:xfrm>
            <a:off x="9660240" y="1671480"/>
            <a:ext cx="2095920" cy="2095920"/>
          </a:xfrm>
          <a:prstGeom prst="rect">
            <a:avLst/>
          </a:prstGeom>
          <a:ln w="0">
            <a:noFill/>
          </a:ln>
        </p:spPr>
      </p:pic>
      <p:sp>
        <p:nvSpPr>
          <p:cNvPr id="480" name="Google Shape;185;p27"/>
          <p:cNvSpPr/>
          <p:nvPr/>
        </p:nvSpPr>
        <p:spPr>
          <a:xfrm>
            <a:off x="8723160" y="6222240"/>
            <a:ext cx="3354120" cy="579240"/>
          </a:xfrm>
          <a:prstGeom prst="rect">
            <a:avLst/>
          </a:prstGeom>
          <a:noFill/>
          <a:ln w="0">
            <a:noFill/>
          </a:ln>
        </p:spPr>
        <p:style>
          <a:lnRef idx="0"/>
          <a:fillRef idx="0"/>
          <a:effectRef idx="0"/>
          <a:fontRef idx="minor"/>
        </p:style>
        <p:txBody>
          <a:bodyPr tIns="91440" bIns="91440" anchor="ctr">
            <a:noAutofit/>
          </a:bodyPr>
          <a:p>
            <a:pPr algn="r">
              <a:lnSpc>
                <a:spcPct val="115000"/>
              </a:lnSpc>
              <a:tabLst>
                <a:tab algn="l" pos="0"/>
              </a:tabLst>
            </a:pPr>
            <a:r>
              <a:rPr b="0" lang="en-IN" sz="2660" strike="noStrike" u="none">
                <a:solidFill>
                  <a:schemeClr val="lt2"/>
                </a:solidFill>
                <a:uFillTx/>
                <a:latin typeface="Arial"/>
                <a:ea typeface="Arial"/>
              </a:rPr>
              <a:t>July 04, 2024</a:t>
            </a:r>
            <a:endParaRPr b="0" lang="en-US" sz="2660" strike="noStrike" u="none">
              <a:solidFill>
                <a:srgbClr val="ffffff"/>
              </a:solidFill>
              <a:uFillTx/>
              <a:latin typeface="Arial"/>
            </a:endParaRPr>
          </a:p>
        </p:txBody>
      </p:sp>
      <p:sp>
        <p:nvSpPr>
          <p:cNvPr id="481" name="Google Shape;99;p17"/>
          <p:cNvSpPr/>
          <p:nvPr/>
        </p:nvSpPr>
        <p:spPr>
          <a:xfrm>
            <a:off x="115920" y="5977080"/>
            <a:ext cx="3352320" cy="579240"/>
          </a:xfrm>
          <a:prstGeom prst="rect">
            <a:avLst/>
          </a:prstGeom>
          <a:noFill/>
          <a:ln w="0">
            <a:noFill/>
          </a:ln>
        </p:spPr>
        <p:style>
          <a:lnRef idx="0"/>
          <a:fillRef idx="0"/>
          <a:effectRef idx="0"/>
          <a:fontRef idx="minor"/>
        </p:style>
        <p:txBody>
          <a:bodyPr tIns="91440" bIns="91440" anchor="ctr">
            <a:noAutofit/>
          </a:bodyPr>
          <a:p>
            <a:pPr>
              <a:lnSpc>
                <a:spcPct val="115000"/>
              </a:lnSpc>
              <a:tabLst>
                <a:tab algn="l" pos="0"/>
              </a:tabLst>
            </a:pPr>
            <a:r>
              <a:rPr b="0" lang="en-IN" sz="2660" strike="noStrike" u="none">
                <a:solidFill>
                  <a:schemeClr val="lt2"/>
                </a:solidFill>
                <a:uFillTx/>
                <a:latin typeface="Arial"/>
                <a:ea typeface="Arial"/>
              </a:rPr>
              <a:t>Subhadeep Bhadra</a:t>
            </a:r>
            <a:endParaRPr b="0" lang="en-US" sz="266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p:nvPr>
        </p:nvSpPr>
        <p:spPr>
          <a:xfrm>
            <a:off x="797400" y="3855240"/>
            <a:ext cx="5783760" cy="460800"/>
          </a:xfrm>
          <a:prstGeom prst="rect">
            <a:avLst/>
          </a:prstGeom>
          <a:noFill/>
          <a:ln w="0">
            <a:noFill/>
          </a:ln>
        </p:spPr>
        <p:txBody>
          <a:bodyPr lIns="91440" rIns="91440" tIns="45720" bIns="45720" anchor="b">
            <a:normAutofit/>
          </a:bodyPr>
          <a:p>
            <a:pPr indent="0">
              <a:lnSpc>
                <a:spcPct val="90000"/>
              </a:lnSpc>
              <a:buNone/>
            </a:pPr>
            <a:r>
              <a:rPr b="0" lang="en-US" sz="2220" strike="noStrike" u="none">
                <a:solidFill>
                  <a:schemeClr val="dk1"/>
                </a:solidFill>
                <a:uFillTx/>
                <a:latin typeface="Arial"/>
                <a:ea typeface="Arial"/>
              </a:rPr>
              <a:t>Results for High Dimension Pictures :-</a:t>
            </a:r>
            <a:endParaRPr b="0" lang="en-US" sz="2220" strike="noStrike" u="none">
              <a:solidFill>
                <a:srgbClr val="000000"/>
              </a:solidFill>
              <a:uFillTx/>
              <a:latin typeface="Arial"/>
            </a:endParaRPr>
          </a:p>
        </p:txBody>
      </p:sp>
      <p:graphicFrame>
        <p:nvGraphicFramePr>
          <p:cNvPr id="483" name="Picture Placeholder 4"/>
          <p:cNvGraphicFramePr/>
          <p:nvPr/>
        </p:nvGraphicFramePr>
        <p:xfrm>
          <a:off x="987480" y="4436280"/>
          <a:ext cx="6511680" cy="1857600"/>
        </p:xfrm>
        <a:graphic>
          <a:graphicData uri="http://schemas.openxmlformats.org/drawingml/2006/table">
            <a:tbl>
              <a:tblPr/>
              <a:tblGrid>
                <a:gridCol w="1302120"/>
                <a:gridCol w="1302120"/>
                <a:gridCol w="1302120"/>
                <a:gridCol w="1302120"/>
                <a:gridCol w="1302120"/>
              </a:tblGrid>
              <a:tr h="26856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Photo</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Type</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Dimension</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DLR(sec)</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Wrap_affine(sec)</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5524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5am</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3024 x 4032</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1.972</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2.210</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4444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Landscape</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1200 x 1200</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0.863</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0.972</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8692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Kurseong</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4160 x 2339</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1.024</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1.286</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6784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Church</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4032 x 2268</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1.563</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1.612</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6604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Mountain</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4096 x 2303</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1.391</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1.564</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r h="268560">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Down Hill</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Color</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2268 x 4032</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1.568</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c>
                  <a:txBody>
                    <a:bodyPr lIns="68400" rIns="68400" tIns="0" bIns="0" anchor="ctr">
                      <a:noAutofit/>
                    </a:bodyPr>
                    <a:p>
                      <a:pPr marL="68760" algn="ctr">
                        <a:lnSpc>
                          <a:spcPct val="100000"/>
                        </a:lnSpc>
                        <a:tabLst>
                          <a:tab algn="l" pos="0"/>
                        </a:tabLst>
                      </a:pPr>
                      <a:r>
                        <a:rPr b="0" lang="en-US" sz="1100" strike="noStrike" u="none">
                          <a:solidFill>
                            <a:schemeClr val="dk1"/>
                          </a:solidFill>
                          <a:uFillTx/>
                          <a:latin typeface="Arial"/>
                          <a:ea typeface="Arial"/>
                        </a:rPr>
                        <a:t>1.653</a:t>
                      </a:r>
                      <a:endParaRPr b="0" lang="en-US" sz="1100" strike="noStrike" u="none">
                        <a:solidFill>
                          <a:srgbClr val="ffffff"/>
                        </a:solidFill>
                        <a:uFillTx/>
                        <a:latin typeface="Arial"/>
                      </a:endParaRPr>
                    </a:p>
                  </a:txBody>
                  <a:tcPr anchor="ctr" marL="68400" marR="68400">
                    <a:lnL w="12240">
                      <a:solidFill>
                        <a:srgbClr val="009688"/>
                      </a:solidFill>
                      <a:prstDash val="solid"/>
                    </a:lnL>
                    <a:lnR w="12240">
                      <a:solidFill>
                        <a:srgbClr val="009688"/>
                      </a:solidFill>
                      <a:prstDash val="solid"/>
                    </a:lnR>
                    <a:lnT w="12240">
                      <a:solidFill>
                        <a:srgbClr val="009688"/>
                      </a:solidFill>
                      <a:prstDash val="solid"/>
                    </a:lnT>
                    <a:lnB w="12240">
                      <a:solidFill>
                        <a:srgbClr val="009688"/>
                      </a:solidFill>
                      <a:prstDash val="solid"/>
                    </a:lnB>
                    <a:noFill/>
                  </a:tcPr>
                </a:tc>
              </a:tr>
            </a:tbl>
          </a:graphicData>
        </a:graphic>
      </p:graphicFrame>
      <p:sp>
        <p:nvSpPr>
          <p:cNvPr id="484" name="Google Shape;211;p6"/>
          <p:cNvSpPr/>
          <p:nvPr/>
        </p:nvSpPr>
        <p:spPr>
          <a:xfrm>
            <a:off x="0" y="105120"/>
            <a:ext cx="168840" cy="4820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485" name="Google Shape;213;p6"/>
          <p:cNvSpPr/>
          <p:nvPr/>
        </p:nvSpPr>
        <p:spPr>
          <a:xfrm>
            <a:off x="237960" y="105120"/>
            <a:ext cx="74880" cy="48204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486" name="Google Shape;215;p6"/>
          <p:cNvSpPr/>
          <p:nvPr/>
        </p:nvSpPr>
        <p:spPr>
          <a:xfrm>
            <a:off x="106200" y="732240"/>
            <a:ext cx="12191760" cy="487440"/>
          </a:xfrm>
          <a:prstGeom prst="rect">
            <a:avLst/>
          </a:prstGeom>
          <a:solidFill>
            <a:srgbClr val="f2f2f2"/>
          </a:solidFill>
          <a:ln w="0">
            <a:noFill/>
          </a:ln>
          <a:effectLst>
            <a:outerShdw algn="t" blurRad="50760" dir="5400000" dist="38160" rotWithShape="0">
              <a:srgbClr val="000000">
                <a:alpha val="40000"/>
              </a:srgbClr>
            </a:outerShdw>
          </a:effectLst>
        </p:spPr>
        <p:style>
          <a:lnRef idx="0"/>
          <a:fillRef idx="0"/>
          <a:effectRef idx="0"/>
          <a:fontRef idx="minor"/>
        </p:style>
        <p:txBody>
          <a:bodyPr anchor="t">
            <a:spAutoFit/>
          </a:bodyPr>
          <a:p>
            <a:pPr marL="127080" algn="just">
              <a:lnSpc>
                <a:spcPct val="100000"/>
              </a:lnSpc>
              <a:tabLst>
                <a:tab algn="l" pos="0"/>
              </a:tabLst>
            </a:pPr>
            <a:endParaRPr b="0" lang="en-US" sz="1400" strike="noStrike" u="none">
              <a:solidFill>
                <a:srgbClr val="000000"/>
              </a:solidFill>
              <a:uFillTx/>
              <a:latin typeface="Arial"/>
            </a:endParaRPr>
          </a:p>
          <a:p>
            <a:pPr algn="just">
              <a:lnSpc>
                <a:spcPct val="100000"/>
              </a:lnSpc>
              <a:tabLst>
                <a:tab algn="l" pos="0"/>
              </a:tabLst>
            </a:pPr>
            <a:r>
              <a:rPr b="0" lang="en-IN" sz="1200" strike="noStrike" u="none">
                <a:solidFill>
                  <a:srgbClr val="0e4094"/>
                </a:solidFill>
                <a:uFillTx/>
                <a:latin typeface="Calibri"/>
                <a:ea typeface="Calibri"/>
              </a:rPr>
              <a:t>    </a:t>
            </a:r>
            <a:endParaRPr b="0" lang="en-US" sz="1200" strike="noStrike" u="none">
              <a:solidFill>
                <a:srgbClr val="000000"/>
              </a:solidFill>
              <a:uFillTx/>
              <a:latin typeface="Arial"/>
            </a:endParaRPr>
          </a:p>
        </p:txBody>
      </p:sp>
      <p:pic>
        <p:nvPicPr>
          <p:cNvPr id="487" name="Google Shape;214;p6" descr=""/>
          <p:cNvPicPr/>
          <p:nvPr/>
        </p:nvPicPr>
        <p:blipFill>
          <a:blip r:embed="rId1"/>
          <a:srcRect l="4529" t="20257" r="4160" b="26835"/>
          <a:stretch/>
        </p:blipFill>
        <p:spPr>
          <a:xfrm>
            <a:off x="10942200" y="105120"/>
            <a:ext cx="1249560" cy="474480"/>
          </a:xfrm>
          <a:prstGeom prst="rect">
            <a:avLst/>
          </a:prstGeom>
          <a:ln w="0">
            <a:noFill/>
          </a:ln>
        </p:spPr>
      </p:pic>
      <p:sp>
        <p:nvSpPr>
          <p:cNvPr id="488" name="Title 26"/>
          <p:cNvSpPr/>
          <p:nvPr/>
        </p:nvSpPr>
        <p:spPr>
          <a:xfrm>
            <a:off x="381600" y="104760"/>
            <a:ext cx="9832680" cy="548280"/>
          </a:xfrm>
          <a:prstGeom prst="rect">
            <a:avLst/>
          </a:prstGeom>
          <a:noFill/>
          <a:ln w="0">
            <a:noFill/>
          </a:ln>
        </p:spPr>
        <p:style>
          <a:lnRef idx="0"/>
          <a:fillRef idx="0"/>
          <a:effectRef idx="0"/>
          <a:fontRef idx="minor"/>
        </p:style>
        <p:txBody>
          <a:bodyPr anchor="b">
            <a:normAutofit/>
          </a:bodyPr>
          <a:p>
            <a:pPr>
              <a:lnSpc>
                <a:spcPct val="90000"/>
              </a:lnSpc>
            </a:pPr>
            <a:r>
              <a:rPr b="0" lang="en-US" sz="3200" strike="noStrike" u="none">
                <a:solidFill>
                  <a:schemeClr val="dk1"/>
                </a:solidFill>
                <a:uFillTx/>
                <a:latin typeface="Calibri"/>
                <a:ea typeface="Calibri"/>
              </a:rPr>
              <a:t>Comparison of DLR approach with Wrap Affine</a:t>
            </a:r>
            <a:endParaRPr b="0" lang="en-US" sz="3200" strike="noStrike" u="none">
              <a:solidFill>
                <a:srgbClr val="ffffff"/>
              </a:solidFill>
              <a:uFillTx/>
              <a:latin typeface="Arial"/>
            </a:endParaRPr>
          </a:p>
        </p:txBody>
      </p:sp>
      <p:pic>
        <p:nvPicPr>
          <p:cNvPr id="489" name="Picture 9" descr="landscape"/>
          <p:cNvPicPr/>
          <p:nvPr/>
        </p:nvPicPr>
        <p:blipFill>
          <a:blip r:embed="rId2"/>
          <a:stretch/>
        </p:blipFill>
        <p:spPr>
          <a:xfrm>
            <a:off x="1534320" y="1301040"/>
            <a:ext cx="2246760" cy="2063880"/>
          </a:xfrm>
          <a:prstGeom prst="rect">
            <a:avLst/>
          </a:prstGeom>
          <a:ln w="0">
            <a:noFill/>
          </a:ln>
        </p:spPr>
      </p:pic>
      <p:pic>
        <p:nvPicPr>
          <p:cNvPr id="490" name="Picture 10" descr="landscape_output_130"/>
          <p:cNvPicPr/>
          <p:nvPr/>
        </p:nvPicPr>
        <p:blipFill>
          <a:blip r:embed="rId3"/>
          <a:stretch/>
        </p:blipFill>
        <p:spPr>
          <a:xfrm>
            <a:off x="4772160" y="1301040"/>
            <a:ext cx="2089440" cy="2089440"/>
          </a:xfrm>
          <a:prstGeom prst="rect">
            <a:avLst/>
          </a:prstGeom>
          <a:ln w="0">
            <a:noFill/>
          </a:ln>
        </p:spPr>
      </p:pic>
      <p:sp>
        <p:nvSpPr>
          <p:cNvPr id="491" name="Text Box 11"/>
          <p:cNvSpPr/>
          <p:nvPr/>
        </p:nvSpPr>
        <p:spPr>
          <a:xfrm>
            <a:off x="2104560" y="3444120"/>
            <a:ext cx="176292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Landscape</a:t>
            </a:r>
            <a:endParaRPr b="0" lang="en-US" sz="1400" strike="noStrike" u="none">
              <a:solidFill>
                <a:srgbClr val="ffffff"/>
              </a:solidFill>
              <a:uFillTx/>
              <a:latin typeface="Arial"/>
            </a:endParaRPr>
          </a:p>
        </p:txBody>
      </p:sp>
      <p:sp>
        <p:nvSpPr>
          <p:cNvPr id="492" name="Text Box 14"/>
          <p:cNvSpPr/>
          <p:nvPr/>
        </p:nvSpPr>
        <p:spPr>
          <a:xfrm>
            <a:off x="4935240" y="3469680"/>
            <a:ext cx="176292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chemeClr val="dk1">
                    <a:lumMod val="85000"/>
                  </a:schemeClr>
                </a:solidFill>
                <a:uFillTx/>
                <a:latin typeface="Arial"/>
                <a:ea typeface="Arial"/>
              </a:rPr>
              <a:t>Rotated Landscape</a:t>
            </a:r>
            <a:endParaRPr b="0" lang="en-US" sz="1400" strike="noStrike" u="none">
              <a:solidFill>
                <a:srgbClr val="ffffff"/>
              </a:solidFill>
              <a:uFillTx/>
              <a:latin typeface="Arial"/>
            </a:endParaRPr>
          </a:p>
        </p:txBody>
      </p:sp>
      <p:sp>
        <p:nvSpPr>
          <p:cNvPr id="493" name="Text Box 15"/>
          <p:cNvSpPr/>
          <p:nvPr/>
        </p:nvSpPr>
        <p:spPr>
          <a:xfrm>
            <a:off x="9146520" y="4961880"/>
            <a:ext cx="4063680" cy="306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trike="noStrike" u="none">
              <a:solidFill>
                <a:srgbClr val="000000"/>
              </a:solidFill>
              <a:uFillTx/>
              <a:latin typeface="Arial"/>
              <a:ea typeface="Arial"/>
            </a:endParaRPr>
          </a:p>
        </p:txBody>
      </p:sp>
      <p:sp>
        <p:nvSpPr>
          <p:cNvPr id="494" name="Text Placeholder 27"/>
          <p:cNvSpPr/>
          <p:nvPr/>
        </p:nvSpPr>
        <p:spPr>
          <a:xfrm>
            <a:off x="7499520" y="4681800"/>
            <a:ext cx="4218480" cy="866520"/>
          </a:xfrm>
          <a:prstGeom prst="rect">
            <a:avLst/>
          </a:prstGeom>
          <a:noFill/>
          <a:ln w="0">
            <a:noFill/>
          </a:ln>
        </p:spPr>
        <p:style>
          <a:lnRef idx="0"/>
          <a:fillRef idx="0"/>
          <a:effectRef idx="0"/>
          <a:fontRef idx="minor"/>
        </p:style>
        <p:txBody>
          <a:bodyPr anchor="t">
            <a:normAutofit fontScale="92500" lnSpcReduction="9999"/>
          </a:bodyPr>
          <a:p>
            <a:pPr marL="457200" indent="-228600">
              <a:lnSpc>
                <a:spcPct val="90000"/>
              </a:lnSpc>
              <a:spcBef>
                <a:spcPts val="1001"/>
              </a:spcBef>
              <a:tabLst>
                <a:tab algn="l" pos="0"/>
              </a:tabLst>
            </a:pPr>
            <a:r>
              <a:rPr b="0" lang="en-US" sz="1800" strike="noStrike" u="none">
                <a:solidFill>
                  <a:schemeClr val="dk1"/>
                </a:solidFill>
                <a:uFillTx/>
                <a:latin typeface="Calibri"/>
                <a:ea typeface="Calibri"/>
              </a:rPr>
              <a:t>Average for DLR approach is  </a:t>
            </a:r>
            <a:r>
              <a:rPr b="0" lang="en-US" sz="1800" strike="noStrike" u="none">
                <a:solidFill>
                  <a:srgbClr val="ff0000"/>
                </a:solidFill>
                <a:uFillTx/>
                <a:latin typeface="Calibri"/>
                <a:ea typeface="Calibri"/>
              </a:rPr>
              <a:t>1.396 sec</a:t>
            </a:r>
            <a:endParaRPr b="0" lang="en-US" sz="1800" strike="noStrike" u="none">
              <a:solidFill>
                <a:srgbClr val="ffffff"/>
              </a:solidFill>
              <a:uFillTx/>
              <a:latin typeface="Arial"/>
            </a:endParaRPr>
          </a:p>
          <a:p>
            <a:pPr marL="457200" indent="-228600">
              <a:lnSpc>
                <a:spcPct val="90000"/>
              </a:lnSpc>
              <a:spcBef>
                <a:spcPts val="1001"/>
              </a:spcBef>
              <a:tabLst>
                <a:tab algn="l" pos="0"/>
              </a:tabLst>
            </a:pPr>
            <a:r>
              <a:rPr b="0" lang="en-US" sz="1800" strike="noStrike" u="none">
                <a:solidFill>
                  <a:schemeClr val="dk1"/>
                </a:solidFill>
                <a:uFillTx/>
                <a:latin typeface="Calibri"/>
                <a:ea typeface="Calibri"/>
              </a:rPr>
              <a:t>Average for Wrap_affine  is  </a:t>
            </a:r>
            <a:r>
              <a:rPr b="0" lang="en-US" sz="1800" strike="noStrike" u="none">
                <a:solidFill>
                  <a:srgbClr val="ff0000"/>
                </a:solidFill>
                <a:uFillTx/>
                <a:latin typeface="Calibri"/>
                <a:ea typeface="Calibri"/>
              </a:rPr>
              <a:t>1.549 sec</a:t>
            </a:r>
            <a:endParaRPr b="0" lang="en-US"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415440" y="2130840"/>
            <a:ext cx="11360520" cy="1579320"/>
          </a:xfrm>
          <a:prstGeom prst="rect">
            <a:avLst/>
          </a:prstGeom>
          <a:noFill/>
          <a:ln w="0">
            <a:noFill/>
          </a:ln>
        </p:spPr>
        <p:txBody>
          <a:bodyPr lIns="91440" rIns="91440" tIns="91440" bIns="91440" anchor="b">
            <a:noAutofit/>
          </a:bodyPr>
          <a:p>
            <a:pPr indent="0">
              <a:lnSpc>
                <a:spcPct val="100000"/>
              </a:lnSpc>
              <a:buNone/>
              <a:tabLst>
                <a:tab algn="l" pos="0"/>
              </a:tabLst>
            </a:pPr>
            <a:r>
              <a:rPr b="0" lang="en" sz="4670" strike="noStrike" u="none">
                <a:solidFill>
                  <a:schemeClr val="dk1"/>
                </a:solidFill>
                <a:uFillTx/>
                <a:latin typeface="Arial"/>
                <a:ea typeface="Arial"/>
              </a:rPr>
              <a:t>Final Results: Existing and Current Algorithms</a:t>
            </a:r>
            <a:endParaRPr b="0" lang="en-US" sz="4670" strike="noStrike" u="none">
              <a:solidFill>
                <a:srgbClr val="000000"/>
              </a:solidFill>
              <a:uFillTx/>
              <a:latin typeface="Arial"/>
            </a:endParaRPr>
          </a:p>
        </p:txBody>
      </p:sp>
      <p:sp>
        <p:nvSpPr>
          <p:cNvPr id="496" name="PlaceHolder 2"/>
          <p:cNvSpPr>
            <a:spLocks noGrp="1"/>
          </p:cNvSpPr>
          <p:nvPr>
            <p:ph type="subTitle"/>
          </p:nvPr>
        </p:nvSpPr>
        <p:spPr>
          <a:xfrm>
            <a:off x="415440" y="3533040"/>
            <a:ext cx="11360520" cy="836280"/>
          </a:xfrm>
          <a:prstGeom prst="rect">
            <a:avLst/>
          </a:prstGeom>
          <a:noFill/>
          <a:ln w="0">
            <a:noFill/>
          </a:ln>
        </p:spPr>
        <p:txBody>
          <a:bodyPr lIns="91440" rIns="91440" tIns="91440" bIns="91440" anchor="t">
            <a:noAutofit/>
          </a:bodyPr>
          <a:p>
            <a:pPr indent="0">
              <a:lnSpc>
                <a:spcPct val="100000"/>
              </a:lnSpc>
              <a:buNone/>
              <a:tabLst>
                <a:tab algn="l" pos="0"/>
              </a:tabLst>
            </a:pPr>
            <a:r>
              <a:rPr b="0" lang="en" sz="3740" strike="noStrike" u="none">
                <a:solidFill>
                  <a:schemeClr val="lt2"/>
                </a:solidFill>
                <a:uFillTx/>
                <a:latin typeface="Arial"/>
                <a:ea typeface="Arial"/>
              </a:rPr>
              <a:t>Worklet: 24VI24KIIT</a:t>
            </a:r>
            <a:endParaRPr b="0" lang="en-US" sz="3740" strike="noStrike" u="none">
              <a:solidFill>
                <a:srgbClr val="ffffff"/>
              </a:solidFill>
              <a:uFillTx/>
              <a:latin typeface="Arial"/>
            </a:endParaRPr>
          </a:p>
        </p:txBody>
      </p:sp>
      <p:sp>
        <p:nvSpPr>
          <p:cNvPr id="497" name="PlaceHolder 3"/>
          <p:cNvSpPr>
            <a:spLocks noGrp="1"/>
          </p:cNvSpPr>
          <p:nvPr>
            <p:ph type="subTitle"/>
          </p:nvPr>
        </p:nvSpPr>
        <p:spPr>
          <a:xfrm>
            <a:off x="0" y="6002280"/>
            <a:ext cx="3352320" cy="579240"/>
          </a:xfrm>
          <a:prstGeom prst="rect">
            <a:avLst/>
          </a:prstGeom>
          <a:noFill/>
          <a:ln w="0">
            <a:noFill/>
          </a:ln>
        </p:spPr>
        <p:txBody>
          <a:bodyPr lIns="91440" rIns="91440" tIns="91440" bIns="91440" anchor="ctr">
            <a:noAutofit/>
          </a:bodyPr>
          <a:p>
            <a:pPr indent="0">
              <a:lnSpc>
                <a:spcPct val="100000"/>
              </a:lnSpc>
              <a:buNone/>
              <a:tabLst>
                <a:tab algn="l" pos="0"/>
              </a:tabLst>
            </a:pPr>
            <a:r>
              <a:rPr b="0" lang="en" sz="2660" strike="noStrike" u="none">
                <a:solidFill>
                  <a:schemeClr val="lt2"/>
                </a:solidFill>
                <a:uFillTx/>
                <a:latin typeface="Arial"/>
                <a:ea typeface="Arial"/>
              </a:rPr>
              <a:t>Dhrubajyoti Mandal</a:t>
            </a:r>
            <a:endParaRPr b="0" lang="en-US" sz="2660" strike="noStrike" u="none">
              <a:solidFill>
                <a:srgbClr val="ffffff"/>
              </a:solidFill>
              <a:uFillTx/>
              <a:latin typeface="Arial"/>
            </a:endParaRPr>
          </a:p>
        </p:txBody>
      </p:sp>
      <p:sp>
        <p:nvSpPr>
          <p:cNvPr id="498" name="PlaceHolder 4"/>
          <p:cNvSpPr>
            <a:spLocks noGrp="1"/>
          </p:cNvSpPr>
          <p:nvPr>
            <p:ph type="subTitle"/>
          </p:nvPr>
        </p:nvSpPr>
        <p:spPr>
          <a:xfrm>
            <a:off x="8837640" y="6002280"/>
            <a:ext cx="3354120" cy="57924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60" strike="noStrike" u="none">
                <a:solidFill>
                  <a:schemeClr val="lt2"/>
                </a:solidFill>
                <a:uFillTx/>
                <a:latin typeface="Arial"/>
                <a:ea typeface="Arial"/>
              </a:rPr>
              <a:t>Jul 04, 2024</a:t>
            </a:r>
            <a:endParaRPr b="0" lang="en-US" sz="2660" strike="noStrike" u="none">
              <a:solidFill>
                <a:srgbClr val="ffffff"/>
              </a:solidFill>
              <a:uFillTx/>
              <a:latin typeface="Arial"/>
            </a:endParaRPr>
          </a:p>
        </p:txBody>
      </p:sp>
      <p:pic>
        <p:nvPicPr>
          <p:cNvPr id="499" name="Google Shape;405;p54"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Benchmark vs Current Algorithm</a:t>
            </a:r>
            <a:endParaRPr b="0" lang="en-US" sz="4000" strike="noStrike" u="none">
              <a:solidFill>
                <a:srgbClr val="000000"/>
              </a:solidFill>
              <a:uFillTx/>
              <a:latin typeface="Arial"/>
            </a:endParaRPr>
          </a:p>
        </p:txBody>
      </p:sp>
      <p:sp>
        <p:nvSpPr>
          <p:cNvPr id="501" name="PlaceHolder 2"/>
          <p:cNvSpPr>
            <a:spLocks noGrp="1"/>
          </p:cNvSpPr>
          <p:nvPr>
            <p:ph type="subTitle"/>
          </p:nvPr>
        </p:nvSpPr>
        <p:spPr>
          <a:xfrm>
            <a:off x="369000" y="2021400"/>
            <a:ext cx="8880120" cy="118116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The key difference lies in the overall amount of computations performed. As claimed by DLR, the number of compute intensive computations is significantly reduced in the case of DLR, giving it the massive speed boost.</a:t>
            </a:r>
            <a:endParaRPr b="0" lang="en-US" sz="1870" strike="noStrike" u="none">
              <a:solidFill>
                <a:srgbClr val="ffffff"/>
              </a:solidFill>
              <a:uFillTx/>
              <a:latin typeface="Arial"/>
            </a:endParaRPr>
          </a:p>
        </p:txBody>
      </p:sp>
      <p:sp>
        <p:nvSpPr>
          <p:cNvPr id="502" name="PlaceHolder 3"/>
          <p:cNvSpPr>
            <a:spLocks noGrp="1"/>
          </p:cNvSpPr>
          <p:nvPr>
            <p:ph type="subTitle"/>
          </p:nvPr>
        </p:nvSpPr>
        <p:spPr>
          <a:xfrm>
            <a:off x="0" y="5627520"/>
            <a:ext cx="8880120" cy="774360"/>
          </a:xfrm>
          <a:prstGeom prst="rect">
            <a:avLst/>
          </a:prstGeom>
          <a:noFill/>
          <a:ln w="0">
            <a:noFill/>
          </a:ln>
        </p:spPr>
        <p:txBody>
          <a:bodyPr lIns="91440" rIns="91440" tIns="91440" bIns="91440" anchor="t">
            <a:noAutofit/>
          </a:bodyPr>
          <a:p>
            <a:pPr indent="0">
              <a:lnSpc>
                <a:spcPct val="100000"/>
              </a:lnSpc>
              <a:buNone/>
              <a:tabLst>
                <a:tab algn="l" pos="0"/>
              </a:tabLst>
            </a:pPr>
            <a:r>
              <a:rPr b="1" lang="en" sz="1470" strike="noStrike" u="none">
                <a:solidFill>
                  <a:schemeClr val="lt2"/>
                </a:solidFill>
                <a:uFillTx/>
                <a:latin typeface="Arial"/>
                <a:ea typeface="Arial"/>
              </a:rPr>
              <a:t>Note: </a:t>
            </a:r>
            <a:r>
              <a:rPr b="0" lang="en" sz="1470" strike="noStrike" u="none">
                <a:solidFill>
                  <a:schemeClr val="lt2"/>
                </a:solidFill>
                <a:uFillTx/>
                <a:latin typeface="Arial"/>
                <a:ea typeface="Arial"/>
              </a:rPr>
              <a:t>The above data holds true if we’re ignoring the one time calculations (which are common to both cases, such as the calculation of the size of the image, etc.)</a:t>
            </a:r>
            <a:endParaRPr b="0" lang="en-US" sz="1470" strike="noStrike" u="none">
              <a:solidFill>
                <a:srgbClr val="ffffff"/>
              </a:solidFill>
              <a:uFillTx/>
              <a:latin typeface="Arial"/>
            </a:endParaRPr>
          </a:p>
        </p:txBody>
      </p:sp>
      <p:pic>
        <p:nvPicPr>
          <p:cNvPr id="503" name="Google Shape;413;p55" descr=""/>
          <p:cNvPicPr/>
          <p:nvPr/>
        </p:nvPicPr>
        <p:blipFill>
          <a:blip r:embed="rId1"/>
          <a:stretch/>
        </p:blipFill>
        <p:spPr>
          <a:xfrm>
            <a:off x="10214640" y="95760"/>
            <a:ext cx="1812960" cy="664560"/>
          </a:xfrm>
          <a:prstGeom prst="rect">
            <a:avLst/>
          </a:prstGeom>
          <a:ln w="0">
            <a:noFill/>
          </a:ln>
        </p:spPr>
      </p:pic>
      <p:graphicFrame>
        <p:nvGraphicFramePr>
          <p:cNvPr id="504" name="Google Shape;415;p55"/>
          <p:cNvGraphicFramePr/>
          <p:nvPr/>
        </p:nvGraphicFramePr>
        <p:xfrm>
          <a:off x="527400" y="3246120"/>
          <a:ext cx="9856440" cy="1928520"/>
        </p:xfrm>
        <a:graphic>
          <a:graphicData uri="http://schemas.openxmlformats.org/drawingml/2006/table">
            <a:tbl>
              <a:tblPr/>
              <a:tblGrid>
                <a:gridCol w="3285360"/>
                <a:gridCol w="3285360"/>
                <a:gridCol w="3285360"/>
              </a:tblGrid>
              <a:tr h="507960">
                <a:tc>
                  <a:txBody>
                    <a:bodyPr lIns="91080" rIns="91080" tIns="91080" bIns="91080" anchor="t">
                      <a:noAutofit/>
                    </a:bodyPr>
                    <a:p>
                      <a:pPr>
                        <a:lnSpc>
                          <a:spcPct val="100000"/>
                        </a:lnSpc>
                        <a:tabLst>
                          <a:tab algn="l" pos="0"/>
                        </a:tabLst>
                      </a:pPr>
                      <a:r>
                        <a:rPr b="0" lang="en" sz="1870" strike="noStrike" u="none">
                          <a:solidFill>
                            <a:schemeClr val="accent2"/>
                          </a:solidFill>
                          <a:uFillTx/>
                          <a:latin typeface="Arial"/>
                          <a:ea typeface="Arial"/>
                        </a:rPr>
                        <a:t>Algorithm</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accent2"/>
                          </a:solidFill>
                          <a:uFillTx/>
                          <a:latin typeface="Arial"/>
                          <a:ea typeface="Arial"/>
                        </a:rPr>
                        <a:t># float multiplications</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accent2"/>
                          </a:solidFill>
                          <a:uFillTx/>
                          <a:latin typeface="Arial"/>
                          <a:ea typeface="Arial"/>
                        </a:rPr>
                        <a:t># float additions/subtractions</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507960">
                <a:tc>
                  <a:txBody>
                    <a:bodyPr lIns="91080" rIns="91080" tIns="91080" bIns="91080" anchor="t">
                      <a:noAutofit/>
                    </a:bodyPr>
                    <a:p>
                      <a:pPr>
                        <a:lnSpc>
                          <a:spcPct val="100000"/>
                        </a:lnSpc>
                        <a:tabLst>
                          <a:tab algn="l" pos="0"/>
                        </a:tabLst>
                      </a:pPr>
                      <a:r>
                        <a:rPr b="0" lang="en" sz="1870" strike="noStrike" u="none">
                          <a:solidFill>
                            <a:schemeClr val="accent2"/>
                          </a:solidFill>
                          <a:uFillTx/>
                          <a:latin typeface="Arial"/>
                          <a:ea typeface="Arial"/>
                        </a:rPr>
                        <a:t>Benchmark (OpenCV warpAffine)</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lt2"/>
                          </a:solidFill>
                          <a:uFillTx/>
                          <a:latin typeface="Arial"/>
                          <a:ea typeface="Arial"/>
                        </a:rPr>
                        <a:t>4 * mrt * nrt</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lt2"/>
                          </a:solidFill>
                          <a:uFillTx/>
                          <a:latin typeface="Arial"/>
                          <a:ea typeface="Arial"/>
                        </a:rPr>
                        <a:t>6 * mrt * nrt</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507960">
                <a:tc>
                  <a:txBody>
                    <a:bodyPr lIns="91080" rIns="91080" tIns="91080" bIns="91080" anchor="t">
                      <a:noAutofit/>
                    </a:bodyPr>
                    <a:p>
                      <a:pPr>
                        <a:lnSpc>
                          <a:spcPct val="100000"/>
                        </a:lnSpc>
                        <a:tabLst>
                          <a:tab algn="l" pos="0"/>
                        </a:tabLst>
                      </a:pPr>
                      <a:r>
                        <a:rPr b="0" lang="en" sz="1870" strike="noStrike" u="none">
                          <a:solidFill>
                            <a:schemeClr val="accent2"/>
                          </a:solidFill>
                          <a:uFillTx/>
                          <a:latin typeface="Arial"/>
                          <a:ea typeface="Arial"/>
                        </a:rPr>
                        <a:t>Modified DLR</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lt2"/>
                          </a:solidFill>
                          <a:uFillTx/>
                          <a:latin typeface="Arial"/>
                          <a:ea typeface="Arial"/>
                        </a:rPr>
                        <a:t>m cos(ɑ) </a:t>
                      </a:r>
                      <a:r>
                        <a:rPr b="0" i="1" lang="en" sz="1870" strike="noStrike" u="none">
                          <a:solidFill>
                            <a:schemeClr val="lt2"/>
                          </a:solidFill>
                          <a:uFillTx/>
                          <a:latin typeface="Arial"/>
                          <a:ea typeface="Arial"/>
                        </a:rPr>
                        <a:t>or</a:t>
                      </a:r>
                      <a:br>
                        <a:rPr sz="1870"/>
                      </a:br>
                      <a:r>
                        <a:rPr b="0" lang="en" sz="1870" strike="noStrike" u="none">
                          <a:solidFill>
                            <a:schemeClr val="lt2"/>
                          </a:solidFill>
                          <a:uFillTx/>
                          <a:latin typeface="Arial"/>
                          <a:ea typeface="Arial"/>
                        </a:rPr>
                        <a:t>n sin(ɑ)</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 sz="1870" strike="noStrike" u="none">
                          <a:solidFill>
                            <a:schemeClr val="lt2"/>
                          </a:solidFill>
                          <a:uFillTx/>
                          <a:latin typeface="Arial"/>
                          <a:ea typeface="Arial"/>
                        </a:rPr>
                        <a:t>m cos(ɑ) (4n + 1) </a:t>
                      </a:r>
                      <a:r>
                        <a:rPr b="0" i="1" lang="en" sz="1870" strike="noStrike" u="none">
                          <a:solidFill>
                            <a:schemeClr val="lt2"/>
                          </a:solidFill>
                          <a:uFillTx/>
                          <a:latin typeface="Arial"/>
                          <a:ea typeface="Arial"/>
                        </a:rPr>
                        <a:t>or</a:t>
                      </a:r>
                      <a:br>
                        <a:rPr sz="1870"/>
                      </a:br>
                      <a:r>
                        <a:rPr b="0" lang="en" sz="1870" strike="noStrike" u="none">
                          <a:solidFill>
                            <a:schemeClr val="lt2"/>
                          </a:solidFill>
                          <a:uFillTx/>
                          <a:latin typeface="Arial"/>
                          <a:ea typeface="Arial"/>
                        </a:rPr>
                        <a:t>n sin(ɑ) (4m + 1)</a:t>
                      </a:r>
                      <a:endParaRPr b="0" lang="en-US" sz="1870" strike="noStrike" u="none">
                        <a:solidFill>
                          <a:srgbClr val="ffffff"/>
                        </a:solidFill>
                        <a:uFillTx/>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Benchmark Algorithm</a:t>
            </a:r>
            <a:endParaRPr b="0" lang="en-US" sz="4000" strike="noStrike" u="none">
              <a:solidFill>
                <a:srgbClr val="000000"/>
              </a:solidFill>
              <a:uFillTx/>
              <a:latin typeface="Arial"/>
            </a:endParaRPr>
          </a:p>
        </p:txBody>
      </p:sp>
      <p:pic>
        <p:nvPicPr>
          <p:cNvPr id="506" name="Google Shape;422;p56" descr=""/>
          <p:cNvPicPr/>
          <p:nvPr/>
        </p:nvPicPr>
        <p:blipFill>
          <a:blip r:embed="rId1"/>
          <a:stretch/>
        </p:blipFill>
        <p:spPr>
          <a:xfrm>
            <a:off x="10214640" y="95760"/>
            <a:ext cx="1812960" cy="664560"/>
          </a:xfrm>
          <a:prstGeom prst="rect">
            <a:avLst/>
          </a:prstGeom>
          <a:ln w="0">
            <a:noFill/>
          </a:ln>
        </p:spPr>
      </p:pic>
      <p:sp>
        <p:nvSpPr>
          <p:cNvPr id="507" name="Google Shape;424;p56"/>
          <p:cNvSpPr/>
          <p:nvPr/>
        </p:nvSpPr>
        <p:spPr>
          <a:xfrm>
            <a:off x="604800" y="2090880"/>
            <a:ext cx="8724600" cy="38116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i="1" lang="en" sz="1400" strike="noStrike" u="none">
                <a:solidFill>
                  <a:srgbClr val="eed49f"/>
                </a:solidFill>
                <a:uFillTx/>
                <a:latin typeface="Courier New"/>
                <a:ea typeface="Courier New"/>
              </a:rPr>
              <a:t>Mat</a:t>
            </a:r>
            <a:r>
              <a:rPr b="0" lang="en" sz="1400" strike="noStrike" u="none">
                <a:solidFill>
                  <a:srgbClr val="cad3f5"/>
                </a:solidFill>
                <a:uFillTx/>
                <a:latin typeface="Courier New"/>
                <a:ea typeface="Courier New"/>
              </a:rPr>
              <a:t> img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imread</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argv</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rot_angle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stod</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argv</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3</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Point2f</a:t>
            </a:r>
            <a:r>
              <a:rPr b="0" lang="en" sz="1400" strike="noStrike" u="none">
                <a:solidFill>
                  <a:srgbClr val="cad3f5"/>
                </a:solidFill>
                <a:uFillTx/>
                <a:latin typeface="Courier New"/>
                <a:ea typeface="Courier New"/>
              </a:rPr>
              <a:t> </a:t>
            </a:r>
            <a:r>
              <a:rPr b="0" i="1" lang="en" sz="1400" strike="noStrike" u="none">
                <a:solidFill>
                  <a:srgbClr val="cad3f5"/>
                </a:solidFill>
                <a:uFillTx/>
                <a:latin typeface="Courier New"/>
                <a:ea typeface="Courier New"/>
              </a:rPr>
              <a:t>center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img</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img</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Mat</a:t>
            </a:r>
            <a:r>
              <a:rPr b="0" lang="en" sz="1400" strike="noStrike" u="none">
                <a:solidFill>
                  <a:srgbClr val="cad3f5"/>
                </a:solidFill>
                <a:uFillTx/>
                <a:latin typeface="Courier New"/>
                <a:ea typeface="Courier New"/>
              </a:rPr>
              <a:t> rotation_mat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getRotationMatrix2D</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center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rot_angle</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1.0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endParaRPr b="0" lang="en-US" sz="1400" strike="noStrike" u="none">
              <a:solidFill>
                <a:srgbClr val="ffffff"/>
              </a:solidFill>
              <a:uFillTx/>
              <a:latin typeface="Arial"/>
            </a:endParaRPr>
          </a:p>
          <a:p>
            <a:pPr>
              <a:lnSpc>
                <a:spcPct val="100000"/>
              </a:lnSpc>
              <a:tabLst>
                <a:tab algn="l" pos="0"/>
              </a:tabLst>
            </a:pPr>
            <a:r>
              <a:rPr b="0" i="1" lang="en" sz="1400" strike="noStrike" u="none">
                <a:solidFill>
                  <a:srgbClr val="6e738d"/>
                </a:solidFill>
                <a:uFillTx/>
                <a:latin typeface="Courier New"/>
                <a:ea typeface="Courier New"/>
              </a:rPr>
              <a:t>   </a:t>
            </a:r>
            <a:r>
              <a:rPr b="0" i="1" lang="en" sz="1400" strike="noStrike" u="none">
                <a:solidFill>
                  <a:srgbClr val="6e738d"/>
                </a:solidFill>
                <a:uFillTx/>
                <a:latin typeface="Courier New"/>
                <a:ea typeface="Courier New"/>
              </a:rPr>
              <a:t>// Calculate the size of the bounding box for the rotated image</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Rect2f</a:t>
            </a:r>
            <a:r>
              <a:rPr b="0" lang="en" sz="1400" strike="noStrike" u="none">
                <a:solidFill>
                  <a:srgbClr val="cad3f5"/>
                </a:solidFill>
                <a:uFillTx/>
                <a:latin typeface="Courier New"/>
                <a:ea typeface="Courier New"/>
              </a:rPr>
              <a:t> bbox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RotatedRect</a:t>
            </a:r>
            <a:r>
              <a:rPr b="0" lang="en" sz="1400" strike="noStrike" u="none">
                <a:solidFill>
                  <a:srgbClr val="939ab7"/>
                </a:solidFill>
                <a:uFillTx/>
                <a:latin typeface="Courier New"/>
                <a:ea typeface="Courier New"/>
              </a:rPr>
              <a:t>(</a:t>
            </a:r>
            <a:r>
              <a:rPr b="0" i="1" lang="en" sz="1400" strike="noStrike" u="none">
                <a:solidFill>
                  <a:srgbClr val="eed49f"/>
                </a:solidFill>
                <a:uFillTx/>
                <a:latin typeface="Courier New"/>
                <a:ea typeface="Courier New"/>
              </a:rPr>
              <a:t>Point2f</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img</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size()</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rot_angle</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boundingRect2f</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i="1" lang="en" sz="1400" strike="noStrike" u="none">
                <a:solidFill>
                  <a:srgbClr val="6e738d"/>
                </a:solidFill>
                <a:uFillTx/>
                <a:latin typeface="Courier New"/>
                <a:ea typeface="Courier New"/>
              </a:rPr>
              <a:t>   </a:t>
            </a:r>
            <a:r>
              <a:rPr b="0" i="1" lang="en" sz="1400" strike="noStrike" u="none">
                <a:solidFill>
                  <a:srgbClr val="6e738d"/>
                </a:solidFill>
                <a:uFillTx/>
                <a:latin typeface="Courier New"/>
                <a:ea typeface="Courier New"/>
              </a:rPr>
              <a:t>// Adjust the transformation matrix</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rotation_mat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at</a:t>
            </a:r>
            <a:r>
              <a:rPr b="0" lang="en" sz="1400" strike="noStrike" u="none">
                <a:solidFill>
                  <a:srgbClr val="8bd5ca"/>
                </a:solidFill>
                <a:uFillTx/>
                <a:latin typeface="Courier New"/>
                <a:ea typeface="Courier New"/>
              </a:rPr>
              <a:t>&lt;</a:t>
            </a:r>
            <a:r>
              <a:rPr b="0" lang="en" sz="1400" strike="noStrike" u="none">
                <a:solidFill>
                  <a:srgbClr val="c6a0f6"/>
                </a:solidFill>
                <a:uFillTx/>
                <a:latin typeface="Courier New"/>
                <a:ea typeface="Courier New"/>
              </a:rPr>
              <a:t>double</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bbox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width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img</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rotation_mat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at</a:t>
            </a:r>
            <a:r>
              <a:rPr b="0" lang="en" sz="1400" strike="noStrike" u="none">
                <a:solidFill>
                  <a:srgbClr val="8bd5ca"/>
                </a:solidFill>
                <a:uFillTx/>
                <a:latin typeface="Courier New"/>
                <a:ea typeface="Courier New"/>
              </a:rPr>
              <a:t>&lt;</a:t>
            </a:r>
            <a:r>
              <a:rPr b="0" lang="en" sz="1400" strike="noStrike" u="none">
                <a:solidFill>
                  <a:srgbClr val="c6a0f6"/>
                </a:solidFill>
                <a:uFillTx/>
                <a:latin typeface="Courier New"/>
                <a:ea typeface="Courier New"/>
              </a:rPr>
              <a:t>double</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bbox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height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img</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Mat</a:t>
            </a:r>
            <a:r>
              <a:rPr b="0" lang="en" sz="1400" strike="noStrike" u="none">
                <a:solidFill>
                  <a:srgbClr val="cad3f5"/>
                </a:solidFill>
                <a:uFillTx/>
                <a:latin typeface="Courier New"/>
                <a:ea typeface="Courier New"/>
              </a:rPr>
              <a:t> rotated</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warpAffine</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img</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rotated</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rotation_mat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bbox</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size</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Benchmark Algorithm</a:t>
            </a:r>
            <a:endParaRPr b="0" lang="en-US" sz="4000" strike="noStrike" u="none">
              <a:solidFill>
                <a:srgbClr val="000000"/>
              </a:solidFill>
              <a:uFillTx/>
              <a:latin typeface="Arial"/>
            </a:endParaRPr>
          </a:p>
        </p:txBody>
      </p:sp>
      <p:pic>
        <p:nvPicPr>
          <p:cNvPr id="509" name="Google Shape;430;p57" descr=""/>
          <p:cNvPicPr/>
          <p:nvPr/>
        </p:nvPicPr>
        <p:blipFill>
          <a:blip r:embed="rId1"/>
          <a:stretch/>
        </p:blipFill>
        <p:spPr>
          <a:xfrm>
            <a:off x="10214640" y="95760"/>
            <a:ext cx="1812960" cy="664560"/>
          </a:xfrm>
          <a:prstGeom prst="rect">
            <a:avLst/>
          </a:prstGeom>
          <a:ln w="0">
            <a:noFill/>
          </a:ln>
        </p:spPr>
      </p:pic>
      <p:sp>
        <p:nvSpPr>
          <p:cNvPr id="510" name="Google Shape;432;p57"/>
          <p:cNvSpPr/>
          <p:nvPr/>
        </p:nvSpPr>
        <p:spPr>
          <a:xfrm>
            <a:off x="632880" y="1993320"/>
            <a:ext cx="8164440" cy="4452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i="1" lang="en" sz="1400" strike="noStrike" u="none">
                <a:solidFill>
                  <a:srgbClr val="6e738d"/>
                </a:solidFill>
                <a:uFillTx/>
                <a:latin typeface="Courier New"/>
                <a:ea typeface="Courier New"/>
              </a:rPr>
              <a:t>// Calculate the size of the rotated image</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new_cols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static_cast&lt;</a:t>
            </a:r>
            <a:r>
              <a:rPr b="0" lang="en" sz="1400" strike="noStrike" u="none">
                <a:solidFill>
                  <a:srgbClr val="c6a0f6"/>
                </a:solidFill>
                <a:uFillTx/>
                <a:latin typeface="Courier New"/>
                <a:ea typeface="Courier New"/>
              </a:rPr>
              <a:t>int</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abs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abs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beta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new_rows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static_cast&lt;</a:t>
            </a:r>
            <a:r>
              <a:rPr b="0" lang="en" sz="1400" strike="noStrike" u="none">
                <a:solidFill>
                  <a:srgbClr val="c6a0f6"/>
                </a:solidFill>
                <a:uFillTx/>
                <a:latin typeface="Courier New"/>
                <a:ea typeface="Courier New"/>
              </a:rPr>
              <a:t>int</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abs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abs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beta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Mat</a:t>
            </a:r>
            <a:r>
              <a:rPr b="0" lang="en" sz="1400" strike="noStrike" u="none">
                <a:solidFill>
                  <a:srgbClr val="cad3f5"/>
                </a:solidFill>
                <a:uFillTx/>
                <a:latin typeface="Courier New"/>
                <a:ea typeface="Courier New"/>
              </a:rPr>
              <a:t> </a:t>
            </a:r>
            <a:r>
              <a:rPr b="0" i="1" lang="en" sz="1400" strike="noStrike" u="none">
                <a:solidFill>
                  <a:srgbClr val="cad3f5"/>
                </a:solidFill>
                <a:uFillTx/>
                <a:latin typeface="Courier New"/>
                <a:ea typeface="Courier New"/>
              </a:rPr>
              <a:t>rotated</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new_rows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new_cols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CV_8UC3</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d49f"/>
                </a:solidFill>
                <a:uFillTx/>
                <a:latin typeface="Courier New"/>
                <a:ea typeface="Courier New"/>
              </a:rPr>
              <a:t>Scalar</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c_x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c_y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new_c_x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new_cols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new_c_y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new_rows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2.0</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i="1" lang="en" sz="1400" strike="noStrike" u="none">
                <a:solidFill>
                  <a:srgbClr val="6e738d"/>
                </a:solidFill>
                <a:uFillTx/>
                <a:latin typeface="Courier New"/>
                <a:ea typeface="Courier New"/>
              </a:rPr>
              <a:t>   </a:t>
            </a:r>
            <a:r>
              <a:rPr b="0" i="1" lang="en" sz="1400" strike="noStrike" u="none">
                <a:solidFill>
                  <a:srgbClr val="6e738d"/>
                </a:solidFill>
                <a:uFillTx/>
                <a:latin typeface="Courier New"/>
                <a:ea typeface="Courier New"/>
              </a:rPr>
              <a:t>// Define matrix elements</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m11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m12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beta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m13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beta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c_x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new_c_x</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m21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beta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m22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double</a:t>
            </a:r>
            <a:r>
              <a:rPr b="0" lang="en" sz="1400" strike="noStrike" u="none">
                <a:solidFill>
                  <a:srgbClr val="cad3f5"/>
                </a:solidFill>
                <a:uFillTx/>
                <a:latin typeface="Courier New"/>
                <a:ea typeface="Courier New"/>
              </a:rPr>
              <a:t> m23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beta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alpha</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c_y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new_c_y</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i="1" lang="en" sz="1400" strike="noStrike" u="none">
                <a:solidFill>
                  <a:srgbClr val="6e738d"/>
                </a:solidFill>
                <a:uFillTx/>
                <a:latin typeface="Courier New"/>
                <a:ea typeface="Courier New"/>
              </a:rPr>
              <a:t>   </a:t>
            </a: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Benchmark Algorithm</a:t>
            </a:r>
            <a:endParaRPr b="0" lang="en-US" sz="4000" strike="noStrike" u="none">
              <a:solidFill>
                <a:srgbClr val="000000"/>
              </a:solidFill>
              <a:uFillTx/>
              <a:latin typeface="Arial"/>
            </a:endParaRPr>
          </a:p>
        </p:txBody>
      </p:sp>
      <p:pic>
        <p:nvPicPr>
          <p:cNvPr id="512" name="Google Shape;438;p58" descr=""/>
          <p:cNvPicPr/>
          <p:nvPr/>
        </p:nvPicPr>
        <p:blipFill>
          <a:blip r:embed="rId1"/>
          <a:stretch/>
        </p:blipFill>
        <p:spPr>
          <a:xfrm>
            <a:off x="10214640" y="95760"/>
            <a:ext cx="1812960" cy="664560"/>
          </a:xfrm>
          <a:prstGeom prst="rect">
            <a:avLst/>
          </a:prstGeom>
          <a:ln w="0">
            <a:noFill/>
          </a:ln>
        </p:spPr>
      </p:pic>
      <p:sp>
        <p:nvSpPr>
          <p:cNvPr id="513" name="Google Shape;440;p58"/>
          <p:cNvSpPr/>
          <p:nvPr/>
        </p:nvSpPr>
        <p:spPr>
          <a:xfrm>
            <a:off x="604800" y="2090880"/>
            <a:ext cx="7949880" cy="31712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i="1" lang="en" sz="1400" strike="noStrike" u="none">
                <a:solidFill>
                  <a:srgbClr val="6e738d"/>
                </a:solidFill>
                <a:uFillTx/>
                <a:latin typeface="Courier New"/>
                <a:ea typeface="Courier New"/>
              </a:rPr>
              <a:t>// Parallelize the loop using OpenMP</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eed49f"/>
                </a:solidFill>
                <a:uFillTx/>
                <a:latin typeface="Courier New"/>
                <a:ea typeface="Courier New"/>
              </a:rPr>
              <a:t>#pragma</a:t>
            </a:r>
            <a:r>
              <a:rPr b="0" lang="en" sz="1400" strike="noStrike" u="none">
                <a:solidFill>
                  <a:srgbClr val="cad3f5"/>
                </a:solidFill>
                <a:uFillTx/>
                <a:latin typeface="Courier New"/>
                <a:ea typeface="Courier New"/>
              </a:rPr>
              <a:t> </a:t>
            </a:r>
            <a:r>
              <a:rPr b="0" lang="en" sz="1400" strike="noStrike" u="none">
                <a:solidFill>
                  <a:srgbClr val="eed49f"/>
                </a:solidFill>
                <a:uFillTx/>
                <a:latin typeface="Courier New"/>
                <a:ea typeface="Courier New"/>
              </a:rPr>
              <a:t>omp</a:t>
            </a:r>
            <a:r>
              <a:rPr b="0" lang="en" sz="1400" strike="noStrike" u="none">
                <a:solidFill>
                  <a:srgbClr val="cad3f5"/>
                </a:solidFill>
                <a:uFillTx/>
                <a:latin typeface="Courier New"/>
                <a:ea typeface="Courier New"/>
              </a:rPr>
              <a:t> </a:t>
            </a:r>
            <a:r>
              <a:rPr b="0" lang="en" sz="1400" strike="noStrike" u="none">
                <a:solidFill>
                  <a:srgbClr val="eed49f"/>
                </a:solidFill>
                <a:uFillTx/>
                <a:latin typeface="Courier New"/>
                <a:ea typeface="Courier New"/>
              </a:rPr>
              <a:t>parallel</a:t>
            </a:r>
            <a:r>
              <a:rPr b="0" lang="en" sz="1400" strike="noStrike" u="none">
                <a:solidFill>
                  <a:srgbClr val="cad3f5"/>
                </a:solidFill>
                <a:uFillTx/>
                <a:latin typeface="Courier New"/>
                <a:ea typeface="Courier New"/>
              </a:rPr>
              <a:t> </a:t>
            </a:r>
            <a:r>
              <a:rPr b="0" lang="en" sz="1400" strike="noStrike" u="none">
                <a:solidFill>
                  <a:srgbClr val="eed49f"/>
                </a:solidFill>
                <a:uFillTx/>
                <a:latin typeface="Courier New"/>
                <a:ea typeface="Courier New"/>
              </a:rPr>
              <a:t>for</a:t>
            </a:r>
            <a:r>
              <a:rPr b="0" lang="en" sz="1400" strike="noStrike" u="none">
                <a:solidFill>
                  <a:srgbClr val="cad3f5"/>
                </a:solidFill>
                <a:uFillTx/>
                <a:latin typeface="Courier New"/>
                <a:ea typeface="Courier New"/>
              </a:rPr>
              <a:t> </a:t>
            </a:r>
            <a:r>
              <a:rPr b="0" lang="en" sz="1400" strike="noStrike" u="none">
                <a:solidFill>
                  <a:srgbClr val="eed49f"/>
                </a:solidFill>
                <a:uFillTx/>
                <a:latin typeface="Courier New"/>
                <a:ea typeface="Courier New"/>
              </a:rPr>
              <a:t>collapse</a:t>
            </a:r>
            <a:r>
              <a:rPr b="0" lang="en" sz="1400" strike="noStrike" u="none">
                <a:solidFill>
                  <a:srgbClr val="cad3f5"/>
                </a:solidFill>
                <a:uFillTx/>
                <a:latin typeface="Courier New"/>
                <a:ea typeface="Courier New"/>
              </a:rPr>
              <a:t>(2)</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y </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 new_rows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y</a:t>
            </a:r>
            <a:r>
              <a:rPr b="0" lang="en" sz="1400" strike="noStrike" u="none">
                <a:solidFill>
                  <a:srgbClr val="8bd5ca"/>
                </a:solidFill>
                <a:uFillTx/>
                <a:latin typeface="Courier New"/>
                <a:ea typeface="Courier New"/>
              </a:rPr>
              <a: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x </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 new_cols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x</a:t>
            </a:r>
            <a:r>
              <a:rPr b="0" lang="en" sz="1400" strike="noStrike" u="none">
                <a:solidFill>
                  <a:srgbClr val="8bd5ca"/>
                </a:solidFill>
                <a:uFillTx/>
                <a:latin typeface="Courier New"/>
                <a:ea typeface="Courier New"/>
              </a:rPr>
              <a: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x_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static_cast&lt;</a:t>
            </a:r>
            <a:r>
              <a:rPr b="0" lang="en" sz="1400" strike="noStrike" u="none">
                <a:solidFill>
                  <a:srgbClr val="c6a0f6"/>
                </a:solidFill>
                <a:uFillTx/>
                <a:latin typeface="Courier New"/>
                <a:ea typeface="Courier New"/>
              </a:rPr>
              <a:t>int</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round</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m11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m12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m13</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int</a:t>
            </a:r>
            <a:r>
              <a:rPr b="0" lang="en" sz="1400" strike="noStrike" u="none">
                <a:solidFill>
                  <a:srgbClr val="cad3f5"/>
                </a:solidFill>
                <a:uFillTx/>
                <a:latin typeface="Courier New"/>
                <a:ea typeface="Courier New"/>
              </a:rPr>
              <a:t> y_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static_cast&lt;</a:t>
            </a:r>
            <a:r>
              <a:rPr b="0" lang="en" sz="1400" strike="noStrike" u="none">
                <a:solidFill>
                  <a:srgbClr val="c6a0f6"/>
                </a:solidFill>
                <a:uFillTx/>
                <a:latin typeface="Courier New"/>
                <a:ea typeface="Courier New"/>
              </a:rPr>
              <a:t>int</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round</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m21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x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m22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y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m23</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if</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x_ </a:t>
            </a:r>
            <a:r>
              <a:rPr b="0" lang="en" sz="1400" strike="noStrike" u="none">
                <a:solidFill>
                  <a:srgbClr val="8bd5ca"/>
                </a:solidFill>
                <a:uFillTx/>
                <a:latin typeface="Courier New"/>
                <a:ea typeface="Courier New"/>
              </a:rPr>
              <a:t>&gt;=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&amp;&amp;</a:t>
            </a:r>
            <a:r>
              <a:rPr b="0" lang="en" sz="1400" strike="noStrike" u="none">
                <a:solidFill>
                  <a:srgbClr val="cad3f5"/>
                </a:solidFill>
                <a:uFillTx/>
                <a:latin typeface="Courier New"/>
                <a:ea typeface="Courier New"/>
              </a:rPr>
              <a:t> x_ </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 cols </a:t>
            </a:r>
            <a:r>
              <a:rPr b="0" lang="en" sz="1400" strike="noStrike" u="none">
                <a:solidFill>
                  <a:srgbClr val="8bd5ca"/>
                </a:solidFill>
                <a:uFillTx/>
                <a:latin typeface="Courier New"/>
                <a:ea typeface="Courier New"/>
              </a:rPr>
              <a:t>&amp;&amp;</a:t>
            </a:r>
            <a:r>
              <a:rPr b="0" lang="en" sz="1400" strike="noStrike" u="none">
                <a:solidFill>
                  <a:srgbClr val="cad3f5"/>
                </a:solidFill>
                <a:uFillTx/>
                <a:latin typeface="Courier New"/>
                <a:ea typeface="Courier New"/>
              </a:rPr>
              <a:t> y_ </a:t>
            </a:r>
            <a:r>
              <a:rPr b="0" lang="en" sz="1400" strike="noStrike" u="none">
                <a:solidFill>
                  <a:srgbClr val="8bd5ca"/>
                </a:solidFill>
                <a:uFillTx/>
                <a:latin typeface="Courier New"/>
                <a:ea typeface="Courier New"/>
              </a:rPr>
              <a:t>&gt;=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&amp;&amp;</a:t>
            </a:r>
            <a:r>
              <a:rPr b="0" lang="en" sz="1400" strike="noStrike" u="none">
                <a:solidFill>
                  <a:srgbClr val="cad3f5"/>
                </a:solidFill>
                <a:uFillTx/>
                <a:latin typeface="Courier New"/>
                <a:ea typeface="Courier New"/>
              </a:rPr>
              <a:t> y_ </a:t>
            </a:r>
            <a:r>
              <a:rPr b="0" lang="en" sz="1400" strike="noStrike" u="none">
                <a:solidFill>
                  <a:srgbClr val="8bd5ca"/>
                </a:solidFill>
                <a:uFillTx/>
                <a:latin typeface="Courier New"/>
                <a:ea typeface="Courier New"/>
              </a:rPr>
              <a:t>&lt;</a:t>
            </a:r>
            <a:r>
              <a:rPr b="0" lang="en" sz="1400" strike="noStrike" u="none">
                <a:solidFill>
                  <a:srgbClr val="cad3f5"/>
                </a:solidFill>
                <a:uFillTx/>
                <a:latin typeface="Courier New"/>
                <a:ea typeface="Courier New"/>
              </a:rPr>
              <a:t> rows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rotated</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at</a:t>
            </a:r>
            <a:r>
              <a:rPr b="0" lang="en" sz="1400" strike="noStrike" u="none">
                <a:solidFill>
                  <a:srgbClr val="8bd5ca"/>
                </a:solidFill>
                <a:uFillTx/>
                <a:latin typeface="Courier New"/>
                <a:ea typeface="Courier New"/>
              </a:rPr>
              <a:t>&lt;</a:t>
            </a:r>
            <a:r>
              <a:rPr b="0" i="1" lang="en" sz="1400" strike="noStrike" u="none">
                <a:solidFill>
                  <a:srgbClr val="eed49f"/>
                </a:solidFill>
                <a:uFillTx/>
                <a:latin typeface="Courier New"/>
                <a:ea typeface="Courier New"/>
              </a:rPr>
              <a:t>Vec3b</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y</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a:t>
            </a:r>
            <a:r>
              <a:rPr b="0" lang="en" sz="1400" strike="noStrike" u="none">
                <a:solidFill>
                  <a:srgbClr val="cad3f5"/>
                </a:solidFill>
                <a:uFillTx/>
                <a:latin typeface="Courier New"/>
                <a:ea typeface="Courier New"/>
              </a:rPr>
              <a:t> img</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at</a:t>
            </a:r>
            <a:r>
              <a:rPr b="0" lang="en" sz="1400" strike="noStrike" u="none">
                <a:solidFill>
                  <a:srgbClr val="8bd5ca"/>
                </a:solidFill>
                <a:uFillTx/>
                <a:latin typeface="Courier New"/>
                <a:ea typeface="Courier New"/>
              </a:rPr>
              <a:t>&lt;</a:t>
            </a:r>
            <a:r>
              <a:rPr b="0" i="1" lang="en" sz="1400" strike="noStrike" u="none">
                <a:solidFill>
                  <a:srgbClr val="eed49f"/>
                </a:solidFill>
                <a:uFillTx/>
                <a:latin typeface="Courier New"/>
                <a:ea typeface="Courier New"/>
              </a:rPr>
              <a:t>Vec3b</a:t>
            </a:r>
            <a:r>
              <a:rPr b="0" lang="en" sz="1400" strike="noStrike" u="none">
                <a:solidFill>
                  <a:srgbClr val="8bd5ca"/>
                </a:solidFill>
                <a:uFillTx/>
                <a:latin typeface="Courier New"/>
                <a:ea typeface="Courier New"/>
              </a:rPr>
              <a:t>&gt;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y_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x_</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a:p>
            <a:pPr>
              <a:lnSpc>
                <a:spcPct val="100000"/>
              </a:lnSpc>
              <a:tabLst>
                <a:tab algn="l" pos="0"/>
              </a:tabLst>
            </a:pPr>
            <a:endParaRPr b="0" lang="en-U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Modifications made to DLR</a:t>
            </a:r>
            <a:endParaRPr b="0" lang="en-US" sz="4000" strike="noStrike" u="none">
              <a:solidFill>
                <a:srgbClr val="000000"/>
              </a:solidFill>
              <a:uFillTx/>
              <a:latin typeface="Arial"/>
            </a:endParaRPr>
          </a:p>
        </p:txBody>
      </p:sp>
      <p:sp>
        <p:nvSpPr>
          <p:cNvPr id="515" name="PlaceHolder 2"/>
          <p:cNvSpPr>
            <a:spLocks noGrp="1"/>
          </p:cNvSpPr>
          <p:nvPr>
            <p:ph type="subTitle"/>
          </p:nvPr>
        </p:nvSpPr>
        <p:spPr>
          <a:xfrm>
            <a:off x="415440" y="2241360"/>
            <a:ext cx="8880120" cy="381816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The key modifications made to the existing DLR algorithm are mostly:</a:t>
            </a:r>
            <a:endParaRPr b="0" lang="en-US" sz="1870" strike="noStrike" u="none">
              <a:solidFill>
                <a:srgbClr val="ffffff"/>
              </a:solidFill>
              <a:uFillTx/>
              <a:latin typeface="Arial"/>
            </a:endParaRPr>
          </a:p>
          <a:p>
            <a:pPr marL="457200" indent="-317520">
              <a:lnSpc>
                <a:spcPct val="100000"/>
              </a:lnSpc>
              <a:spcBef>
                <a:spcPts val="1001"/>
              </a:spcBef>
              <a:buClr>
                <a:srgbClr val="adadad"/>
              </a:buClr>
              <a:buFont typeface="Arial"/>
              <a:buChar char="➔"/>
              <a:tabLst>
                <a:tab algn="l" pos="0"/>
              </a:tabLst>
            </a:pPr>
            <a:r>
              <a:rPr b="0" lang="en" sz="1870" strike="noStrike" u="none">
                <a:solidFill>
                  <a:schemeClr val="lt2"/>
                </a:solidFill>
                <a:uFillTx/>
                <a:latin typeface="Arial"/>
                <a:ea typeface="Arial"/>
              </a:rPr>
              <a:t>A base line equation is not calculated. All computations are based on the starting line (</a:t>
            </a:r>
            <a:r>
              <a:rPr b="0" i="1" lang="en" sz="1870" strike="noStrike" u="none">
                <a:solidFill>
                  <a:schemeClr val="lt2"/>
                </a:solidFill>
                <a:uFillTx/>
                <a:latin typeface="Arial"/>
                <a:ea typeface="Arial"/>
              </a:rPr>
              <a:t>f</a:t>
            </a:r>
            <a:r>
              <a:rPr b="0" i="1" lang="en" sz="1868" strike="noStrike" u="none" baseline="-25000">
                <a:solidFill>
                  <a:schemeClr val="lt2"/>
                </a:solidFill>
                <a:uFillTx/>
                <a:latin typeface="Arial"/>
                <a:ea typeface="Arial"/>
              </a:rPr>
              <a:t>s</a:t>
            </a:r>
            <a:r>
              <a:rPr b="0" lang="en" sz="1870" strike="noStrike" u="none">
                <a:solidFill>
                  <a:schemeClr val="lt2"/>
                </a:solidFill>
                <a:uFillTx/>
                <a:latin typeface="Arial"/>
                <a:ea typeface="Arial"/>
              </a:rPr>
              <a:t>) alone, significantly reducing overall algorithm complexity.</a:t>
            </a:r>
            <a:endParaRPr b="0" lang="en-US" sz="1870" strike="noStrike" u="none">
              <a:solidFill>
                <a:srgbClr val="ffffff"/>
              </a:solidFill>
              <a:uFillTx/>
              <a:latin typeface="Arial"/>
            </a:endParaRPr>
          </a:p>
          <a:p>
            <a:pPr marL="457200" indent="-317520">
              <a:lnSpc>
                <a:spcPct val="100000"/>
              </a:lnSpc>
              <a:spcBef>
                <a:spcPts val="1001"/>
              </a:spcBef>
              <a:buClr>
                <a:srgbClr val="adadad"/>
              </a:buClr>
              <a:buFont typeface="Arial"/>
              <a:buChar char="➔"/>
              <a:tabLst>
                <a:tab algn="l" pos="0"/>
              </a:tabLst>
            </a:pPr>
            <a:r>
              <a:rPr b="0" lang="en" sz="1870" strike="noStrike" u="none">
                <a:solidFill>
                  <a:schemeClr val="lt2"/>
                </a:solidFill>
                <a:uFillTx/>
                <a:latin typeface="Arial"/>
                <a:ea typeface="Arial"/>
              </a:rPr>
              <a:t>A robust pixel mapping strategy is used, instead of relying on incrementing the base line equation. This solves the issue of </a:t>
            </a:r>
            <a:r>
              <a:rPr b="0" i="1" lang="en" sz="1870" strike="noStrike" u="none">
                <a:solidFill>
                  <a:schemeClr val="lt2"/>
                </a:solidFill>
                <a:uFillTx/>
                <a:latin typeface="Arial"/>
                <a:ea typeface="Arial"/>
              </a:rPr>
              <a:t>how exactly a pixel is mapped</a:t>
            </a:r>
            <a:r>
              <a:rPr b="0" lang="en" sz="1870" strike="noStrike" u="none">
                <a:solidFill>
                  <a:schemeClr val="lt2"/>
                </a:solidFill>
                <a:uFillTx/>
                <a:latin typeface="Arial"/>
                <a:ea typeface="Arial"/>
              </a:rPr>
              <a:t>, since that, in particular, is not very clearly mentioned in the original research paper.</a:t>
            </a:r>
            <a:endParaRPr b="0" lang="en-US" sz="1870" strike="noStrike" u="none">
              <a:solidFill>
                <a:srgbClr val="ffffff"/>
              </a:solidFill>
              <a:uFillTx/>
              <a:latin typeface="Arial"/>
            </a:endParaRPr>
          </a:p>
          <a:p>
            <a:pPr marL="457200" indent="-317520">
              <a:lnSpc>
                <a:spcPct val="100000"/>
              </a:lnSpc>
              <a:spcBef>
                <a:spcPts val="1001"/>
              </a:spcBef>
              <a:spcAft>
                <a:spcPts val="1001"/>
              </a:spcAft>
              <a:buClr>
                <a:srgbClr val="adadad"/>
              </a:buClr>
              <a:buFont typeface="Arial"/>
              <a:buChar char="➔"/>
              <a:tabLst>
                <a:tab algn="l" pos="0"/>
              </a:tabLst>
            </a:pPr>
            <a:r>
              <a:rPr b="0" lang="en" sz="1870" strike="noStrike" u="none">
                <a:solidFill>
                  <a:schemeClr val="lt2"/>
                </a:solidFill>
                <a:uFillTx/>
                <a:latin typeface="Arial"/>
                <a:ea typeface="Arial"/>
              </a:rPr>
              <a:t>Further, the new strategy generalises the algorithm even further by calculating the new image size only once (mrt and nrt), regardless of zone, and also exploiting the fact, that a starting point is always of the form:</a:t>
            </a:r>
            <a:br>
              <a:rPr sz="1870"/>
            </a:br>
            <a:r>
              <a:rPr b="0" i="1" lang="en" sz="1870" strike="noStrike" u="none">
                <a:solidFill>
                  <a:schemeClr val="lt2"/>
                </a:solidFill>
                <a:uFillTx/>
                <a:latin typeface="Arial"/>
                <a:ea typeface="Arial"/>
              </a:rPr>
              <a:t>(f</a:t>
            </a:r>
            <a:r>
              <a:rPr b="0" i="1" lang="en" sz="1868" strike="noStrike" u="none" baseline="-25000">
                <a:solidFill>
                  <a:schemeClr val="lt2"/>
                </a:solidFill>
                <a:uFillTx/>
                <a:latin typeface="Arial"/>
                <a:ea typeface="Arial"/>
              </a:rPr>
              <a:t>s </a:t>
            </a:r>
            <a:r>
              <a:rPr b="0" i="1" lang="en" sz="1870" strike="noStrike" u="none">
                <a:solidFill>
                  <a:schemeClr val="lt2"/>
                </a:solidFill>
                <a:uFillTx/>
                <a:latin typeface="Arial"/>
                <a:ea typeface="Arial"/>
              </a:rPr>
              <a:t>(i), i), </a:t>
            </a:r>
            <a:r>
              <a:rPr b="0" lang="en" sz="1870" strike="noStrike" u="none">
                <a:solidFill>
                  <a:schemeClr val="lt2"/>
                </a:solidFill>
                <a:uFillTx/>
                <a:latin typeface="Arial"/>
                <a:ea typeface="Arial"/>
              </a:rPr>
              <a:t>to further ease out the logic.</a:t>
            </a:r>
            <a:endParaRPr b="0" lang="en-US" sz="1870" strike="noStrike" u="none">
              <a:solidFill>
                <a:srgbClr val="ffffff"/>
              </a:solidFill>
              <a:uFillTx/>
              <a:latin typeface="Arial"/>
            </a:endParaRPr>
          </a:p>
        </p:txBody>
      </p:sp>
      <p:pic>
        <p:nvPicPr>
          <p:cNvPr id="516" name="Google Shape;446;p59"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415440" y="101880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The Algorithm Itself</a:t>
            </a:r>
            <a:endParaRPr b="0" lang="en-US" sz="4000" strike="noStrike" u="none">
              <a:solidFill>
                <a:srgbClr val="000000"/>
              </a:solidFill>
              <a:uFillTx/>
              <a:latin typeface="Arial"/>
            </a:endParaRPr>
          </a:p>
        </p:txBody>
      </p:sp>
      <p:sp>
        <p:nvSpPr>
          <p:cNvPr id="518" name="PlaceHolder 2"/>
          <p:cNvSpPr>
            <a:spLocks noGrp="1"/>
          </p:cNvSpPr>
          <p:nvPr>
            <p:ph type="subTitle"/>
          </p:nvPr>
        </p:nvSpPr>
        <p:spPr>
          <a:xfrm>
            <a:off x="415440" y="2241360"/>
            <a:ext cx="11854080" cy="4028040"/>
          </a:xfrm>
          <a:prstGeom prst="rect">
            <a:avLst/>
          </a:prstGeom>
          <a:noFill/>
          <a:ln w="0">
            <a:noFill/>
          </a:ln>
        </p:spPr>
        <p:txBody>
          <a:bodyPr lIns="91440" rIns="91440" tIns="91440" bIns="91440" anchor="t">
            <a:noAutofit/>
          </a:bodyPr>
          <a:p>
            <a:pPr indent="0">
              <a:lnSpc>
                <a:spcPct val="100000"/>
              </a:lnSpc>
              <a:buNone/>
              <a:tabLst>
                <a:tab algn="l" pos="0"/>
              </a:tabLst>
            </a:pPr>
            <a:r>
              <a:rPr b="0" lang="en" sz="1400" strike="noStrike" u="none">
                <a:solidFill>
                  <a:srgbClr val="c6a0f6"/>
                </a:solidFill>
                <a:uFillTx/>
                <a:latin typeface="Courier New"/>
                <a:ea typeface="Courier New"/>
              </a:rPr>
              <a:t>def</a:t>
            </a:r>
            <a:r>
              <a:rPr b="0" lang="en" sz="1400" strike="noStrike" u="none">
                <a:solidFill>
                  <a:srgbClr val="cad3f5"/>
                </a:solidFill>
                <a:uFillTx/>
                <a:latin typeface="Courier New"/>
                <a:ea typeface="Courier New"/>
              </a:rPr>
              <a:t> </a:t>
            </a:r>
            <a:r>
              <a:rPr b="0" i="1" lang="en" sz="1400" strike="noStrike" u="none">
                <a:solidFill>
                  <a:srgbClr val="8aadf4"/>
                </a:solidFill>
                <a:uFillTx/>
                <a:latin typeface="Courier New"/>
                <a:ea typeface="Courier New"/>
              </a:rPr>
              <a:t>rotate</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img</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rot</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x_offset</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y_offset</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delta_x</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delta_y</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delta_i</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fs</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outer_limit</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last_px</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horizontal</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negate_coords</a:t>
            </a:r>
            <a:r>
              <a:rPr b="0" lang="en" sz="1400" strike="noStrike" u="none">
                <a:solidFill>
                  <a:srgbClr val="8bd5ca"/>
                </a:solidFill>
                <a:uFillTx/>
                <a:latin typeface="Courier New"/>
                <a:ea typeface="Courier New"/>
              </a:rPr>
              <a:t>=</a:t>
            </a:r>
            <a:r>
              <a:rPr b="0" lang="en" sz="1400" strike="noStrike" u="none">
                <a:solidFill>
                  <a:srgbClr val="c6a0f6"/>
                </a:solidFill>
                <a:uFillTx/>
                <a:latin typeface="Courier New"/>
                <a:ea typeface="Courier New"/>
              </a:rPr>
              <a:t>False</a:t>
            </a:r>
            <a:r>
              <a:rPr b="0" lang="en" sz="1400" strike="noStrike" u="none">
                <a:solidFill>
                  <a:srgbClr val="939ab7"/>
                </a:solidFill>
                <a:uFillTx/>
                <a:latin typeface="Courier New"/>
                <a:ea typeface="Courier New"/>
              </a:rPr>
              <a:t>,</a:t>
            </a:r>
            <a:r>
              <a:rPr b="0" lang="en" sz="1400" strike="noStrike" u="none">
                <a:solidFill>
                  <a:srgbClr val="ee99a0"/>
                </a:solidFill>
                <a:uFillTx/>
                <a:latin typeface="Courier New"/>
                <a:ea typeface="Courier New"/>
              </a:rPr>
              <a:t> </a:t>
            </a:r>
            <a:r>
              <a:rPr b="0" i="1" lang="en" sz="1400" strike="noStrike" u="none">
                <a:solidFill>
                  <a:srgbClr val="ee99a0"/>
                </a:solidFill>
                <a:uFillTx/>
                <a:latin typeface="Courier New"/>
                <a:ea typeface="Courier New"/>
              </a:rPr>
              <a:t>flip_range</a:t>
            </a:r>
            <a:r>
              <a:rPr b="0" lang="en" sz="1400" strike="noStrike" u="none">
                <a:solidFill>
                  <a:srgbClr val="8bd5ca"/>
                </a:solidFill>
                <a:uFillTx/>
                <a:latin typeface="Courier New"/>
                <a:ea typeface="Courier New"/>
              </a:rPr>
              <a:t>=</a:t>
            </a:r>
            <a:r>
              <a:rPr b="0" lang="en" sz="1400" strike="noStrike" u="none">
                <a:solidFill>
                  <a:srgbClr val="c6a0f6"/>
                </a:solidFill>
                <a:uFillTx/>
                <a:latin typeface="Courier New"/>
                <a:ea typeface="Courier New"/>
              </a:rPr>
              <a:t>False</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src_i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0</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shift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f5a97f"/>
                </a:solidFill>
                <a:uFillTx/>
                <a:latin typeface="Courier New"/>
                <a:ea typeface="Courier New"/>
              </a:rPr>
              <a:t>1</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i </a:t>
            </a:r>
            <a:r>
              <a:rPr b="0" lang="en" sz="1400" strike="noStrike" u="none">
                <a:solidFill>
                  <a:srgbClr val="c6a0f6"/>
                </a:solidFill>
                <a:uFillTx/>
                <a:latin typeface="Courier New"/>
                <a:ea typeface="Courier New"/>
              </a:rPr>
              <a:t>in</a:t>
            </a:r>
            <a:r>
              <a:rPr b="0" lang="en" sz="1400" strike="noStrike" u="none">
                <a:solidFill>
                  <a:srgbClr val="cad3f5"/>
                </a:solidFill>
                <a:uFillTx/>
                <a:latin typeface="Courier New"/>
                <a:ea typeface="Courier New"/>
              </a:rPr>
              <a:t> </a:t>
            </a:r>
            <a:r>
              <a:rPr b="0" i="1" lang="en" sz="1400" strike="noStrike" u="none">
                <a:solidFill>
                  <a:srgbClr val="c6a0f6"/>
                </a:solidFill>
                <a:uFillTx/>
                <a:latin typeface="Courier New"/>
                <a:ea typeface="Courier New"/>
              </a:rPr>
              <a:t>range</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outer_limit</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x_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y_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fs</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i</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i</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range_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c6a0f6"/>
                </a:solidFill>
                <a:uFillTx/>
                <a:latin typeface="Courier New"/>
                <a:ea typeface="Courier New"/>
              </a:rPr>
              <a:t>range</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last_px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if</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flip_range</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else</a:t>
            </a:r>
            <a:r>
              <a:rPr b="0" lang="en" sz="1400" strike="noStrike" u="none">
                <a:solidFill>
                  <a:srgbClr val="cad3f5"/>
                </a:solidFill>
                <a:uFillTx/>
                <a:latin typeface="Courier New"/>
                <a:ea typeface="Courier New"/>
              </a:rPr>
              <a:t> </a:t>
            </a:r>
            <a:r>
              <a:rPr b="0" i="1" lang="en" sz="1400" strike="noStrike" u="none">
                <a:solidFill>
                  <a:srgbClr val="c6a0f6"/>
                </a:solidFill>
                <a:uFillTx/>
                <a:latin typeface="Courier New"/>
                <a:ea typeface="Courier New"/>
              </a:rPr>
              <a:t>range</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last_px</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px </a:t>
            </a:r>
            <a:r>
              <a:rPr b="0" lang="en" sz="1400" strike="noStrike" u="none">
                <a:solidFill>
                  <a:srgbClr val="c6a0f6"/>
                </a:solidFill>
                <a:uFillTx/>
                <a:latin typeface="Courier New"/>
                <a:ea typeface="Courier New"/>
              </a:rPr>
              <a:t>in</a:t>
            </a:r>
            <a:r>
              <a:rPr b="0" lang="en" sz="1400" strike="noStrike" u="none">
                <a:solidFill>
                  <a:srgbClr val="cad3f5"/>
                </a:solidFill>
                <a:uFillTx/>
                <a:latin typeface="Courier New"/>
                <a:ea typeface="Courier New"/>
              </a:rPr>
              <a:t> range_</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try</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y</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i_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8aadf4"/>
                </a:solidFill>
                <a:uFillTx/>
                <a:latin typeface="Courier New"/>
                <a:ea typeface="Courier New"/>
              </a:rPr>
              <a:t>floor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for</a:t>
            </a:r>
            <a:r>
              <a:rPr b="0" lang="en" sz="1400" strike="noStrike" u="none">
                <a:solidFill>
                  <a:srgbClr val="cad3f5"/>
                </a:solidFill>
                <a:uFillTx/>
                <a:latin typeface="Courier New"/>
                <a:ea typeface="Courier New"/>
              </a:rPr>
              <a:t> _ </a:t>
            </a:r>
            <a:r>
              <a:rPr b="0" lang="en" sz="1400" strike="noStrike" u="none">
                <a:solidFill>
                  <a:srgbClr val="c6a0f6"/>
                </a:solidFill>
                <a:uFillTx/>
                <a:latin typeface="Courier New"/>
                <a:ea typeface="Courier New"/>
              </a:rPr>
              <a:t>in</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x_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y_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src_i</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if</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negate_coords</a:t>
            </a:r>
            <a:r>
              <a:rPr b="0" lang="en" sz="1400" strike="noStrike" u="none">
                <a:solidFill>
                  <a:srgbClr val="939ab7"/>
                </a:solidFill>
                <a:uFillTx/>
                <a:latin typeface="Courier New"/>
                <a:ea typeface="Courier New"/>
              </a:rPr>
              <a:t>: </a:t>
            </a:r>
            <a:r>
              <a:rPr b="0" lang="en" sz="1400" strike="noStrike" u="none">
                <a:solidFill>
                  <a:srgbClr val="cad3f5"/>
                </a:solidFill>
                <a:uFillTx/>
                <a:latin typeface="Courier New"/>
                <a:ea typeface="Courier New"/>
              </a:rPr>
              <a:t>shift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f5a97f"/>
                </a:solidFill>
                <a:uFillTx/>
                <a:latin typeface="Courier New"/>
                <a:ea typeface="Courier New"/>
              </a:rPr>
              <a:t>1</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a</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b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px</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i_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if</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not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horizontal</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else</a:t>
            </a:r>
            <a:r>
              <a:rPr b="0" lang="en" sz="1400" strike="noStrike" u="none">
                <a:solidFill>
                  <a:srgbClr val="cad3f5"/>
                </a:solidFill>
                <a:uFillTx/>
                <a:latin typeface="Courier New"/>
                <a:ea typeface="Courier New"/>
              </a:rPr>
              <a:t> </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i_</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px</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rot</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shift</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y</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y_offset</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 </a:t>
            </a:r>
            <a:r>
              <a:rPr b="0" i="1" lang="en" sz="1400" strike="noStrike" u="none">
                <a:solidFill>
                  <a:srgbClr val="cad3f5"/>
                </a:solidFill>
                <a:uFillTx/>
                <a:latin typeface="Courier New"/>
                <a:ea typeface="Courier New"/>
              </a:rPr>
              <a:t>shift</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x</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x_offset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img</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a</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 </a:t>
            </a:r>
            <a:r>
              <a:rPr b="0" i="1" lang="en" sz="1400" strike="noStrike" u="none">
                <a:solidFill>
                  <a:srgbClr val="cad3f5"/>
                </a:solidFill>
                <a:uFillTx/>
                <a:latin typeface="Courier New"/>
                <a:ea typeface="Courier New"/>
              </a:rPr>
              <a:t>b</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6e738d"/>
                </a:solidFill>
                <a:uFillTx/>
                <a:latin typeface="Courier New"/>
                <a:ea typeface="Courier New"/>
              </a:rPr>
              <a:t># y, x</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rot</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shift</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y</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y_offset</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i="1" lang="en" sz="1400" strike="noStrike" u="none">
                <a:solidFill>
                  <a:srgbClr val="f5a97f"/>
                </a:solidFill>
                <a:uFillTx/>
                <a:latin typeface="Courier New"/>
                <a:ea typeface="Courier New"/>
              </a:rPr>
              <a:t>1</a:t>
            </a:r>
            <a:r>
              <a:rPr b="0" lang="en" sz="1400" strike="noStrike" u="none">
                <a:solidFill>
                  <a:srgbClr val="939ab7"/>
                </a:solidFill>
                <a:uFillTx/>
                <a:latin typeface="Courier New"/>
                <a:ea typeface="Courier New"/>
              </a:rPr>
              <a:t>,</a:t>
            </a:r>
            <a:r>
              <a:rPr b="0" i="1" lang="en" sz="1400" strike="noStrike" u="none">
                <a:solidFill>
                  <a:srgbClr val="ee99a0"/>
                </a:solidFill>
                <a:uFillTx/>
                <a:latin typeface="Courier New"/>
                <a:ea typeface="Courier New"/>
              </a:rPr>
              <a:t> </a:t>
            </a:r>
            <a:r>
              <a:rPr b="0" i="1" lang="en" sz="1400" strike="noStrike" u="none">
                <a:solidFill>
                  <a:srgbClr val="cad3f5"/>
                </a:solidFill>
                <a:uFillTx/>
                <a:latin typeface="Courier New"/>
                <a:ea typeface="Courier New"/>
              </a:rPr>
              <a:t>shift</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x</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x_offset</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img</a:t>
            </a:r>
            <a:r>
              <a:rPr b="0" lang="en" sz="1400" strike="noStrike" u="none">
                <a:solidFill>
                  <a:srgbClr val="939ab7"/>
                </a:solidFill>
                <a:uFillTx/>
                <a:latin typeface="Courier New"/>
                <a:ea typeface="Courier New"/>
              </a:rPr>
              <a:t>[</a:t>
            </a:r>
            <a:r>
              <a:rPr b="0" i="1" lang="en" sz="1400" strike="noStrike" u="none">
                <a:solidFill>
                  <a:srgbClr val="cad3f5"/>
                </a:solidFill>
                <a:uFillTx/>
                <a:latin typeface="Courier New"/>
                <a:ea typeface="Courier New"/>
              </a:rPr>
              <a:t>a</a:t>
            </a:r>
            <a:r>
              <a:rPr b="0" i="1" lang="en" sz="1400" strike="noStrike" u="none">
                <a:solidFill>
                  <a:srgbClr val="ee99a0"/>
                </a:solidFill>
                <a:uFillTx/>
                <a:latin typeface="Courier New"/>
                <a:ea typeface="Courier New"/>
              </a:rPr>
              <a:t> </a:t>
            </a:r>
            <a:r>
              <a:rPr b="0" lang="en" sz="1400" strike="noStrike" u="none">
                <a:solidFill>
                  <a:srgbClr val="8bd5ca"/>
                </a:solidFill>
                <a:uFillTx/>
                <a:latin typeface="Courier New"/>
                <a:ea typeface="Courier New"/>
              </a:rPr>
              <a:t>+</a:t>
            </a:r>
            <a:r>
              <a:rPr b="0" i="1" lang="en" sz="1400" strike="noStrike" u="none">
                <a:solidFill>
                  <a:srgbClr val="ee99a0"/>
                </a:solidFill>
                <a:uFillTx/>
                <a:latin typeface="Courier New"/>
                <a:ea typeface="Courier New"/>
              </a:rPr>
              <a:t> </a:t>
            </a:r>
            <a:r>
              <a:rPr b="0" i="1" lang="en" sz="1400" strike="noStrike" u="none">
                <a:solidFill>
                  <a:srgbClr val="cad3f5"/>
                </a:solidFill>
                <a:uFillTx/>
                <a:latin typeface="Courier New"/>
                <a:ea typeface="Courier New"/>
              </a:rPr>
              <a:t>b</a:t>
            </a:r>
            <a:r>
              <a:rPr b="0" lang="en" sz="1400" strike="noStrike" u="none">
                <a:solidFill>
                  <a:srgbClr val="939ab7"/>
                </a:solidFill>
                <a:uFillTx/>
                <a:latin typeface="Courier New"/>
                <a:ea typeface="Courier New"/>
              </a:rPr>
              <a:t>]</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x_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delta_x</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y_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delta_y</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except</a:t>
            </a:r>
            <a:r>
              <a:rPr b="0" lang="en" sz="1400" strike="noStrike" u="none">
                <a:solidFill>
                  <a:srgbClr val="cad3f5"/>
                </a:solidFill>
                <a:uFillTx/>
                <a:latin typeface="Courier New"/>
                <a:ea typeface="Courier New"/>
              </a:rPr>
              <a:t> </a:t>
            </a:r>
            <a:r>
              <a:rPr b="0" i="1" lang="en" sz="1400" strike="noStrike" u="none">
                <a:solidFill>
                  <a:srgbClr val="c6a0f6"/>
                </a:solidFill>
                <a:uFillTx/>
                <a:latin typeface="Courier New"/>
                <a:ea typeface="Courier New"/>
              </a:rPr>
              <a:t>IndexError</a:t>
            </a:r>
            <a:r>
              <a:rPr b="0" lang="en" sz="1400" strike="noStrike" u="none">
                <a:solidFill>
                  <a:srgbClr val="939ab7"/>
                </a:solidFill>
                <a:uFillTx/>
                <a:latin typeface="Courier New"/>
                <a:ea typeface="Courier New"/>
              </a:rPr>
              <a:t>:</a:t>
            </a:r>
            <a:r>
              <a:rPr b="0" lang="en" sz="1400" strike="noStrike" u="none">
                <a:solidFill>
                  <a:srgbClr val="cad3f5"/>
                </a:solidFill>
                <a:uFillTx/>
                <a:latin typeface="Courier New"/>
                <a:ea typeface="Courier New"/>
              </a:rPr>
              <a:t> </a:t>
            </a:r>
            <a:r>
              <a:rPr b="0" lang="en" sz="1400" strike="noStrike" u="none">
                <a:solidFill>
                  <a:srgbClr val="c6a0f6"/>
                </a:solidFill>
                <a:uFillTx/>
                <a:latin typeface="Courier New"/>
                <a:ea typeface="Courier New"/>
              </a:rPr>
              <a:t>pass</a:t>
            </a:r>
            <a:endParaRPr b="0" lang="en-US" sz="1400" strike="noStrike" u="none">
              <a:solidFill>
                <a:srgbClr val="ffffff"/>
              </a:solidFill>
              <a:uFillTx/>
              <a:latin typeface="Arial"/>
            </a:endParaRPr>
          </a:p>
          <a:p>
            <a:pPr indent="0">
              <a:lnSpc>
                <a:spcPct val="100000"/>
              </a:lnSpc>
              <a:buNone/>
              <a:tabLst>
                <a:tab algn="l" pos="0"/>
              </a:tabLst>
            </a:pPr>
            <a:r>
              <a:rPr b="0" lang="en" sz="1400" strike="noStrike" u="none">
                <a:solidFill>
                  <a:srgbClr val="cad3f5"/>
                </a:solidFill>
                <a:uFillTx/>
                <a:latin typeface="Courier New"/>
                <a:ea typeface="Courier New"/>
              </a:rPr>
              <a:t>       </a:t>
            </a:r>
            <a:r>
              <a:rPr b="0" lang="en" sz="1400" strike="noStrike" u="none">
                <a:solidFill>
                  <a:srgbClr val="cad3f5"/>
                </a:solidFill>
                <a:uFillTx/>
                <a:latin typeface="Courier New"/>
                <a:ea typeface="Courier New"/>
              </a:rPr>
              <a:t>src_i </a:t>
            </a:r>
            <a:r>
              <a:rPr b="0" lang="en" sz="1400" strike="noStrike" u="none">
                <a:solidFill>
                  <a:srgbClr val="8bd5ca"/>
                </a:solidFill>
                <a:uFillTx/>
                <a:latin typeface="Courier New"/>
                <a:ea typeface="Courier New"/>
              </a:rPr>
              <a:t>+=</a:t>
            </a:r>
            <a:r>
              <a:rPr b="0" lang="en" sz="1400" strike="noStrike" u="none">
                <a:solidFill>
                  <a:srgbClr val="cad3f5"/>
                </a:solidFill>
                <a:uFillTx/>
                <a:latin typeface="Courier New"/>
                <a:ea typeface="Courier New"/>
              </a:rPr>
              <a:t> </a:t>
            </a:r>
            <a:r>
              <a:rPr b="0" i="1" lang="en" sz="1400" strike="noStrike" u="none">
                <a:solidFill>
                  <a:srgbClr val="ee99a0"/>
                </a:solidFill>
                <a:uFillTx/>
                <a:latin typeface="Courier New"/>
                <a:ea typeface="Courier New"/>
              </a:rPr>
              <a:t>delta_i</a:t>
            </a:r>
            <a:endParaRPr b="0" lang="en-US" sz="1400" strike="noStrike" u="none">
              <a:solidFill>
                <a:srgbClr val="ffffff"/>
              </a:solidFill>
              <a:uFillTx/>
              <a:latin typeface="Arial"/>
            </a:endParaRPr>
          </a:p>
          <a:p>
            <a:pPr indent="0">
              <a:lnSpc>
                <a:spcPct val="100000"/>
              </a:lnSpc>
              <a:spcAft>
                <a:spcPts val="1001"/>
              </a:spcAft>
              <a:buNone/>
              <a:tabLst>
                <a:tab algn="l" pos="0"/>
              </a:tabLst>
            </a:pPr>
            <a:endParaRPr b="0" lang="en-US" sz="1870" strike="noStrike" u="none">
              <a:solidFill>
                <a:srgbClr val="ffffff"/>
              </a:solidFill>
              <a:uFillTx/>
              <a:latin typeface="Arial"/>
            </a:endParaRPr>
          </a:p>
        </p:txBody>
      </p:sp>
      <p:pic>
        <p:nvPicPr>
          <p:cNvPr id="519" name="Google Shape;453;p60"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title"/>
          </p:nvPr>
        </p:nvSpPr>
        <p:spPr>
          <a:xfrm>
            <a:off x="415440" y="818640"/>
            <a:ext cx="7654680" cy="77400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uFillTx/>
                <a:latin typeface="Arial"/>
                <a:ea typeface="Arial"/>
              </a:rPr>
              <a:t>The Algorithm Itself</a:t>
            </a:r>
            <a:endParaRPr b="0" lang="en-US" sz="4000" strike="noStrike" u="none">
              <a:solidFill>
                <a:srgbClr val="000000"/>
              </a:solidFill>
              <a:uFillTx/>
              <a:latin typeface="Arial"/>
            </a:endParaRPr>
          </a:p>
        </p:txBody>
      </p:sp>
      <p:sp>
        <p:nvSpPr>
          <p:cNvPr id="521" name="PlaceHolder 2"/>
          <p:cNvSpPr>
            <a:spLocks noGrp="1"/>
          </p:cNvSpPr>
          <p:nvPr>
            <p:ph type="subTitle"/>
          </p:nvPr>
        </p:nvSpPr>
        <p:spPr>
          <a:xfrm>
            <a:off x="415440" y="1847160"/>
            <a:ext cx="9154080" cy="1708200"/>
          </a:xfrm>
          <a:prstGeom prst="rect">
            <a:avLst/>
          </a:prstGeom>
          <a:noFill/>
          <a:ln w="0">
            <a:noFill/>
          </a:ln>
        </p:spPr>
        <p:txBody>
          <a:bodyPr lIns="91440" rIns="91440" tIns="91440" bIns="91440" anchor="t">
            <a:noAutofit/>
          </a:bodyPr>
          <a:p>
            <a:pPr indent="0">
              <a:lnSpc>
                <a:spcPct val="100000"/>
              </a:lnSpc>
              <a:buNone/>
              <a:tabLst>
                <a:tab algn="l" pos="0"/>
              </a:tabLst>
            </a:pPr>
            <a:r>
              <a:rPr b="0" lang="en" sz="1870" strike="noStrike" u="none">
                <a:solidFill>
                  <a:schemeClr val="lt2"/>
                </a:solidFill>
                <a:uFillTx/>
                <a:latin typeface="Arial"/>
                <a:ea typeface="Arial"/>
              </a:rPr>
              <a:t>The arguments to the function are then calculated for each zone, separately. There are only a few tweaks that are to be made, so mostly, it’s just a re-written form of existing zones.</a:t>
            </a:r>
            <a:br>
              <a:rPr sz="1870"/>
            </a:br>
            <a:br>
              <a:rPr sz="1870"/>
            </a:br>
            <a:r>
              <a:rPr b="0" lang="en" sz="1870" strike="noStrike" u="none">
                <a:solidFill>
                  <a:schemeClr val="lt2"/>
                </a:solidFill>
                <a:uFillTx/>
                <a:latin typeface="Arial"/>
                <a:ea typeface="Arial"/>
              </a:rPr>
              <a:t>Thus, for example, for zone 1 and 5, we’ll have the following scenario, and so on…</a:t>
            </a:r>
            <a:endParaRPr b="0" lang="en-US" sz="1870" strike="noStrike" u="none">
              <a:solidFill>
                <a:srgbClr val="ffffff"/>
              </a:solidFill>
              <a:uFillTx/>
              <a:latin typeface="Arial"/>
            </a:endParaRPr>
          </a:p>
        </p:txBody>
      </p:sp>
      <p:sp>
        <p:nvSpPr>
          <p:cNvPr id="522" name="PlaceHolder 3"/>
          <p:cNvSpPr>
            <a:spLocks noGrp="1"/>
          </p:cNvSpPr>
          <p:nvPr>
            <p:ph type="subTitle"/>
          </p:nvPr>
        </p:nvSpPr>
        <p:spPr>
          <a:xfrm>
            <a:off x="1116720" y="3555720"/>
            <a:ext cx="8453160" cy="2539800"/>
          </a:xfrm>
          <a:prstGeom prst="rect">
            <a:avLst/>
          </a:prstGeom>
          <a:noFill/>
          <a:ln w="0">
            <a:noFill/>
          </a:ln>
        </p:spPr>
        <p:txBody>
          <a:bodyPr lIns="91440" rIns="91440" tIns="91440" bIns="91440" anchor="t">
            <a:noAutofit/>
          </a:bodyPr>
          <a:p>
            <a:pPr indent="0">
              <a:lnSpc>
                <a:spcPct val="100000"/>
              </a:lnSpc>
              <a:buNone/>
              <a:tabLst>
                <a:tab algn="l" pos="0"/>
              </a:tabLst>
            </a:pPr>
            <a:r>
              <a:rPr b="0" lang="en" sz="1260" strike="noStrike" u="none">
                <a:solidFill>
                  <a:srgbClr val="c6a0f6"/>
                </a:solidFill>
                <a:uFillTx/>
                <a:latin typeface="Courier New"/>
                <a:ea typeface="Courier New"/>
              </a:rPr>
              <a:t>if</a:t>
            </a:r>
            <a:r>
              <a:rPr b="0" lang="en" sz="1260" strike="noStrike" u="none">
                <a:solidFill>
                  <a:srgbClr val="cad3f5"/>
                </a:solidFill>
                <a:uFillTx/>
                <a:latin typeface="Courier New"/>
                <a:ea typeface="Courier New"/>
              </a:rPr>
              <a:t> </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z1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lang="en" sz="1260" strike="noStrike" u="none">
                <a:solidFill>
                  <a:srgbClr val="f5a97f"/>
                </a:solidFill>
                <a:uFillTx/>
                <a:latin typeface="Courier New"/>
                <a:ea typeface="Courier New"/>
              </a:rPr>
              <a:t>0</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&lt;=</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angle</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&lt;=</a:t>
            </a:r>
            <a:r>
              <a:rPr b="0" lang="en" sz="1260" strike="noStrike" u="none">
                <a:solidFill>
                  <a:srgbClr val="cad3f5"/>
                </a:solidFill>
                <a:uFillTx/>
                <a:latin typeface="Courier New"/>
                <a:ea typeface="Courier New"/>
              </a:rPr>
              <a:t> </a:t>
            </a:r>
            <a:r>
              <a:rPr b="0" lang="en" sz="1260" strike="noStrike" u="none">
                <a:solidFill>
                  <a:srgbClr val="f5a97f"/>
                </a:solidFill>
                <a:uFillTx/>
                <a:latin typeface="Courier New"/>
                <a:ea typeface="Courier New"/>
              </a:rPr>
              <a:t>45</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a:t>
            </a:r>
            <a:r>
              <a:rPr b="0" lang="en" sz="1260" strike="noStrike" u="none">
                <a:solidFill>
                  <a:srgbClr val="c6a0f6"/>
                </a:solidFill>
                <a:uFillTx/>
                <a:latin typeface="Courier New"/>
                <a:ea typeface="Courier New"/>
              </a:rPr>
              <a:t>or</a:t>
            </a:r>
            <a:r>
              <a:rPr b="0" lang="en" sz="1260" strike="noStrike" u="none">
                <a:solidFill>
                  <a:srgbClr val="cad3f5"/>
                </a:solidFill>
                <a:uFillTx/>
                <a:latin typeface="Courier New"/>
                <a:ea typeface="Courier New"/>
              </a:rPr>
              <a:t> </a:t>
            </a:r>
            <a:r>
              <a:rPr b="0" lang="en" sz="1260" strike="noStrike" u="none">
                <a:solidFill>
                  <a:srgbClr val="939ab7"/>
                </a:solidFill>
                <a:uFillTx/>
                <a:latin typeface="Courier New"/>
                <a:ea typeface="Courier New"/>
              </a:rPr>
              <a:t>(</a:t>
            </a:r>
            <a:r>
              <a:rPr b="0" lang="en" sz="1260" strike="noStrike" u="none">
                <a:solidFill>
                  <a:srgbClr val="f5a97f"/>
                </a:solidFill>
                <a:uFillTx/>
                <a:latin typeface="Courier New"/>
                <a:ea typeface="Courier New"/>
              </a:rPr>
              <a:t>180</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&lt;</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angle</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&lt;=</a:t>
            </a:r>
            <a:r>
              <a:rPr b="0" lang="en" sz="1260" strike="noStrike" u="none">
                <a:solidFill>
                  <a:srgbClr val="cad3f5"/>
                </a:solidFill>
                <a:uFillTx/>
                <a:latin typeface="Courier New"/>
                <a:ea typeface="Courier New"/>
              </a:rPr>
              <a:t> </a:t>
            </a:r>
            <a:r>
              <a:rPr b="0" lang="en" sz="1260" strike="noStrike" u="none">
                <a:solidFill>
                  <a:srgbClr val="f5a97f"/>
                </a:solidFill>
                <a:uFillTx/>
                <a:latin typeface="Courier New"/>
                <a:ea typeface="Courier New"/>
              </a:rPr>
              <a:t>225</a:t>
            </a:r>
            <a:r>
              <a:rPr b="0" lang="en" sz="1260" strike="noStrike" u="none">
                <a:solidFill>
                  <a:srgbClr val="939ab7"/>
                </a:solidFill>
                <a:uFillTx/>
                <a:latin typeface="Courier New"/>
                <a:ea typeface="Courier New"/>
              </a:rPr>
              <a:t>):</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x_offset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i="1" lang="en" sz="1260" strike="noStrike" u="none">
                <a:solidFill>
                  <a:srgbClr val="8aadf4"/>
                </a:solidFill>
                <a:uFillTx/>
                <a:latin typeface="Courier New"/>
                <a:ea typeface="Courier New"/>
              </a:rPr>
              <a:t>ceil</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m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sin_alpha</a:t>
            </a:r>
            <a:r>
              <a:rPr b="0" lang="en" sz="1260" strike="noStrike" u="none">
                <a:solidFill>
                  <a:srgbClr val="939ab7"/>
                </a:solidFill>
                <a:uFillTx/>
                <a:latin typeface="Courier New"/>
                <a:ea typeface="Courier New"/>
              </a:rPr>
              <a:t>)</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y_offset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lang="en" sz="1260" strike="noStrike" u="none">
                <a:solidFill>
                  <a:srgbClr val="f5a97f"/>
                </a:solidFill>
                <a:uFillTx/>
                <a:latin typeface="Courier New"/>
                <a:ea typeface="Courier New"/>
              </a:rPr>
              <a:t>0</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fs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lang="en" sz="1260" strike="noStrike" u="none">
                <a:solidFill>
                  <a:srgbClr val="c6a0f6"/>
                </a:solidFill>
                <a:uFillTx/>
                <a:latin typeface="Courier New"/>
                <a:ea typeface="Courier New"/>
              </a:rPr>
              <a:t>lambda</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y</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y</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tan_alpha_   </a:t>
            </a:r>
            <a:r>
              <a:rPr b="0" i="1" lang="en" sz="1260" strike="noStrike" u="none">
                <a:solidFill>
                  <a:srgbClr val="6e738d"/>
                </a:solidFill>
                <a:uFillTx/>
                <a:latin typeface="Courier New"/>
                <a:ea typeface="Courier New"/>
              </a:rPr>
              <a:t># starting line equation</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delta_x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cos_alpha</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delta_y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sin_alpha</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delta_i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lang="en" sz="1260" strike="noStrike" u="none">
                <a:solidFill>
                  <a:srgbClr val="f5a97f"/>
                </a:solidFill>
                <a:uFillTx/>
                <a:latin typeface="Courier New"/>
                <a:ea typeface="Courier New"/>
              </a:rPr>
              <a:t>1</a:t>
            </a:r>
            <a:r>
              <a:rPr b="0" lang="en" sz="1260" strike="noStrike" u="none">
                <a:solidFill>
                  <a:srgbClr val="cad3f5"/>
                </a:solidFill>
                <a:uFillTx/>
                <a:latin typeface="Courier New"/>
                <a:ea typeface="Courier New"/>
              </a:rPr>
              <a:t>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delta_x</a:t>
            </a:r>
            <a:endParaRPr b="0" lang="en-US" sz="1260" strike="noStrike" u="none">
              <a:solidFill>
                <a:srgbClr val="ffffff"/>
              </a:solidFill>
              <a:uFillTx/>
              <a:latin typeface="Arial"/>
            </a:endParaRPr>
          </a:p>
          <a:p>
            <a:pPr indent="0">
              <a:lnSpc>
                <a:spcPct val="100000"/>
              </a:lnSpc>
              <a:buNone/>
              <a:tabLst>
                <a:tab algn="l" pos="0"/>
              </a:tabLst>
            </a:pP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outer_limit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a:t>
            </a:r>
            <a:r>
              <a:rPr b="0" i="1" lang="en" sz="1260" strike="noStrike" u="none">
                <a:solidFill>
                  <a:srgbClr val="8aadf4"/>
                </a:solidFill>
                <a:uFillTx/>
                <a:latin typeface="Courier New"/>
                <a:ea typeface="Courier New"/>
              </a:rPr>
              <a:t>ceil</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m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cos_alpha</a:t>
            </a:r>
            <a:r>
              <a:rPr b="0" lang="en" sz="1260" strike="noStrike" u="none">
                <a:solidFill>
                  <a:srgbClr val="939ab7"/>
                </a:solidFill>
                <a:uFillTx/>
                <a:latin typeface="Courier New"/>
                <a:ea typeface="Courier New"/>
              </a:rPr>
              <a:t>)</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lang="en" sz="1260" strike="noStrike" u="none">
                <a:solidFill>
                  <a:srgbClr val="cad3f5"/>
                </a:solidFill>
                <a:uFillTx/>
                <a:latin typeface="Courier New"/>
                <a:ea typeface="Courier New"/>
              </a:rPr>
              <a:t>last_px </a:t>
            </a:r>
            <a:r>
              <a:rPr b="0" lang="en" sz="1260" strike="noStrike" u="none">
                <a:solidFill>
                  <a:srgbClr val="8bd5ca"/>
                </a:solidFill>
                <a:uFillTx/>
                <a:latin typeface="Courier New"/>
                <a:ea typeface="Courier New"/>
              </a:rPr>
              <a:t>=</a:t>
            </a:r>
            <a:r>
              <a:rPr b="0" lang="en" sz="1260" strike="noStrike" u="none">
                <a:solidFill>
                  <a:srgbClr val="cad3f5"/>
                </a:solidFill>
                <a:uFillTx/>
                <a:latin typeface="Courier New"/>
                <a:ea typeface="Courier New"/>
              </a:rPr>
              <a:t> n</a:t>
            </a:r>
            <a:endParaRPr b="0" lang="en-US" sz="1260" strike="noStrike" u="none">
              <a:solidFill>
                <a:srgbClr val="ffffff"/>
              </a:solidFill>
              <a:uFillTx/>
              <a:latin typeface="Arial"/>
            </a:endParaRPr>
          </a:p>
          <a:p>
            <a:pPr indent="0">
              <a:lnSpc>
                <a:spcPct val="100000"/>
              </a:lnSpc>
              <a:buNone/>
              <a:tabLst>
                <a:tab algn="l" pos="0"/>
              </a:tabLst>
            </a:pPr>
            <a:r>
              <a:rPr b="0" lang="en" sz="1260" strike="noStrike" u="none">
                <a:solidFill>
                  <a:srgbClr val="cad3f5"/>
                </a:solidFill>
                <a:uFillTx/>
                <a:latin typeface="Courier New"/>
                <a:ea typeface="Courier New"/>
              </a:rPr>
              <a:t>       </a:t>
            </a:r>
            <a:r>
              <a:rPr b="0" i="1" lang="en" sz="1260" strike="noStrike" u="none">
                <a:solidFill>
                  <a:srgbClr val="8aadf4"/>
                </a:solidFill>
                <a:uFillTx/>
                <a:latin typeface="Courier New"/>
                <a:ea typeface="Courier New"/>
              </a:rPr>
              <a:t>rotate</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img</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rot</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x_offset</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y_offset</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delta_x</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delta_y</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delta_i</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fs</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outer_limit</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last_px</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horizontal</a:t>
            </a:r>
            <a:r>
              <a:rPr b="0" lang="en" sz="1260" strike="noStrike" u="none">
                <a:solidFill>
                  <a:srgbClr val="8bd5ca"/>
                </a:solidFill>
                <a:uFillTx/>
                <a:latin typeface="Courier New"/>
                <a:ea typeface="Courier New"/>
              </a:rPr>
              <a:t>=</a:t>
            </a:r>
            <a:r>
              <a:rPr b="0" lang="en" sz="1260" strike="noStrike" u="none">
                <a:solidFill>
                  <a:srgbClr val="c6a0f6"/>
                </a:solidFill>
                <a:uFillTx/>
                <a:latin typeface="Courier New"/>
                <a:ea typeface="Courier New"/>
              </a:rPr>
              <a:t>True</a:t>
            </a:r>
            <a:r>
              <a:rPr b="0" lang="en" sz="1260" strike="noStrike" u="none">
                <a:solidFill>
                  <a:srgbClr val="939ab7"/>
                </a:solidFill>
                <a:uFillTx/>
                <a:latin typeface="Courier New"/>
                <a:ea typeface="Courier New"/>
              </a:rPr>
              <a:t>,</a:t>
            </a:r>
            <a:r>
              <a:rPr b="0" lang="en" sz="1260" strike="noStrike" u="none">
                <a:solidFill>
                  <a:srgbClr val="cad3f5"/>
                </a:solidFill>
                <a:uFillTx/>
                <a:latin typeface="Courier New"/>
                <a:ea typeface="Courier New"/>
              </a:rPr>
              <a:t> </a:t>
            </a:r>
            <a:r>
              <a:rPr b="0" i="1" lang="en" sz="1260" strike="noStrike" u="none">
                <a:solidFill>
                  <a:srgbClr val="ee99a0"/>
                </a:solidFill>
                <a:uFillTx/>
                <a:latin typeface="Courier New"/>
                <a:ea typeface="Courier New"/>
              </a:rPr>
              <a:t>negate_coords</a:t>
            </a:r>
            <a:r>
              <a:rPr b="0" lang="en" sz="1260" strike="noStrike" u="none">
                <a:solidFill>
                  <a:srgbClr val="8bd5ca"/>
                </a:solidFill>
                <a:uFillTx/>
                <a:latin typeface="Courier New"/>
                <a:ea typeface="Courier New"/>
              </a:rPr>
              <a:t>=</a:t>
            </a:r>
            <a:r>
              <a:rPr b="0" lang="en" sz="1260" strike="noStrike" u="none">
                <a:solidFill>
                  <a:srgbClr val="c6a0f6"/>
                </a:solidFill>
                <a:uFillTx/>
                <a:latin typeface="Courier New"/>
                <a:ea typeface="Courier New"/>
              </a:rPr>
              <a:t>not</a:t>
            </a:r>
            <a:r>
              <a:rPr b="0" lang="en" sz="1260" strike="noStrike" u="none">
                <a:solidFill>
                  <a:srgbClr val="cad3f5"/>
                </a:solidFill>
                <a:uFillTx/>
                <a:latin typeface="Courier New"/>
                <a:ea typeface="Courier New"/>
              </a:rPr>
              <a:t> z1</a:t>
            </a:r>
            <a:r>
              <a:rPr b="0" lang="en" sz="1260" strike="noStrike" u="none">
                <a:solidFill>
                  <a:srgbClr val="939ab7"/>
                </a:solidFill>
                <a:uFillTx/>
                <a:latin typeface="Courier New"/>
                <a:ea typeface="Courier New"/>
              </a:rPr>
              <a:t>)</a:t>
            </a:r>
            <a:endParaRPr b="0" lang="en-US" sz="1260" strike="noStrike" u="none">
              <a:solidFill>
                <a:srgbClr val="ffffff"/>
              </a:solidFill>
              <a:uFillTx/>
              <a:latin typeface="Arial"/>
            </a:endParaRPr>
          </a:p>
          <a:p>
            <a:pPr indent="0">
              <a:lnSpc>
                <a:spcPct val="100000"/>
              </a:lnSpc>
              <a:spcAft>
                <a:spcPts val="1001"/>
              </a:spcAft>
              <a:buNone/>
              <a:tabLst>
                <a:tab algn="l" pos="0"/>
              </a:tabLst>
            </a:pPr>
            <a:endParaRPr b="0" lang="en-US" sz="1260" strike="noStrike" u="none">
              <a:solidFill>
                <a:srgbClr val="ffffff"/>
              </a:solidFill>
              <a:uFillTx/>
              <a:latin typeface="Arial"/>
            </a:endParaRPr>
          </a:p>
        </p:txBody>
      </p:sp>
      <p:pic>
        <p:nvPicPr>
          <p:cNvPr id="523" name="Google Shape;461;p61" descr=""/>
          <p:cNvPicPr/>
          <p:nvPr/>
        </p:nvPicPr>
        <p:blipFill>
          <a:blip r:embed="rId1"/>
          <a:stretch/>
        </p:blipFill>
        <p:spPr>
          <a:xfrm>
            <a:off x="10214640" y="95760"/>
            <a:ext cx="1812960" cy="664560"/>
          </a:xfrm>
          <a:prstGeom prst="rect">
            <a:avLst/>
          </a:prstGeom>
          <a:ln w="0">
            <a:noFill/>
          </a:ln>
        </p:spPr>
      </p:pic>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p:nvPr>
        </p:nvSpPr>
        <p:spPr>
          <a:xfrm>
            <a:off x="2196720" y="526680"/>
            <a:ext cx="9156960" cy="56498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IN" sz="13800" strike="noStrike" u="none">
                <a:solidFill>
                  <a:schemeClr val="accent1"/>
                </a:solidFill>
                <a:uFillTx/>
                <a:latin typeface="Pinyon Script"/>
                <a:ea typeface="Pinyon Script"/>
              </a:rPr>
              <a:t>Thank you</a:t>
            </a:r>
            <a:endParaRPr b="0" lang="en-US" sz="13800" strike="noStrike" u="none">
              <a:solidFill>
                <a:srgbClr val="000000"/>
              </a:solidFill>
              <a:uFillTx/>
              <a:latin typeface="Arial"/>
            </a:endParaRPr>
          </a:p>
        </p:txBody>
      </p:sp>
      <p:sp>
        <p:nvSpPr>
          <p:cNvPr id="525" name="Google Shape;222;p7"/>
          <p:cNvSpPr/>
          <p:nvPr/>
        </p:nvSpPr>
        <p:spPr>
          <a:xfrm>
            <a:off x="764640" y="-24480"/>
            <a:ext cx="984240" cy="6882120"/>
          </a:xfrm>
          <a:prstGeom prst="rect">
            <a:avLst/>
          </a:prstGeom>
          <a:solidFill>
            <a:srgbClr val="bfbfbf"/>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
        <p:nvSpPr>
          <p:cNvPr id="526" name="Google Shape;223;p7"/>
          <p:cNvSpPr/>
          <p:nvPr/>
        </p:nvSpPr>
        <p:spPr>
          <a:xfrm>
            <a:off x="0" y="0"/>
            <a:ext cx="615960" cy="6857640"/>
          </a:xfrm>
          <a:prstGeom prst="rect">
            <a:avLst/>
          </a:prstGeom>
          <a:solidFill>
            <a:srgbClr val="0e4094"/>
          </a:solidFill>
          <a:ln w="0">
            <a:noFill/>
          </a:ln>
        </p:spPr>
        <p:style>
          <a:lnRef idx="0"/>
          <a:fillRef idx="0"/>
          <a:effectRef idx="0"/>
          <a:fontRef idx="minor"/>
        </p:style>
        <p:txBody>
          <a:bodyPr anchor="ctr">
            <a:noAutofit/>
          </a:bodyPr>
          <a:p>
            <a:pPr algn="ctr">
              <a:lnSpc>
                <a:spcPct val="100000"/>
              </a:lnSpc>
              <a:tabLst>
                <a:tab algn="l" pos="0"/>
              </a:tabLst>
            </a:pPr>
            <a:endParaRPr b="0" lang="en-US" sz="1800" strike="noStrike" u="none">
              <a:solidFill>
                <a:schemeClr val="lt1"/>
              </a:solidFill>
              <a:uFillTx/>
              <a:latin typeface="Arial"/>
              <a:ea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1027</TotalTime>
  <Application>LibreOffice/24.8.2.1$Linux_X86_64 LibreOffice_project/480$Build-1</Application>
  <AppVersion>15.0000</AppVersion>
  <Words>12432</Words>
  <Paragraphs>1364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2019-07-24T12:22:39Z</dcterms:created>
  <dc:creator>Saad Hashmi/Tech Mgmt /SRI-Bangalore/Professional/삼성전자</dc:creator>
  <dc:description/>
  <dc:language>en-US</dc:language>
  <cp:lastModifiedBy/>
  <dcterms:modified xsi:type="dcterms:W3CDTF">2024-10-09T09:23:21Z</dcterms:modified>
  <cp:revision>86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76</vt:i4>
  </property>
  <property fmtid="{D5CDD505-2E9C-101B-9397-08002B2CF9AE}" pid="3" name="PresentationFormat">
    <vt:lpwstr>Widescreen</vt:lpwstr>
  </property>
  <property fmtid="{D5CDD505-2E9C-101B-9397-08002B2CF9AE}" pid="4" name="Slides">
    <vt:i4>93</vt:i4>
  </property>
</Properties>
</file>